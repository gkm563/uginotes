
<file path=[Content_Types].xml><?xml version="1.0" encoding="utf-8"?>
<Types xmlns="http://schemas.openxmlformats.org/package/2006/content-types">
  <Override PartName="/ppt/slides/slide47.xml" ContentType="application/vnd.openxmlformats-officedocument.presentationml.slide+xml"/>
  <Override PartName="/ppt/slides/slide58.xml" ContentType="application/vnd.openxmlformats-officedocument.presentationml.slide+xml"/>
  <Override PartName="/ppt/slides/slide94.xml" ContentType="application/vnd.openxmlformats-officedocument.presentationml.slide+xml"/>
  <Override PartName="/ppt/slides/slide142.xml" ContentType="application/vnd.openxmlformats-officedocument.presentationml.slide+xml"/>
  <Override PartName="/ppt/notesSlides/notesSlide2.xml" ContentType="application/vnd.openxmlformats-officedocument.presentationml.notesSlide+xml"/>
  <Override PartName="/ppt/slides/slide36.xml" ContentType="application/vnd.openxmlformats-officedocument.presentationml.slide+xml"/>
  <Override PartName="/ppt/slides/slide83.xml" ContentType="application/vnd.openxmlformats-officedocument.presentationml.slide+xml"/>
  <Override PartName="/ppt/slides/slide120.xml" ContentType="application/vnd.openxmlformats-officedocument.presentationml.slide+xml"/>
  <Override PartName="/ppt/slides/slide131.xml" ContentType="application/vnd.openxmlformats-officedocument.presentationml.slide+xml"/>
  <Override PartName="/ppt/slides/slide25.xml" ContentType="application/vnd.openxmlformats-officedocument.presentationml.slide+xml"/>
  <Override PartName="/ppt/slides/slide72.xml" ContentType="application/vnd.openxmlformats-officedocument.presentationml.slide+xml"/>
  <Override PartName="/ppt/slideLayouts/slideLayout2.xml" ContentType="application/vnd.openxmlformats-officedocument.presentationml.slideLayout+xml"/>
  <Default Extension="xml" ContentType="application/xml"/>
  <Override PartName="/ppt/slides/slide14.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21.xml" ContentType="application/vnd.openxmlformats-officedocument.presentationml.slide+xml"/>
  <Override PartName="/ppt/slides/slide169.xml" ContentType="application/vnd.openxmlformats-officedocument.presentationml.slide+xml"/>
  <Override PartName="/ppt/tableStyles.xml" ContentType="application/vnd.openxmlformats-officedocument.presentationml.tableStyles+xml"/>
  <Override PartName="/ppt/slides/slide129.xml" ContentType="application/vnd.openxmlformats-officedocument.presentationml.slide+xml"/>
  <Override PartName="/ppt/slides/slide147.xml" ContentType="application/vnd.openxmlformats-officedocument.presentationml.slide+xml"/>
  <Override PartName="/ppt/slides/slide158.xml" ContentType="application/vnd.openxmlformats-officedocument.presentationml.slide+xml"/>
  <Override PartName="/ppt/slides/slide176.xml" ContentType="application/vnd.openxmlformats-officedocument.presentationml.slide+xml"/>
  <Override PartName="/ppt/slides/slide99.xml" ContentType="application/vnd.openxmlformats-officedocument.presentationml.slide+xml"/>
  <Override PartName="/ppt/slides/slide118.xml" ContentType="application/vnd.openxmlformats-officedocument.presentationml.slide+xml"/>
  <Override PartName="/ppt/slides/slide136.xml" ContentType="application/vnd.openxmlformats-officedocument.presentationml.slide+xml"/>
  <Override PartName="/ppt/slides/slide165.xml" ContentType="application/vnd.openxmlformats-officedocument.presentationml.slide+xml"/>
  <Override PartName="/ppt/slides/slide9.xml" ContentType="application/vnd.openxmlformats-officedocument.presentationml.slide+xml"/>
  <Override PartName="/ppt/slides/slide59.xml" ContentType="application/vnd.openxmlformats-officedocument.presentationml.slide+xml"/>
  <Override PartName="/ppt/slides/slide77.xml" ContentType="application/vnd.openxmlformats-officedocument.presentationml.slide+xml"/>
  <Override PartName="/ppt/slides/slide88.xml" ContentType="application/vnd.openxmlformats-officedocument.presentationml.slide+xml"/>
  <Override PartName="/ppt/slides/slide107.xml" ContentType="application/vnd.openxmlformats-officedocument.presentationml.slide+xml"/>
  <Override PartName="/ppt/slides/slide125.xml" ContentType="application/vnd.openxmlformats-officedocument.presentationml.slide+xml"/>
  <Override PartName="/ppt/slides/slide143.xml" ContentType="application/vnd.openxmlformats-officedocument.presentationml.slide+xml"/>
  <Override PartName="/ppt/slides/slide154.xml" ContentType="application/vnd.openxmlformats-officedocument.presentationml.slide+xml"/>
  <Override PartName="/ppt/slides/slide172.xml" ContentType="application/vnd.openxmlformats-officedocument.presentationml.slide+xml"/>
  <Override PartName="/ppt/viewProps.xml" ContentType="application/vnd.openxmlformats-officedocument.presentationml.viewProps+xml"/>
  <Override PartName="/ppt/slides/slide5.xml" ContentType="application/vnd.openxmlformats-officedocument.presentationml.slide+xml"/>
  <Override PartName="/ppt/slides/slide19.xml" ContentType="application/vnd.openxmlformats-officedocument.presentationml.slide+xml"/>
  <Override PartName="/ppt/slides/slide48.xml" ContentType="application/vnd.openxmlformats-officedocument.presentationml.slide+xml"/>
  <Override PartName="/ppt/slides/slide66.xml" ContentType="application/vnd.openxmlformats-officedocument.presentationml.slide+xml"/>
  <Override PartName="/ppt/slides/slide95.xml" ContentType="application/vnd.openxmlformats-officedocument.presentationml.slide+xml"/>
  <Override PartName="/ppt/slides/slide103.xml" ContentType="application/vnd.openxmlformats-officedocument.presentationml.slide+xml"/>
  <Override PartName="/ppt/slides/slide114.xml" ContentType="application/vnd.openxmlformats-officedocument.presentationml.slide+xml"/>
  <Override PartName="/ppt/slides/slide132.xml" ContentType="application/vnd.openxmlformats-officedocument.presentationml.slide+xml"/>
  <Override PartName="/ppt/slides/slide150.xml" ContentType="application/vnd.openxmlformats-officedocument.presentationml.slide+xml"/>
  <Override PartName="/ppt/slides/slide161.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26.xml" ContentType="application/vnd.openxmlformats-officedocument.presentationml.slide+xml"/>
  <Override PartName="/ppt/slides/slide37.xml" ContentType="application/vnd.openxmlformats-officedocument.presentationml.slide+xml"/>
  <Override PartName="/ppt/slides/slide55.xml" ContentType="application/vnd.openxmlformats-officedocument.presentationml.slide+xml"/>
  <Override PartName="/ppt/slides/slide73.xml" ContentType="application/vnd.openxmlformats-officedocument.presentationml.slide+xml"/>
  <Override PartName="/ppt/slides/slide84.xml" ContentType="application/vnd.openxmlformats-officedocument.presentationml.slide+xml"/>
  <Override PartName="/ppt/slides/slide121.xml" ContentType="application/vnd.openxmlformats-officedocument.presentationml.slide+xml"/>
  <Override PartName="/ppt/presProps.xml" ContentType="application/vnd.openxmlformats-officedocument.presentationml.presProps+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33.xml" ContentType="application/vnd.openxmlformats-officedocument.presentationml.slide+xml"/>
  <Override PartName="/ppt/slides/slide44.xml" ContentType="application/vnd.openxmlformats-officedocument.presentationml.slide+xml"/>
  <Override PartName="/ppt/slides/slide62.xml" ContentType="application/vnd.openxmlformats-officedocument.presentationml.slide+xml"/>
  <Override PartName="/ppt/slides/slide80.xml" ContentType="application/vnd.openxmlformats-officedocument.presentationml.slide+xml"/>
  <Override PartName="/ppt/slides/slide91.xml" ContentType="application/vnd.openxmlformats-officedocument.presentationml.slide+xml"/>
  <Override PartName="/ppt/slides/slide110.xml" ContentType="application/vnd.openxmlformats-officedocument.presentationml.slide+xml"/>
  <Override PartName="/ppt/slideLayouts/slideLayout3.xml" ContentType="application/vnd.openxmlformats-officedocument.presentationml.slideLayout+xml"/>
  <Override PartName="/ppt/presentation.xml" ContentType="application/vnd.openxmlformats-officedocument.presentationml.presentation.main+xml"/>
  <Override PartName="/ppt/slides/slide22.xml" ContentType="application/vnd.openxmlformats-officedocument.presentationml.slide+xml"/>
  <Override PartName="/ppt/slides/slide51.xml" ContentType="application/vnd.openxmlformats-officedocument.presentationml.slide+xml"/>
  <Override PartName="/docProps/app.xml" ContentType="application/vnd.openxmlformats-officedocument.extended-properties+xml"/>
  <Override PartName="/ppt/slides/slide11.xml" ContentType="application/vnd.openxmlformats-officedocument.presentationml.slide+xml"/>
  <Override PartName="/ppt/slides/slide40.xml" ContentType="application/vnd.openxmlformats-officedocument.presentationml.slide+xml"/>
  <Override PartName="/ppt/slides/slide159.xml" ContentType="application/vnd.openxmlformats-officedocument.presentationml.slide+xml"/>
  <Override PartName="/ppt/slides/slide119.xml" ContentType="application/vnd.openxmlformats-officedocument.presentationml.slide+xml"/>
  <Override PartName="/ppt/slides/slide148.xml" ContentType="application/vnd.openxmlformats-officedocument.presentationml.slide+xml"/>
  <Override PartName="/ppt/slides/slide166.xml" ContentType="application/vnd.openxmlformats-officedocument.presentationml.slide+xml"/>
  <Override PartName="/ppt/slides/slide177.xml" ContentType="application/vnd.openxmlformats-officedocument.presentationml.slide+xml"/>
  <Override PartName="/ppt/slideLayouts/slideLayout10.xml" ContentType="application/vnd.openxmlformats-officedocument.presentationml.slideLayout+xml"/>
  <Override PartName="/ppt/slides/slide89.xml" ContentType="application/vnd.openxmlformats-officedocument.presentationml.slide+xml"/>
  <Override PartName="/ppt/slides/slide108.xml" ContentType="application/vnd.openxmlformats-officedocument.presentationml.slide+xml"/>
  <Override PartName="/ppt/slides/slide126.xml" ContentType="application/vnd.openxmlformats-officedocument.presentationml.slide+xml"/>
  <Override PartName="/ppt/slides/slide137.xml" ContentType="application/vnd.openxmlformats-officedocument.presentationml.slide+xml"/>
  <Override PartName="/ppt/slides/slide155.xml" ContentType="application/vnd.openxmlformats-officedocument.presentationml.slide+xml"/>
  <Override PartName="/ppt/slides/slide173.xml" ContentType="application/vnd.openxmlformats-officedocument.presentationml.slide+xml"/>
  <Override PartName="/ppt/slides/slide49.xml" ContentType="application/vnd.openxmlformats-officedocument.presentationml.slide+xml"/>
  <Override PartName="/ppt/slides/slide78.xml" ContentType="application/vnd.openxmlformats-officedocument.presentationml.slide+xml"/>
  <Override PartName="/ppt/slides/slide96.xml" ContentType="application/vnd.openxmlformats-officedocument.presentationml.slide+xml"/>
  <Override PartName="/ppt/slides/slide115.xml" ContentType="application/vnd.openxmlformats-officedocument.presentationml.slide+xml"/>
  <Override PartName="/ppt/slides/slide144.xml" ContentType="application/vnd.openxmlformats-officedocument.presentationml.slide+xml"/>
  <Override PartName="/ppt/slides/slide162.xml" ContentType="application/vnd.openxmlformats-officedocument.presentationml.slide+xml"/>
  <Override PartName="/ppt/handoutMasters/handoutMaster1.xml" ContentType="application/vnd.openxmlformats-officedocument.presentationml.handoutMaster+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s/slide85.xml" ContentType="application/vnd.openxmlformats-officedocument.presentationml.slide+xml"/>
  <Override PartName="/ppt/slides/slide104.xml" ContentType="application/vnd.openxmlformats-officedocument.presentationml.slide+xml"/>
  <Override PartName="/ppt/slides/slide122.xml" ContentType="application/vnd.openxmlformats-officedocument.presentationml.slide+xml"/>
  <Override PartName="/ppt/slides/slide133.xml" ContentType="application/vnd.openxmlformats-officedocument.presentationml.slide+xml"/>
  <Override PartName="/ppt/slides/slide151.xml" ContentType="application/vnd.openxmlformats-officedocument.presentationml.slide+xml"/>
  <Override PartName="/ppt/slides/slide180.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s/slide74.xml" ContentType="application/vnd.openxmlformats-officedocument.presentationml.slide+xml"/>
  <Override PartName="/ppt/slides/slide92.xml" ContentType="application/vnd.openxmlformats-officedocument.presentationml.slide+xml"/>
  <Override PartName="/ppt/slides/slide111.xml" ContentType="application/vnd.openxmlformats-officedocument.presentationml.slide+xml"/>
  <Override PartName="/ppt/slides/slide140.xml" ContentType="application/vnd.openxmlformats-officedocument.presentationml.slide+xml"/>
  <Override PartName="/ppt/slideLayouts/slideLayout4.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s/slide81.xml" ContentType="application/vnd.openxmlformats-officedocument.presentationml.slide+xml"/>
  <Override PartName="/ppt/slides/slide100.xml" ContentType="application/vnd.openxmlformats-officedocument.presentationml.slide+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slides/slide70.xml" ContentType="application/vnd.openxmlformats-officedocument.presentationml.slide+xml"/>
  <Override PartName="/ppt/slides/slide12.xml" ContentType="application/vnd.openxmlformats-officedocument.presentationml.slide+xml"/>
  <Override PartName="/ppt/slides/slide30.xml" ContentType="application/vnd.openxmlformats-officedocument.presentationml.slide+xml"/>
  <Override PartName="/ppt/slides/slide149.xml" ContentType="application/vnd.openxmlformats-officedocument.presentationml.slide+xml"/>
  <Override PartName="/ppt/slides/slide178.xml" ContentType="application/vnd.openxmlformats-officedocument.presentationml.slide+xml"/>
  <Override PartName="/ppt/slideLayouts/slideLayout11.xml" ContentType="application/vnd.openxmlformats-officedocument.presentationml.slideLayout+xml"/>
  <Override PartName="/ppt/slides/slide138.xml" ContentType="application/vnd.openxmlformats-officedocument.presentationml.slide+xml"/>
  <Override PartName="/ppt/slides/slide167.xml" ContentType="application/vnd.openxmlformats-officedocument.presentationml.slide+xml"/>
  <Override PartName="/ppt/slides/slide79.xml" ContentType="application/vnd.openxmlformats-officedocument.presentationml.slide+xml"/>
  <Override PartName="/ppt/slides/slide109.xml" ContentType="application/vnd.openxmlformats-officedocument.presentationml.slide+xml"/>
  <Override PartName="/ppt/slides/slide127.xml" ContentType="application/vnd.openxmlformats-officedocument.presentationml.slide+xml"/>
  <Override PartName="/ppt/slides/slide145.xml" ContentType="application/vnd.openxmlformats-officedocument.presentationml.slide+xml"/>
  <Override PartName="/ppt/slides/slide156.xml" ContentType="application/vnd.openxmlformats-officedocument.presentationml.slide+xml"/>
  <Override PartName="/ppt/slides/slide174.xml" ContentType="application/vnd.openxmlformats-officedocument.presentationml.slide+xml"/>
  <Override PartName="/ppt/slides/slide7.xml" ContentType="application/vnd.openxmlformats-officedocument.presentationml.slide+xml"/>
  <Override PartName="/ppt/slides/slide68.xml" ContentType="application/vnd.openxmlformats-officedocument.presentationml.slide+xml"/>
  <Override PartName="/ppt/slides/slide97.xml" ContentType="application/vnd.openxmlformats-officedocument.presentationml.slide+xml"/>
  <Override PartName="/ppt/slides/slide116.xml" ContentType="application/vnd.openxmlformats-officedocument.presentationml.slide+xml"/>
  <Override PartName="/ppt/slides/slide134.xml" ContentType="application/vnd.openxmlformats-officedocument.presentationml.slide+xml"/>
  <Override PartName="/ppt/slides/slide163.xml" ContentType="application/vnd.openxmlformats-officedocument.presentationml.slide+xml"/>
  <Override PartName="/ppt/slides/slide181.xml" ContentType="application/vnd.openxmlformats-officedocument.presentationml.slide+xml"/>
  <Override PartName="/ppt/slideLayouts/slideLayout9.xml" ContentType="application/vnd.openxmlformats-officedocument.presentationml.slideLayout+xml"/>
  <Override PartName="/ppt/slides/slide28.xml" ContentType="application/vnd.openxmlformats-officedocument.presentationml.slide+xml"/>
  <Override PartName="/ppt/slides/slide39.xml" ContentType="application/vnd.openxmlformats-officedocument.presentationml.slide+xml"/>
  <Override PartName="/ppt/slides/slide57.xml" ContentType="application/vnd.openxmlformats-officedocument.presentationml.slide+xml"/>
  <Override PartName="/ppt/slides/slide75.xml" ContentType="application/vnd.openxmlformats-officedocument.presentationml.slide+xml"/>
  <Override PartName="/ppt/slides/slide86.xml" ContentType="application/vnd.openxmlformats-officedocument.presentationml.slide+xml"/>
  <Override PartName="/ppt/slides/slide105.xml" ContentType="application/vnd.openxmlformats-officedocument.presentationml.slide+xml"/>
  <Override PartName="/ppt/slides/slide123.xml" ContentType="application/vnd.openxmlformats-officedocument.presentationml.slide+xml"/>
  <Override PartName="/ppt/slides/slide141.xml" ContentType="application/vnd.openxmlformats-officedocument.presentationml.slide+xml"/>
  <Override PartName="/ppt/slides/slide152.xml" ContentType="application/vnd.openxmlformats-officedocument.presentationml.slide+xml"/>
  <Override PartName="/ppt/slides/slide170.xml" ContentType="application/vnd.openxmlformats-officedocument.presentationml.slide+xml"/>
  <Override PartName="/ppt/notesSlides/notesSlide1.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46.xml" ContentType="application/vnd.openxmlformats-officedocument.presentationml.slide+xml"/>
  <Override PartName="/ppt/slides/slide64.xml" ContentType="application/vnd.openxmlformats-officedocument.presentationml.slide+xml"/>
  <Override PartName="/ppt/slides/slide93.xml" ContentType="application/vnd.openxmlformats-officedocument.presentationml.slide+xml"/>
  <Override PartName="/ppt/slides/slide101.xml" ContentType="application/vnd.openxmlformats-officedocument.presentationml.slide+xml"/>
  <Override PartName="/ppt/slides/slide112.xml" ContentType="application/vnd.openxmlformats-officedocument.presentationml.slide+xml"/>
  <Override PartName="/ppt/slides/slide130.xml" ContentType="application/vnd.openxmlformats-officedocument.presentationml.slide+xml"/>
  <Override PartName="/ppt/slideLayouts/slideLayout5.xml" ContentType="application/vnd.openxmlformats-officedocument.presentationml.slideLayout+xml"/>
  <Override PartName="/ppt/slides/slide24.xml" ContentType="application/vnd.openxmlformats-officedocument.presentationml.slide+xml"/>
  <Override PartName="/ppt/slides/slide35.xml" ContentType="application/vnd.openxmlformats-officedocument.presentationml.slide+xml"/>
  <Override PartName="/ppt/slides/slide53.xml" ContentType="application/vnd.openxmlformats-officedocument.presentationml.slide+xml"/>
  <Override PartName="/ppt/slides/slide71.xml" ContentType="application/vnd.openxmlformats-officedocument.presentationml.slide+xml"/>
  <Override PartName="/ppt/slides/slide82.xml" ContentType="application/vnd.openxmlformats-officedocument.presentationml.slide+xml"/>
  <Default Extension="jpeg" ContentType="image/jpeg"/>
  <Override PartName="/ppt/slides/slide13.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ppt/slides/slide20.xml" ContentType="application/vnd.openxmlformats-officedocument.presentationml.slide+xml"/>
  <Override PartName="/ppt/slides/slide168.xml" ContentType="application/vnd.openxmlformats-officedocument.presentationml.slide+xml"/>
  <Override PartName="/ppt/slides/slide179.xml" ContentType="application/vnd.openxmlformats-officedocument.presentationml.slide+xml"/>
  <Override PartName="/ppt/slides/slide139.xml" ContentType="application/vnd.openxmlformats-officedocument.presentationml.slide+xml"/>
  <Override PartName="/ppt/slides/slide157.xml" ContentType="application/vnd.openxmlformats-officedocument.presentationml.slide+xml"/>
  <Override PartName="/ppt/slides/slide98.xml" ContentType="application/vnd.openxmlformats-officedocument.presentationml.slide+xml"/>
  <Override PartName="/ppt/slides/slide117.xml" ContentType="application/vnd.openxmlformats-officedocument.presentationml.slide+xml"/>
  <Override PartName="/ppt/slides/slide128.xml" ContentType="application/vnd.openxmlformats-officedocument.presentationml.slide+xml"/>
  <Override PartName="/ppt/slides/slide146.xml" ContentType="application/vnd.openxmlformats-officedocument.presentationml.slide+xml"/>
  <Override PartName="/ppt/slides/slide164.xml" ContentType="application/vnd.openxmlformats-officedocument.presentationml.slide+xml"/>
  <Override PartName="/ppt/slides/slide175.xml" ContentType="application/vnd.openxmlformats-officedocument.presentationml.slide+xml"/>
  <Override PartName="/ppt/slides/slide8.xml" ContentType="application/vnd.openxmlformats-officedocument.presentationml.slide+xml"/>
  <Override PartName="/ppt/slides/slide69.xml" ContentType="application/vnd.openxmlformats-officedocument.presentationml.slide+xml"/>
  <Override PartName="/ppt/slides/slide87.xml" ContentType="application/vnd.openxmlformats-officedocument.presentationml.slide+xml"/>
  <Override PartName="/ppt/slides/slide106.xml" ContentType="application/vnd.openxmlformats-officedocument.presentationml.slide+xml"/>
  <Override PartName="/ppt/slides/slide124.xml" ContentType="application/vnd.openxmlformats-officedocument.presentationml.slide+xml"/>
  <Override PartName="/ppt/slides/slide135.xml" ContentType="application/vnd.openxmlformats-officedocument.presentationml.slide+xml"/>
  <Override PartName="/ppt/slides/slide153.xml" ContentType="application/vnd.openxmlformats-officedocument.presentationml.slide+xml"/>
  <Override PartName="/ppt/slides/slide171.xml" ContentType="application/vnd.openxmlformats-officedocument.presentationml.slide+xml"/>
  <Override PartName="/ppt/slides/slide182.xml" ContentType="application/vnd.openxmlformats-officedocument.presentationml.slide+xml"/>
  <Override PartName="/ppt/slides/slide29.xml" ContentType="application/vnd.openxmlformats-officedocument.presentationml.slide+xml"/>
  <Override PartName="/ppt/slides/slide76.xml" ContentType="application/vnd.openxmlformats-officedocument.presentationml.slide+xml"/>
  <Override PartName="/ppt/slides/slide113.xml" ContentType="application/vnd.openxmlformats-officedocument.presentationml.slide+xml"/>
  <Override PartName="/ppt/slides/slide160.xml" ContentType="application/vnd.openxmlformats-officedocument.presentationml.slide+xml"/>
  <Override PartName="/ppt/slides/slide4.xml" ContentType="application/vnd.openxmlformats-officedocument.presentationml.slide+xml"/>
  <Override PartName="/ppt/slides/slide18.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s/slide102.xml" ContentType="application/vnd.openxmlformats-officedocument.presentationml.slide+xml"/>
  <Override PartName="/ppt/slideLayouts/slideLayout6.xml" ContentType="application/vnd.openxmlformats-officedocument.presentationml.slideLayout+xml"/>
  <Override PartName="/ppt/slides/slide43.xml" ContentType="application/vnd.openxmlformats-officedocument.presentationml.slide+xml"/>
  <Override PartName="/ppt/slides/slide90.xml" ContentType="application/vnd.openxmlformats-officedocument.presentationml.slide+xml"/>
  <Override PartName="/ppt/theme/theme1.xml" ContentType="application/vnd.openxmlformats-officedocument.theme+xml"/>
  <Override PartName="/ppt/slides/slide32.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184"/>
  </p:notesMasterIdLst>
  <p:handoutMasterIdLst>
    <p:handoutMasterId r:id="rId185"/>
  </p:handoutMasterIdLst>
  <p:sldIdLst>
    <p:sldId id="256" r:id="rId2"/>
    <p:sldId id="257" r:id="rId3"/>
    <p:sldId id="258" r:id="rId4"/>
    <p:sldId id="259" r:id="rId5"/>
    <p:sldId id="260" r:id="rId6"/>
    <p:sldId id="261" r:id="rId7"/>
    <p:sldId id="267" r:id="rId8"/>
    <p:sldId id="266" r:id="rId9"/>
    <p:sldId id="268" r:id="rId10"/>
    <p:sldId id="269" r:id="rId11"/>
    <p:sldId id="270" r:id="rId12"/>
    <p:sldId id="271" r:id="rId13"/>
    <p:sldId id="272" r:id="rId14"/>
    <p:sldId id="421" r:id="rId15"/>
    <p:sldId id="422" r:id="rId16"/>
    <p:sldId id="273" r:id="rId17"/>
    <p:sldId id="423" r:id="rId18"/>
    <p:sldId id="424" r:id="rId19"/>
    <p:sldId id="425" r:id="rId20"/>
    <p:sldId id="278" r:id="rId21"/>
    <p:sldId id="275" r:id="rId22"/>
    <p:sldId id="276" r:id="rId23"/>
    <p:sldId id="277" r:id="rId24"/>
    <p:sldId id="279" r:id="rId25"/>
    <p:sldId id="285" r:id="rId26"/>
    <p:sldId id="286" r:id="rId27"/>
    <p:sldId id="287" r:id="rId28"/>
    <p:sldId id="288" r:id="rId29"/>
    <p:sldId id="289" r:id="rId30"/>
    <p:sldId id="290" r:id="rId31"/>
    <p:sldId id="280" r:id="rId32"/>
    <p:sldId id="291" r:id="rId33"/>
    <p:sldId id="292" r:id="rId34"/>
    <p:sldId id="293" r:id="rId35"/>
    <p:sldId id="294" r:id="rId36"/>
    <p:sldId id="295" r:id="rId37"/>
    <p:sldId id="296" r:id="rId38"/>
    <p:sldId id="297" r:id="rId39"/>
    <p:sldId id="309" r:id="rId40"/>
    <p:sldId id="310" r:id="rId41"/>
    <p:sldId id="298" r:id="rId42"/>
    <p:sldId id="311" r:id="rId43"/>
    <p:sldId id="312" r:id="rId44"/>
    <p:sldId id="313" r:id="rId45"/>
    <p:sldId id="305" r:id="rId46"/>
    <p:sldId id="306" r:id="rId47"/>
    <p:sldId id="307" r:id="rId48"/>
    <p:sldId id="318" r:id="rId49"/>
    <p:sldId id="308" r:id="rId50"/>
    <p:sldId id="325" r:id="rId51"/>
    <p:sldId id="284" r:id="rId52"/>
    <p:sldId id="343" r:id="rId53"/>
    <p:sldId id="326" r:id="rId54"/>
    <p:sldId id="327" r:id="rId55"/>
    <p:sldId id="328" r:id="rId56"/>
    <p:sldId id="329" r:id="rId57"/>
    <p:sldId id="330" r:id="rId58"/>
    <p:sldId id="331" r:id="rId59"/>
    <p:sldId id="332" r:id="rId60"/>
    <p:sldId id="344" r:id="rId61"/>
    <p:sldId id="345" r:id="rId62"/>
    <p:sldId id="346" r:id="rId63"/>
    <p:sldId id="347" r:id="rId64"/>
    <p:sldId id="348" r:id="rId65"/>
    <p:sldId id="349" r:id="rId66"/>
    <p:sldId id="350" r:id="rId67"/>
    <p:sldId id="351" r:id="rId68"/>
    <p:sldId id="352" r:id="rId69"/>
    <p:sldId id="456" r:id="rId70"/>
    <p:sldId id="457" r:id="rId71"/>
    <p:sldId id="458" r:id="rId72"/>
    <p:sldId id="459" r:id="rId73"/>
    <p:sldId id="460" r:id="rId74"/>
    <p:sldId id="453" r:id="rId75"/>
    <p:sldId id="454" r:id="rId76"/>
    <p:sldId id="455" r:id="rId77"/>
    <p:sldId id="450" r:id="rId78"/>
    <p:sldId id="451" r:id="rId79"/>
    <p:sldId id="452" r:id="rId80"/>
    <p:sldId id="353" r:id="rId81"/>
    <p:sldId id="361" r:id="rId82"/>
    <p:sldId id="426" r:id="rId83"/>
    <p:sldId id="354" r:id="rId84"/>
    <p:sldId id="355" r:id="rId85"/>
    <p:sldId id="356" r:id="rId86"/>
    <p:sldId id="357" r:id="rId87"/>
    <p:sldId id="358" r:id="rId88"/>
    <p:sldId id="359" r:id="rId89"/>
    <p:sldId id="360" r:id="rId90"/>
    <p:sldId id="362" r:id="rId91"/>
    <p:sldId id="363" r:id="rId92"/>
    <p:sldId id="364" r:id="rId93"/>
    <p:sldId id="365" r:id="rId94"/>
    <p:sldId id="366" r:id="rId95"/>
    <p:sldId id="367" r:id="rId96"/>
    <p:sldId id="368" r:id="rId97"/>
    <p:sldId id="369" r:id="rId98"/>
    <p:sldId id="370" r:id="rId99"/>
    <p:sldId id="371" r:id="rId100"/>
    <p:sldId id="372" r:id="rId101"/>
    <p:sldId id="373" r:id="rId102"/>
    <p:sldId id="374" r:id="rId103"/>
    <p:sldId id="375" r:id="rId104"/>
    <p:sldId id="376" r:id="rId105"/>
    <p:sldId id="377" r:id="rId106"/>
    <p:sldId id="378" r:id="rId107"/>
    <p:sldId id="379" r:id="rId108"/>
    <p:sldId id="380" r:id="rId109"/>
    <p:sldId id="381" r:id="rId110"/>
    <p:sldId id="382" r:id="rId111"/>
    <p:sldId id="383" r:id="rId112"/>
    <p:sldId id="384" r:id="rId113"/>
    <p:sldId id="385" r:id="rId114"/>
    <p:sldId id="386" r:id="rId115"/>
    <p:sldId id="387" r:id="rId116"/>
    <p:sldId id="388" r:id="rId117"/>
    <p:sldId id="389" r:id="rId118"/>
    <p:sldId id="390" r:id="rId119"/>
    <p:sldId id="392" r:id="rId120"/>
    <p:sldId id="391" r:id="rId121"/>
    <p:sldId id="393" r:id="rId122"/>
    <p:sldId id="394" r:id="rId123"/>
    <p:sldId id="395" r:id="rId124"/>
    <p:sldId id="396" r:id="rId125"/>
    <p:sldId id="397" r:id="rId126"/>
    <p:sldId id="398" r:id="rId127"/>
    <p:sldId id="399" r:id="rId128"/>
    <p:sldId id="400" r:id="rId129"/>
    <p:sldId id="401" r:id="rId130"/>
    <p:sldId id="402" r:id="rId131"/>
    <p:sldId id="464" r:id="rId132"/>
    <p:sldId id="403" r:id="rId133"/>
    <p:sldId id="404" r:id="rId134"/>
    <p:sldId id="465" r:id="rId135"/>
    <p:sldId id="405" r:id="rId136"/>
    <p:sldId id="406" r:id="rId137"/>
    <p:sldId id="448" r:id="rId138"/>
    <p:sldId id="417" r:id="rId139"/>
    <p:sldId id="418" r:id="rId140"/>
    <p:sldId id="419" r:id="rId141"/>
    <p:sldId id="420" r:id="rId142"/>
    <p:sldId id="430" r:id="rId143"/>
    <p:sldId id="431" r:id="rId144"/>
    <p:sldId id="432" r:id="rId145"/>
    <p:sldId id="433" r:id="rId146"/>
    <p:sldId id="434" r:id="rId147"/>
    <p:sldId id="435" r:id="rId148"/>
    <p:sldId id="436" r:id="rId149"/>
    <p:sldId id="437" r:id="rId150"/>
    <p:sldId id="438" r:id="rId151"/>
    <p:sldId id="439" r:id="rId152"/>
    <p:sldId id="443" r:id="rId153"/>
    <p:sldId id="440" r:id="rId154"/>
    <p:sldId id="441" r:id="rId155"/>
    <p:sldId id="442" r:id="rId156"/>
    <p:sldId id="463" r:id="rId157"/>
    <p:sldId id="444" r:id="rId158"/>
    <p:sldId id="462" r:id="rId159"/>
    <p:sldId id="445" r:id="rId160"/>
    <p:sldId id="446" r:id="rId161"/>
    <p:sldId id="447" r:id="rId162"/>
    <p:sldId id="466" r:id="rId163"/>
    <p:sldId id="467" r:id="rId164"/>
    <p:sldId id="468" r:id="rId165"/>
    <p:sldId id="469" r:id="rId166"/>
    <p:sldId id="470" r:id="rId167"/>
    <p:sldId id="471" r:id="rId168"/>
    <p:sldId id="472" r:id="rId169"/>
    <p:sldId id="473" r:id="rId170"/>
    <p:sldId id="474" r:id="rId171"/>
    <p:sldId id="475" r:id="rId172"/>
    <p:sldId id="476" r:id="rId173"/>
    <p:sldId id="477" r:id="rId174"/>
    <p:sldId id="478" r:id="rId175"/>
    <p:sldId id="480" r:id="rId176"/>
    <p:sldId id="481" r:id="rId177"/>
    <p:sldId id="337" r:id="rId178"/>
    <p:sldId id="338" r:id="rId179"/>
    <p:sldId id="339" r:id="rId180"/>
    <p:sldId id="340" r:id="rId181"/>
    <p:sldId id="341" r:id="rId182"/>
    <p:sldId id="342" r:id="rId18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588" autoAdjust="0"/>
    <p:restoredTop sz="94607" autoAdjust="0"/>
  </p:normalViewPr>
  <p:slideViewPr>
    <p:cSldViewPr>
      <p:cViewPr varScale="1">
        <p:scale>
          <a:sx n="65" d="100"/>
          <a:sy n="65" d="100"/>
        </p:scale>
        <p:origin x="-1452" y="-108"/>
      </p:cViewPr>
      <p:guideLst>
        <p:guide orient="horz" pos="2160"/>
        <p:guide pos="2880"/>
      </p:guideLst>
    </p:cSldViewPr>
  </p:slideViewPr>
  <p:outlineViewPr>
    <p:cViewPr>
      <p:scale>
        <a:sx n="33" d="100"/>
        <a:sy n="33" d="100"/>
      </p:scale>
      <p:origin x="0" y="0"/>
    </p:cViewPr>
    <p:sldLst>
      <p:sld r:id="rId1" collapse="1"/>
    </p:sldLst>
  </p:outlineViewPr>
  <p:notesTextViewPr>
    <p:cViewPr>
      <p:scale>
        <a:sx n="100" d="100"/>
        <a:sy n="100" d="100"/>
      </p:scale>
      <p:origin x="0" y="0"/>
    </p:cViewPr>
  </p:notesTextViewPr>
  <p:sorterViewPr>
    <p:cViewPr>
      <p:scale>
        <a:sx n="66" d="100"/>
        <a:sy n="66" d="100"/>
      </p:scale>
      <p:origin x="0" y="936"/>
    </p:cViewPr>
  </p:sorterViewPr>
  <p:notesViewPr>
    <p:cSldViewPr>
      <p:cViewPr varScale="1">
        <p:scale>
          <a:sx n="62" d="100"/>
          <a:sy n="62" d="100"/>
        </p:scale>
        <p:origin x="-2616" y="-78"/>
      </p:cViewPr>
      <p:guideLst>
        <p:guide orient="horz" pos="2880"/>
        <p:guide pos="2160"/>
      </p:guideLst>
    </p:cSldViewPr>
  </p:notesViewPr>
  <p:gridSpacing cx="78028800" cy="780288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38" Type="http://schemas.openxmlformats.org/officeDocument/2006/relationships/slide" Target="slides/slide137.xml"/><Relationship Id="rId154" Type="http://schemas.openxmlformats.org/officeDocument/2006/relationships/slide" Target="slides/slide153.xml"/><Relationship Id="rId159" Type="http://schemas.openxmlformats.org/officeDocument/2006/relationships/slide" Target="slides/slide158.xml"/><Relationship Id="rId175" Type="http://schemas.openxmlformats.org/officeDocument/2006/relationships/slide" Target="slides/slide174.xml"/><Relationship Id="rId170" Type="http://schemas.openxmlformats.org/officeDocument/2006/relationships/slide" Target="slides/slide169.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144" Type="http://schemas.openxmlformats.org/officeDocument/2006/relationships/slide" Target="slides/slide143.xml"/><Relationship Id="rId149" Type="http://schemas.openxmlformats.org/officeDocument/2006/relationships/slide" Target="slides/slide14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160" Type="http://schemas.openxmlformats.org/officeDocument/2006/relationships/slide" Target="slides/slide159.xml"/><Relationship Id="rId165" Type="http://schemas.openxmlformats.org/officeDocument/2006/relationships/slide" Target="slides/slide164.xml"/><Relationship Id="rId181" Type="http://schemas.openxmlformats.org/officeDocument/2006/relationships/slide" Target="slides/slide180.xml"/><Relationship Id="rId186" Type="http://schemas.openxmlformats.org/officeDocument/2006/relationships/presProps" Target="presProp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slide" Target="slides/slide149.xml"/><Relationship Id="rId155" Type="http://schemas.openxmlformats.org/officeDocument/2006/relationships/slide" Target="slides/slide154.xml"/><Relationship Id="rId171" Type="http://schemas.openxmlformats.org/officeDocument/2006/relationships/slide" Target="slides/slide170.xml"/><Relationship Id="rId176" Type="http://schemas.openxmlformats.org/officeDocument/2006/relationships/slide" Target="slides/slide175.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61" Type="http://schemas.openxmlformats.org/officeDocument/2006/relationships/slide" Target="slides/slide160.xml"/><Relationship Id="rId166" Type="http://schemas.openxmlformats.org/officeDocument/2006/relationships/slide" Target="slides/slide165.xml"/><Relationship Id="rId182" Type="http://schemas.openxmlformats.org/officeDocument/2006/relationships/slide" Target="slides/slide181.xml"/><Relationship Id="rId187"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slide" Target="slides/slide155.xml"/><Relationship Id="rId177" Type="http://schemas.openxmlformats.org/officeDocument/2006/relationships/slide" Target="slides/slide176.xml"/><Relationship Id="rId172" Type="http://schemas.openxmlformats.org/officeDocument/2006/relationships/slide" Target="slides/slide171.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183" Type="http://schemas.openxmlformats.org/officeDocument/2006/relationships/slide" Target="slides/slide182.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slide" Target="slides/slide172.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notesMaster" Target="notesMasters/notesMaster1.xml"/><Relationship Id="rId189" Type="http://schemas.openxmlformats.org/officeDocument/2006/relationships/tableStyles" Target="tableStyles.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s>
</file>

<file path=ppt/_rels/viewProps.xml.rels><?xml version="1.0" encoding="UTF-8" standalone="yes"?>
<Relationships xmlns="http://schemas.openxmlformats.org/package/2006/relationships"><Relationship Id="rId1" Type="http://schemas.openxmlformats.org/officeDocument/2006/relationships/slide" Target="slides/slide18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AA7CB9E-F564-4677-B143-82D8E50076DF}" type="datetimeFigureOut">
              <a:rPr lang="en-US" smtClean="0"/>
              <a:pPr/>
              <a:t>8/7/2026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2678CC08-01BD-4BA6-AF8C-7BE44CF517F5}" type="slidenum">
              <a:rPr lang="en-US" smtClean="0"/>
              <a:pPr/>
              <a:t>‹#›</a:t>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1C6A67A-A8FA-4A31-9E11-6EE0F41F67BE}" type="datetimeFigureOut">
              <a:rPr lang="en-US" smtClean="0"/>
              <a:pPr/>
              <a:t>8/7/2026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A960872-D44D-4A9F-BEEA-4B0F00859999}"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6A960872-D44D-4A9F-BEEA-4B0F00859999}" type="slidenum">
              <a:rPr lang="en-US" smtClean="0"/>
              <a:pPr/>
              <a:t>40</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6A960872-D44D-4A9F-BEEA-4B0F00859999}" type="slidenum">
              <a:rPr lang="en-US" smtClean="0"/>
              <a:pPr/>
              <a:t>63</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1D8BD707-D9CF-40AE-B4C6-C98DA3205C09}" type="datetimeFigureOut">
              <a:rPr lang="en-US" smtClean="0"/>
              <a:pPr/>
              <a:t>8/7/2026</a:t>
            </a:fld>
            <a:endParaRPr lang="en-US"/>
          </a:p>
        </p:txBody>
      </p:sp>
      <p:sp>
        <p:nvSpPr>
          <p:cNvPr id="19" name="Footer Placeholder 18"/>
          <p:cNvSpPr>
            <a:spLocks noGrp="1"/>
          </p:cNvSpPr>
          <p:nvPr>
            <p:ph type="ftr" sz="quarter" idx="11"/>
          </p:nvPr>
        </p:nvSpPr>
        <p:spPr/>
        <p:txBody>
          <a:bodyPr/>
          <a:lstStyle/>
          <a:p>
            <a:endParaRPr lang="en-US"/>
          </a:p>
        </p:txBody>
      </p:sp>
      <p:sp>
        <p:nvSpPr>
          <p:cNvPr id="27" name="Slide Number Placeholder 26"/>
          <p:cNvSpPr>
            <a:spLocks noGrp="1"/>
          </p:cNvSpPr>
          <p:nvPr>
            <p:ph type="sldNum" sz="quarter" idx="12"/>
          </p:nvPr>
        </p:nvSpPr>
        <p:spPr/>
        <p:txBody>
          <a:bodyPr/>
          <a:lstStyle/>
          <a:p>
            <a:fld id="{B6F15528-21DE-4FAA-801E-634DDDAF4B2B}"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8/7/2026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pPr/>
              <a:t>8/7/2026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1D8BD707-D9CF-40AE-B4C6-C98DA3205C09}" type="datetimeFigureOut">
              <a:rPr lang="en-US" smtClean="0"/>
              <a:pPr/>
              <a:t>8/7/2026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1D8BD707-D9CF-40AE-B4C6-C98DA3205C09}" type="datetimeFigureOut">
              <a:rPr lang="en-US" smtClean="0"/>
              <a:pPr/>
              <a:t>8/7/2026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pPr/>
              <a:t>8/7/2026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8077200" y="6356350"/>
            <a:ext cx="609600" cy="365125"/>
          </a:xfrm>
        </p:spPr>
        <p:txBody>
          <a:bodyPr/>
          <a:lstStyle/>
          <a:p>
            <a:fld id="{B6F15528-21DE-4FAA-801E-634DDDAF4B2B}" type="slidenum">
              <a:rPr lang="en-US" smtClean="0"/>
              <a:pPr/>
              <a:t>‹#›</a:t>
            </a:fld>
            <a:endParaRPr lang="en-US"/>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smtClean="0"/>
              <a:t>Click icon to add picture</a:t>
            </a:r>
            <a:endParaRPr kumimoji="0" lang="en-US" dirty="0"/>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8/7/2026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8/7/2026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1D8BD707-D9CF-40AE-B4C6-C98DA3205C09}" type="datetimeFigureOut">
              <a:rPr lang="en-US" smtClean="0"/>
              <a:pPr/>
              <a:t>8/7/2026</a:t>
            </a:fld>
            <a:endParaRPr lang="en-US"/>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US"/>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B6F15528-21DE-4FAA-801E-634DDDAF4B2B}" type="slidenum">
              <a:rPr lang="en-US" smtClean="0"/>
              <a:pPr/>
              <a:t>‹#›</a:t>
            </a:fld>
            <a:endParaRPr lang="en-US"/>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hyperlink" Target="ca://s/?q=Explain_Data_Definition_Language_DDL" TargetMode="External"/><Relationship Id="rId2" Type="http://schemas.openxmlformats.org/officeDocument/2006/relationships/hyperlink" Target="ca://s/?q=Database_Language_Types" TargetMode="External"/><Relationship Id="rId1" Type="http://schemas.openxmlformats.org/officeDocument/2006/relationships/slideLayout" Target="../slideLayouts/slideLayout2.xml"/><Relationship Id="rId6" Type="http://schemas.openxmlformats.org/officeDocument/2006/relationships/hyperlink" Target="ca://s/?q=Explain_Transaction_Control_Language_TCL" TargetMode="External"/><Relationship Id="rId5" Type="http://schemas.openxmlformats.org/officeDocument/2006/relationships/hyperlink" Target="ca://s/?q=Explain_Data_Control_Language_DCL" TargetMode="External"/><Relationship Id="rId4" Type="http://schemas.openxmlformats.org/officeDocument/2006/relationships/hyperlink" Target="ca://s/?q=Explain_Data_Manipulation_Language_DML" TargetMode="Externa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8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hyperlink" Target="mailto:priya@gmail.com" TargetMode="External"/><Relationship Id="rId2" Type="http://schemas.openxmlformats.org/officeDocument/2006/relationships/hyperlink" Target="mailto:amit@gmail.com" TargetMode="External"/><Relationship Id="rId1" Type="http://schemas.openxmlformats.org/officeDocument/2006/relationships/slideLayout" Target="../slideLayouts/slideLayout2.xml"/><Relationship Id="rId5" Type="http://schemas.openxmlformats.org/officeDocument/2006/relationships/hyperlink" Target="mailto:neha@gmail.com" TargetMode="External"/><Relationship Id="rId4" Type="http://schemas.openxmlformats.org/officeDocument/2006/relationships/hyperlink" Target="mailto:rahul@gmail.com" TargetMode="Externa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Database Management System (DBMS)</a:t>
            </a:r>
            <a:endParaRPr lang="en-US" dirty="0"/>
          </a:p>
        </p:txBody>
      </p:sp>
      <p:sp>
        <p:nvSpPr>
          <p:cNvPr id="3" name="Subtitle 2"/>
          <p:cNvSpPr>
            <a:spLocks noGrp="1"/>
          </p:cNvSpPr>
          <p:nvPr>
            <p:ph type="subTitle" idx="1"/>
          </p:nvPr>
        </p:nvSpPr>
        <p:spPr/>
        <p:txBody>
          <a:bodyPr/>
          <a:lstStyle/>
          <a:p>
            <a:r>
              <a:rPr lang="en-US" dirty="0" smtClean="0">
                <a:solidFill>
                  <a:schemeClr val="tx1"/>
                </a:solidFill>
              </a:rPr>
              <a:t>Dr. </a:t>
            </a:r>
            <a:r>
              <a:rPr lang="en-US" dirty="0" err="1" smtClean="0">
                <a:solidFill>
                  <a:schemeClr val="tx1"/>
                </a:solidFill>
              </a:rPr>
              <a:t>Ankita</a:t>
            </a:r>
            <a:r>
              <a:rPr lang="en-US" dirty="0" smtClean="0">
                <a:solidFill>
                  <a:schemeClr val="tx1"/>
                </a:solidFill>
              </a:rPr>
              <a:t> </a:t>
            </a:r>
            <a:r>
              <a:rPr lang="en-US" dirty="0" err="1" smtClean="0">
                <a:solidFill>
                  <a:schemeClr val="tx1"/>
                </a:solidFill>
              </a:rPr>
              <a:t>Srivastava</a:t>
            </a:r>
            <a:endParaRPr lang="en-US" dirty="0">
              <a:solidFill>
                <a:schemeClr val="tx1"/>
              </a:solidFill>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Unit 1 </a:t>
            </a:r>
            <a:endParaRPr lang="en-US" dirty="0"/>
          </a:p>
        </p:txBody>
      </p:sp>
      <p:sp>
        <p:nvSpPr>
          <p:cNvPr id="3" name="Content Placeholder 2"/>
          <p:cNvSpPr>
            <a:spLocks noGrp="1"/>
          </p:cNvSpPr>
          <p:nvPr>
            <p:ph idx="1"/>
          </p:nvPr>
        </p:nvSpPr>
        <p:spPr/>
        <p:txBody>
          <a:bodyPr>
            <a:normAutofit fontScale="92500"/>
          </a:bodyPr>
          <a:lstStyle/>
          <a:p>
            <a:r>
              <a:rPr lang="en-US" dirty="0" smtClean="0"/>
              <a:t>Introduction: Overview, Database System </a:t>
            </a:r>
            <a:r>
              <a:rPr lang="en-US" dirty="0" err="1" smtClean="0"/>
              <a:t>vs</a:t>
            </a:r>
            <a:r>
              <a:rPr lang="en-US" dirty="0" smtClean="0"/>
              <a:t> File System, Database System Concept and Architecture, Data Model Schema and In-stances, Data Independence and Database Language and Interfaces, Data Definitions Language, DML, Overall Database Structure. </a:t>
            </a:r>
          </a:p>
          <a:p>
            <a:r>
              <a:rPr lang="en-US" dirty="0" smtClean="0"/>
              <a:t>Data Modeling Using the Entity Relationship Model : ER Model Concepts, Notation for ER Diagram, Mapping Constraints, Keys, Concepts of </a:t>
            </a:r>
            <a:r>
              <a:rPr lang="en-US" dirty="0" err="1" smtClean="0"/>
              <a:t>SuperKey</a:t>
            </a:r>
            <a:r>
              <a:rPr lang="en-US" dirty="0" smtClean="0"/>
              <a:t>, Candidate Key, Primary Key, Generalization, </a:t>
            </a:r>
            <a:r>
              <a:rPr lang="en-US" dirty="0" err="1" smtClean="0"/>
              <a:t>Aggrega-tion</a:t>
            </a:r>
            <a:r>
              <a:rPr lang="en-US" dirty="0" smtClean="0"/>
              <a:t>, Reduction of an ER Diagrams to Tables, Extended ER Model, Relationship of Higher Degree.</a:t>
            </a:r>
          </a:p>
          <a:p>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TextBooks</a:t>
            </a:r>
            <a:endParaRPr lang="en-US" dirty="0"/>
          </a:p>
        </p:txBody>
      </p:sp>
      <p:sp>
        <p:nvSpPr>
          <p:cNvPr id="3" name="Content Placeholder 2"/>
          <p:cNvSpPr>
            <a:spLocks noGrp="1"/>
          </p:cNvSpPr>
          <p:nvPr>
            <p:ph idx="1"/>
          </p:nvPr>
        </p:nvSpPr>
        <p:spPr/>
        <p:txBody>
          <a:bodyPr>
            <a:normAutofit/>
          </a:bodyPr>
          <a:lstStyle/>
          <a:p>
            <a:pPr>
              <a:buNone/>
            </a:pPr>
            <a:endParaRPr lang="en-US" dirty="0" smtClean="0"/>
          </a:p>
          <a:p>
            <a:pPr lvl="0"/>
            <a:r>
              <a:rPr lang="en-US" dirty="0" err="1" smtClean="0"/>
              <a:t>Korth</a:t>
            </a:r>
            <a:r>
              <a:rPr lang="en-US" dirty="0" smtClean="0"/>
              <a:t>, </a:t>
            </a:r>
            <a:r>
              <a:rPr lang="en-US" dirty="0" err="1" smtClean="0"/>
              <a:t>Silbertz</a:t>
            </a:r>
            <a:r>
              <a:rPr lang="en-US" dirty="0" smtClean="0"/>
              <a:t>, </a:t>
            </a:r>
            <a:r>
              <a:rPr lang="en-US" dirty="0" err="1" smtClean="0"/>
              <a:t>Sudarshan</a:t>
            </a:r>
            <a:r>
              <a:rPr lang="en-US" dirty="0" smtClean="0"/>
              <a:t>,” Database System Concepts”, McGraw Hill</a:t>
            </a:r>
          </a:p>
          <a:p>
            <a:pPr lvl="0"/>
            <a:r>
              <a:rPr lang="en-US" dirty="0" err="1" smtClean="0"/>
              <a:t>Elmasri,Navathe,“Fundamentals</a:t>
            </a:r>
            <a:r>
              <a:rPr lang="en-US" dirty="0" smtClean="0"/>
              <a:t> of Database Systems”, </a:t>
            </a:r>
            <a:r>
              <a:rPr lang="en-US" dirty="0" err="1" smtClean="0"/>
              <a:t>Addision</a:t>
            </a:r>
            <a:r>
              <a:rPr lang="en-US" dirty="0" smtClean="0"/>
              <a:t> Wesley</a:t>
            </a:r>
          </a:p>
          <a:p>
            <a:pPr>
              <a:buNone/>
            </a:pPr>
            <a:endParaRPr lang="en-US" dirty="0" smtClean="0"/>
          </a:p>
          <a:p>
            <a:endParaRPr 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Database</a:t>
            </a:r>
            <a:endParaRPr lang="en-US" dirty="0"/>
          </a:p>
        </p:txBody>
      </p:sp>
      <p:sp>
        <p:nvSpPr>
          <p:cNvPr id="3" name="Content Placeholder 2"/>
          <p:cNvSpPr>
            <a:spLocks noGrp="1"/>
          </p:cNvSpPr>
          <p:nvPr>
            <p:ph idx="1"/>
          </p:nvPr>
        </p:nvSpPr>
        <p:spPr/>
        <p:txBody>
          <a:bodyPr>
            <a:normAutofit lnSpcReduction="10000"/>
          </a:bodyPr>
          <a:lstStyle/>
          <a:p>
            <a:pPr marL="285750" lvl="1">
              <a:buFont typeface="Arial" pitchFamily="34" charset="0"/>
              <a:buChar char="•"/>
            </a:pPr>
            <a:r>
              <a:rPr lang="en-US" sz="2400" dirty="0" smtClean="0">
                <a:latin typeface="Times New Roman" pitchFamily="18" charset="0"/>
                <a:cs typeface="Times New Roman" pitchFamily="18" charset="0"/>
              </a:rPr>
              <a:t>It is a collection of interrelated data of an enterprise in a particular subject.</a:t>
            </a:r>
          </a:p>
          <a:p>
            <a:pPr marL="285750" lvl="1">
              <a:buFont typeface="Arial" pitchFamily="34" charset="0"/>
              <a:buChar char="•"/>
            </a:pPr>
            <a:r>
              <a:rPr lang="en-US" sz="2400" dirty="0" smtClean="0">
                <a:latin typeface="Times New Roman" pitchFamily="18" charset="0"/>
                <a:cs typeface="Times New Roman" pitchFamily="18" charset="0"/>
              </a:rPr>
              <a:t>It is a collection of data in an organized manner in a persistent media so that storing and retrieving data will be easier.</a:t>
            </a:r>
          </a:p>
          <a:p>
            <a:r>
              <a:rPr lang="en-US" sz="2400" b="1" dirty="0" smtClean="0">
                <a:latin typeface="Times New Roman" pitchFamily="18" charset="0"/>
                <a:cs typeface="Times New Roman" pitchFamily="18" charset="0"/>
              </a:rPr>
              <a:t>For example, </a:t>
            </a:r>
            <a:r>
              <a:rPr lang="en-US" sz="2400" dirty="0" smtClean="0">
                <a:latin typeface="Times New Roman" pitchFamily="18" charset="0"/>
                <a:cs typeface="Times New Roman" pitchFamily="18" charset="0"/>
              </a:rPr>
              <a:t>a university database might contain information about the following:-</a:t>
            </a:r>
          </a:p>
          <a:p>
            <a:pPr>
              <a:buNone/>
            </a:pPr>
            <a:r>
              <a:rPr lang="en-US" sz="2400" b="1" dirty="0" smtClean="0">
                <a:latin typeface="Times New Roman" pitchFamily="18" charset="0"/>
                <a:cs typeface="Times New Roman" pitchFamily="18" charset="0"/>
              </a:rPr>
              <a:t>		Entities </a:t>
            </a:r>
            <a:r>
              <a:rPr lang="en-US" sz="2400" dirty="0" smtClean="0">
                <a:latin typeface="Times New Roman" pitchFamily="18" charset="0"/>
                <a:cs typeface="Times New Roman" pitchFamily="18" charset="0"/>
              </a:rPr>
              <a:t>such as students, faculty, courses, and classrooms. </a:t>
            </a:r>
          </a:p>
          <a:p>
            <a:pPr>
              <a:buNone/>
            </a:pPr>
            <a:r>
              <a:rPr lang="en-US" sz="2400" b="1" dirty="0" smtClean="0">
                <a:latin typeface="Times New Roman" pitchFamily="18" charset="0"/>
                <a:cs typeface="Times New Roman" pitchFamily="18" charset="0"/>
              </a:rPr>
              <a:t>		Relationships between entities </a:t>
            </a:r>
            <a:r>
              <a:rPr lang="en-US" sz="2400" dirty="0" smtClean="0">
                <a:latin typeface="Times New Roman" pitchFamily="18" charset="0"/>
                <a:cs typeface="Times New Roman" pitchFamily="18" charset="0"/>
              </a:rPr>
              <a:t>such as students’ enrollment in courses, faculty teaching courses, and the use of rooms for courses.</a:t>
            </a:r>
          </a:p>
          <a:p>
            <a:pPr>
              <a:buNone/>
            </a:pPr>
            <a:endParaRPr lang="en-US" sz="2400" dirty="0" smtClean="0">
              <a:latin typeface="Times New Roman" pitchFamily="18" charset="0"/>
              <a:cs typeface="Times New Roman" pitchFamily="18" charset="0"/>
            </a:endParaRPr>
          </a:p>
          <a:p>
            <a:endParaRPr lang="en-US" sz="24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Database Management System (DBMS) </a:t>
            </a:r>
            <a:endParaRPr lang="en-US" dirty="0"/>
          </a:p>
        </p:txBody>
      </p:sp>
      <p:sp>
        <p:nvSpPr>
          <p:cNvPr id="3" name="Content Placeholder 2"/>
          <p:cNvSpPr>
            <a:spLocks noGrp="1"/>
          </p:cNvSpPr>
          <p:nvPr>
            <p:ph idx="1"/>
          </p:nvPr>
        </p:nvSpPr>
        <p:spPr/>
        <p:txBody>
          <a:bodyPr>
            <a:normAutofit/>
          </a:bodyPr>
          <a:lstStyle/>
          <a:p>
            <a:pPr marL="285750" lvl="1">
              <a:buNone/>
            </a:pPr>
            <a:endParaRPr lang="en-US" dirty="0" smtClean="0">
              <a:latin typeface="Times New Roman" pitchFamily="18" charset="0"/>
              <a:cs typeface="Times New Roman" pitchFamily="18" charset="0"/>
            </a:endParaRPr>
          </a:p>
          <a:p>
            <a:pPr marL="285750" lvl="1">
              <a:buNone/>
            </a:pPr>
            <a:r>
              <a:rPr lang="en-US" dirty="0" smtClean="0">
                <a:latin typeface="Times New Roman" pitchFamily="18" charset="0"/>
                <a:cs typeface="Times New Roman" pitchFamily="18" charset="0"/>
              </a:rPr>
              <a:t>It is a collection of programs (software), which is used to create, manipulate (insert, delete, retrieve, update) data in database.</a:t>
            </a:r>
          </a:p>
          <a:p>
            <a:pPr marL="285750" lvl="1">
              <a:buNone/>
            </a:pPr>
            <a:endParaRPr lang="en-US" dirty="0" smtClean="0">
              <a:latin typeface="Times New Roman" pitchFamily="18" charset="0"/>
              <a:cs typeface="Times New Roman" pitchFamily="18" charset="0"/>
            </a:endParaRPr>
          </a:p>
          <a:p>
            <a:pPr marL="285750" lvl="1">
              <a:buNone/>
            </a:pPr>
            <a:r>
              <a:rPr lang="en-US" dirty="0" smtClean="0">
                <a:latin typeface="Times New Roman" pitchFamily="18" charset="0"/>
                <a:cs typeface="Times New Roman" pitchFamily="18" charset="0"/>
              </a:rPr>
              <a:t>The primary goal of a DBMS is to provide away to store and retrieve database information that is both convenient and efficient.</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667512"/>
          </a:xfrm>
        </p:spPr>
        <p:txBody>
          <a:bodyPr>
            <a:normAutofit fontScale="90000"/>
          </a:bodyPr>
          <a:lstStyle/>
          <a:p>
            <a:pPr algn="ctr"/>
            <a:r>
              <a:rPr lang="en-US" dirty="0" smtClean="0"/>
              <a:t>Applications of DBMS</a:t>
            </a:r>
            <a:endParaRPr lang="en-US" dirty="0"/>
          </a:p>
        </p:txBody>
      </p:sp>
      <p:sp>
        <p:nvSpPr>
          <p:cNvPr id="3" name="Content Placeholder 2"/>
          <p:cNvSpPr>
            <a:spLocks noGrp="1"/>
          </p:cNvSpPr>
          <p:nvPr>
            <p:ph idx="1"/>
          </p:nvPr>
        </p:nvSpPr>
        <p:spPr>
          <a:xfrm>
            <a:off x="457200" y="1447800"/>
            <a:ext cx="8229600" cy="4953000"/>
          </a:xfrm>
        </p:spPr>
        <p:txBody>
          <a:bodyPr>
            <a:normAutofit fontScale="92500" lnSpcReduction="10000"/>
          </a:bodyPr>
          <a:lstStyle/>
          <a:p>
            <a:r>
              <a:rPr lang="en-US" dirty="0" smtClean="0"/>
              <a:t>Databases are widely used. Here are some representative applications:</a:t>
            </a:r>
          </a:p>
          <a:p>
            <a:endParaRPr lang="en-US" dirty="0" smtClean="0"/>
          </a:p>
          <a:p>
            <a:pPr lvl="1"/>
            <a:r>
              <a:rPr lang="en-US" b="1" dirty="0" smtClean="0"/>
              <a:t>Banking</a:t>
            </a:r>
            <a:endParaRPr lang="en-US" dirty="0" smtClean="0"/>
          </a:p>
          <a:p>
            <a:pPr lvl="1"/>
            <a:r>
              <a:rPr lang="en-US" b="1" dirty="0" smtClean="0"/>
              <a:t>Railway reservation system</a:t>
            </a:r>
            <a:endParaRPr lang="en-US" dirty="0" smtClean="0"/>
          </a:p>
          <a:p>
            <a:pPr lvl="1"/>
            <a:r>
              <a:rPr lang="en-US" b="1" dirty="0" smtClean="0"/>
              <a:t>Airlines	</a:t>
            </a:r>
            <a:endParaRPr lang="en-US" dirty="0" smtClean="0"/>
          </a:p>
          <a:p>
            <a:pPr lvl="1"/>
            <a:r>
              <a:rPr lang="en-US" b="1" dirty="0" smtClean="0"/>
              <a:t>Universities</a:t>
            </a:r>
            <a:endParaRPr lang="en-US" dirty="0" smtClean="0"/>
          </a:p>
          <a:p>
            <a:pPr lvl="1"/>
            <a:r>
              <a:rPr lang="en-US" b="1" dirty="0" smtClean="0"/>
              <a:t>Credit card transactions</a:t>
            </a:r>
          </a:p>
          <a:p>
            <a:pPr lvl="1"/>
            <a:r>
              <a:rPr lang="en-US" b="1" dirty="0" smtClean="0"/>
              <a:t>Telecommunication</a:t>
            </a:r>
            <a:endParaRPr lang="en-US" dirty="0" smtClean="0"/>
          </a:p>
          <a:p>
            <a:pPr lvl="1"/>
            <a:r>
              <a:rPr lang="en-US" b="1" dirty="0" smtClean="0"/>
              <a:t>Sales</a:t>
            </a:r>
            <a:endParaRPr lang="en-US" dirty="0" smtClean="0"/>
          </a:p>
          <a:p>
            <a:pPr lvl="1"/>
            <a:r>
              <a:rPr lang="en-US" b="1" dirty="0" smtClean="0"/>
              <a:t>Human resources</a:t>
            </a:r>
            <a:endParaRPr lang="en-US" dirty="0" smtClean="0"/>
          </a:p>
          <a:p>
            <a:pPr lvl="1"/>
            <a:r>
              <a:rPr lang="en-US" b="1" dirty="0" smtClean="0"/>
              <a:t>Hospital system</a:t>
            </a:r>
            <a:endParaRPr lang="en-US" dirty="0" smtClean="0"/>
          </a:p>
          <a:p>
            <a:pPr lvl="1"/>
            <a:r>
              <a:rPr lang="en-US" b="1" dirty="0" smtClean="0"/>
              <a:t>Hotel system</a:t>
            </a:r>
            <a:endParaRPr lang="en-US" dirty="0" smtClean="0"/>
          </a:p>
          <a:p>
            <a:pPr lvl="1"/>
            <a:endParaRPr lang="en-US"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Drawbacks of File System</a:t>
            </a:r>
            <a:endParaRPr lang="en-US" dirty="0"/>
          </a:p>
        </p:txBody>
      </p:sp>
      <p:sp>
        <p:nvSpPr>
          <p:cNvPr id="3" name="Content Placeholder 2"/>
          <p:cNvSpPr>
            <a:spLocks noGrp="1"/>
          </p:cNvSpPr>
          <p:nvPr>
            <p:ph idx="1"/>
          </p:nvPr>
        </p:nvSpPr>
        <p:spPr/>
        <p:txBody>
          <a:bodyPr>
            <a:normAutofit lnSpcReduction="10000"/>
          </a:bodyPr>
          <a:lstStyle/>
          <a:p>
            <a:r>
              <a:rPr lang="en-US" dirty="0" smtClean="0"/>
              <a:t>To keep information in such file-processing system, there are a number of major disadvantages:- </a:t>
            </a:r>
          </a:p>
          <a:p>
            <a:pPr lvl="1"/>
            <a:r>
              <a:rPr lang="en-US" dirty="0" smtClean="0"/>
              <a:t>Data redundancy</a:t>
            </a:r>
          </a:p>
          <a:p>
            <a:pPr lvl="1"/>
            <a:r>
              <a:rPr lang="en-US" dirty="0" smtClean="0"/>
              <a:t>Data inconsistency</a:t>
            </a:r>
          </a:p>
          <a:p>
            <a:pPr lvl="1"/>
            <a:r>
              <a:rPr lang="en-US" dirty="0" smtClean="0"/>
              <a:t>Difficulty in accessing data</a:t>
            </a:r>
          </a:p>
          <a:p>
            <a:pPr lvl="1"/>
            <a:r>
              <a:rPr lang="en-US" dirty="0" smtClean="0"/>
              <a:t>Data isolation</a:t>
            </a:r>
          </a:p>
          <a:p>
            <a:pPr lvl="1"/>
            <a:r>
              <a:rPr lang="en-US" dirty="0" smtClean="0"/>
              <a:t>Integrity problems</a:t>
            </a:r>
          </a:p>
          <a:p>
            <a:pPr lvl="1"/>
            <a:r>
              <a:rPr lang="en-US" dirty="0" smtClean="0"/>
              <a:t>Atomicity Problem</a:t>
            </a:r>
          </a:p>
          <a:p>
            <a:pPr lvl="1"/>
            <a:r>
              <a:rPr lang="en-US" dirty="0" smtClean="0"/>
              <a:t>Concurrent-access anomalies</a:t>
            </a:r>
          </a:p>
          <a:p>
            <a:pPr lvl="1"/>
            <a:r>
              <a:rPr lang="en-US" dirty="0" smtClean="0"/>
              <a:t>Security Problems</a:t>
            </a:r>
            <a:endParaRPr lang="en-US"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Advantages of DBMS over File System</a:t>
            </a:r>
            <a:endParaRPr lang="en-US" dirty="0"/>
          </a:p>
        </p:txBody>
      </p:sp>
      <p:sp>
        <p:nvSpPr>
          <p:cNvPr id="3" name="Content Placeholder 2"/>
          <p:cNvSpPr>
            <a:spLocks noGrp="1"/>
          </p:cNvSpPr>
          <p:nvPr>
            <p:ph idx="1"/>
          </p:nvPr>
        </p:nvSpPr>
        <p:spPr/>
        <p:txBody>
          <a:bodyPr>
            <a:normAutofit/>
          </a:bodyPr>
          <a:lstStyle/>
          <a:p>
            <a:r>
              <a:rPr lang="en-US" dirty="0" smtClean="0"/>
              <a:t>No redundant data</a:t>
            </a:r>
          </a:p>
          <a:p>
            <a:r>
              <a:rPr lang="en-US" dirty="0" smtClean="0"/>
              <a:t>Data Consistency and Integrity</a:t>
            </a:r>
          </a:p>
          <a:p>
            <a:r>
              <a:rPr lang="en-US" dirty="0" smtClean="0"/>
              <a:t>Data Security: </a:t>
            </a:r>
          </a:p>
          <a:p>
            <a:r>
              <a:rPr lang="en-US" dirty="0" smtClean="0"/>
              <a:t>Privacy</a:t>
            </a:r>
          </a:p>
          <a:p>
            <a:r>
              <a:rPr lang="en-US" dirty="0" smtClean="0"/>
              <a:t>Easy access to data</a:t>
            </a:r>
          </a:p>
          <a:p>
            <a:r>
              <a:rPr lang="en-US" dirty="0" smtClean="0"/>
              <a:t>Easy recovery</a:t>
            </a:r>
          </a:p>
          <a:p>
            <a:r>
              <a:rPr lang="en-US" dirty="0" smtClean="0"/>
              <a:t>Flexible</a:t>
            </a:r>
          </a:p>
          <a:p>
            <a:endParaRPr lang="en-US"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Disadvantages of DBMS</a:t>
            </a:r>
            <a:endParaRPr lang="en-US" dirty="0"/>
          </a:p>
        </p:txBody>
      </p:sp>
      <p:sp>
        <p:nvSpPr>
          <p:cNvPr id="3" name="Content Placeholder 2"/>
          <p:cNvSpPr>
            <a:spLocks noGrp="1"/>
          </p:cNvSpPr>
          <p:nvPr>
            <p:ph idx="1"/>
          </p:nvPr>
        </p:nvSpPr>
        <p:spPr/>
        <p:txBody>
          <a:bodyPr/>
          <a:lstStyle/>
          <a:p>
            <a:r>
              <a:rPr lang="en-US" dirty="0" smtClean="0"/>
              <a:t>DBMS implementation cost is high compared to the file system </a:t>
            </a:r>
          </a:p>
          <a:p>
            <a:r>
              <a:rPr lang="en-US" dirty="0" smtClean="0"/>
              <a:t>Complexity: Database systems are complex to understand </a:t>
            </a:r>
          </a:p>
          <a:p>
            <a:r>
              <a:rPr lang="en-US" dirty="0" smtClean="0"/>
              <a:t>Performance: Database systems are generic, making them suitable for various applications. However this feature affect their performance for some applications</a:t>
            </a:r>
            <a:endParaRPr lang="en-US"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Data Abstraction</a:t>
            </a:r>
            <a:endParaRPr lang="en-US" dirty="0"/>
          </a:p>
        </p:txBody>
      </p:sp>
      <p:sp>
        <p:nvSpPr>
          <p:cNvPr id="3" name="Content Placeholder 2"/>
          <p:cNvSpPr>
            <a:spLocks noGrp="1"/>
          </p:cNvSpPr>
          <p:nvPr>
            <p:ph idx="1"/>
          </p:nvPr>
        </p:nvSpPr>
        <p:spPr/>
        <p:txBody>
          <a:bodyPr/>
          <a:lstStyle/>
          <a:p>
            <a:r>
              <a:rPr lang="en-US" dirty="0" smtClean="0"/>
              <a:t>Data abstraction means to hide the information. To hide the information from some users, three levels of abstraction is used. This architecture has three levels: </a:t>
            </a:r>
          </a:p>
          <a:p>
            <a:pPr>
              <a:buNone/>
            </a:pPr>
            <a:r>
              <a:rPr lang="en-US" dirty="0" smtClean="0"/>
              <a:t>	1. External level (View Level)</a:t>
            </a:r>
          </a:p>
          <a:p>
            <a:pPr>
              <a:buNone/>
            </a:pPr>
            <a:r>
              <a:rPr lang="en-US" dirty="0" smtClean="0"/>
              <a:t>	2. Conceptual level (Logical Level)</a:t>
            </a:r>
          </a:p>
          <a:p>
            <a:pPr>
              <a:buNone/>
            </a:pPr>
            <a:r>
              <a:rPr lang="en-US" dirty="0" smtClean="0"/>
              <a:t>	3. Physical level (Internal Level)</a:t>
            </a:r>
            <a:endParaRPr lang="en-US"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Data abstraction.jpg"/>
          <p:cNvPicPr>
            <a:picLocks noGrp="1" noChangeAspect="1"/>
          </p:cNvPicPr>
          <p:nvPr>
            <p:ph idx="1"/>
          </p:nvPr>
        </p:nvPicPr>
        <p:blipFill>
          <a:blip r:embed="rId2"/>
          <a:stretch>
            <a:fillRect/>
          </a:stretch>
        </p:blipFill>
        <p:spPr>
          <a:xfrm>
            <a:off x="990600" y="762000"/>
            <a:ext cx="7315200" cy="5668963"/>
          </a:xfrm>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Schema</a:t>
            </a:r>
            <a:endParaRPr lang="en-US" dirty="0"/>
          </a:p>
        </p:txBody>
      </p:sp>
      <p:sp>
        <p:nvSpPr>
          <p:cNvPr id="3" name="Content Placeholder 2"/>
          <p:cNvSpPr>
            <a:spLocks noGrp="1"/>
          </p:cNvSpPr>
          <p:nvPr>
            <p:ph idx="1"/>
          </p:nvPr>
        </p:nvSpPr>
        <p:spPr/>
        <p:txBody>
          <a:bodyPr>
            <a:normAutofit/>
          </a:bodyPr>
          <a:lstStyle/>
          <a:p>
            <a:r>
              <a:rPr lang="en-US" dirty="0" smtClean="0"/>
              <a:t>The overall design of the database is called the database schema. </a:t>
            </a:r>
          </a:p>
          <a:p>
            <a:r>
              <a:rPr lang="en-US" dirty="0" smtClean="0"/>
              <a:t>Schema is of three types: Physical schema, logical schema and view schema. </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09600"/>
            <a:ext cx="8229600" cy="5715000"/>
          </a:xfrm>
        </p:spPr>
        <p:txBody>
          <a:bodyPr>
            <a:normAutofit/>
          </a:bodyPr>
          <a:lstStyle/>
          <a:p>
            <a:r>
              <a:rPr lang="en-US" sz="2400" dirty="0" smtClean="0"/>
              <a:t>Physical schema: The design of a database at physical level is called physical schema, how the data stored in blocks of storage is described at this level. </a:t>
            </a:r>
          </a:p>
          <a:p>
            <a:endParaRPr lang="en-US" sz="2400" dirty="0" smtClean="0"/>
          </a:p>
          <a:p>
            <a:r>
              <a:rPr lang="en-US" sz="2400" dirty="0" smtClean="0"/>
              <a:t>Logical schema: Design of database at logical level is called logical schema, programmers and database administrators work at this level, at this level data can be described.</a:t>
            </a:r>
          </a:p>
          <a:p>
            <a:pPr>
              <a:buNone/>
            </a:pPr>
            <a:endParaRPr lang="en-US" sz="2400" dirty="0" smtClean="0"/>
          </a:p>
          <a:p>
            <a:r>
              <a:rPr lang="en-US" sz="2400" dirty="0" smtClean="0"/>
              <a:t>View schema: Design of database at view level is called view schema. This generally describes end user interaction with database systems. </a:t>
            </a:r>
          </a:p>
          <a:p>
            <a:endParaRPr lang="en-US" sz="2400"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667512"/>
          </a:xfrm>
        </p:spPr>
        <p:txBody>
          <a:bodyPr>
            <a:normAutofit fontScale="90000"/>
          </a:bodyPr>
          <a:lstStyle/>
          <a:p>
            <a:pPr algn="ctr"/>
            <a:r>
              <a:rPr lang="en-US" b="1" dirty="0" smtClean="0"/>
              <a:t>Advantages of Schema</a:t>
            </a:r>
            <a:endParaRPr lang="en-US" dirty="0"/>
          </a:p>
        </p:txBody>
      </p:sp>
      <p:sp>
        <p:nvSpPr>
          <p:cNvPr id="3" name="Content Placeholder 2"/>
          <p:cNvSpPr>
            <a:spLocks noGrp="1"/>
          </p:cNvSpPr>
          <p:nvPr>
            <p:ph idx="1"/>
          </p:nvPr>
        </p:nvSpPr>
        <p:spPr>
          <a:xfrm>
            <a:off x="457200" y="1371600"/>
            <a:ext cx="8229600" cy="5715000"/>
          </a:xfrm>
        </p:spPr>
        <p:txBody>
          <a:bodyPr>
            <a:normAutofit fontScale="85000" lnSpcReduction="20000"/>
          </a:bodyPr>
          <a:lstStyle/>
          <a:p>
            <a:pPr fontAlgn="base"/>
            <a:r>
              <a:rPr lang="en-US" b="1" dirty="0" smtClean="0">
                <a:latin typeface="+mj-lt"/>
              </a:rPr>
              <a:t>Data Consistency and Integrity:</a:t>
            </a:r>
            <a:r>
              <a:rPr lang="en-US" dirty="0" smtClean="0">
                <a:latin typeface="+mj-lt"/>
              </a:rPr>
              <a:t> A well-defined schema enforces rules and constraints (like data types, primary keys, foreign keys, unique constraints, etc.).</a:t>
            </a:r>
          </a:p>
          <a:p>
            <a:pPr fontAlgn="base"/>
            <a:r>
              <a:rPr lang="en-US" b="1" dirty="0" smtClean="0">
                <a:latin typeface="+mj-lt"/>
              </a:rPr>
              <a:t>Structured Organization of Data: </a:t>
            </a:r>
            <a:r>
              <a:rPr lang="en-US" dirty="0" smtClean="0">
                <a:latin typeface="+mj-lt"/>
              </a:rPr>
              <a:t>Schema provides a systematic and logical structure to store data.</a:t>
            </a:r>
          </a:p>
          <a:p>
            <a:pPr fontAlgn="base"/>
            <a:r>
              <a:rPr lang="en-US" b="1" dirty="0" smtClean="0">
                <a:latin typeface="+mj-lt"/>
              </a:rPr>
              <a:t>Simplifies Data Access: </a:t>
            </a:r>
            <a:r>
              <a:rPr lang="en-US" dirty="0" smtClean="0">
                <a:latin typeface="+mj-lt"/>
              </a:rPr>
              <a:t>By knowing the schema, users and developers can easily query data using SQL, knowing exactly where and how data is stored.</a:t>
            </a:r>
          </a:p>
          <a:p>
            <a:pPr fontAlgn="base"/>
            <a:r>
              <a:rPr lang="en-US" b="1" dirty="0" smtClean="0">
                <a:latin typeface="+mj-lt"/>
              </a:rPr>
              <a:t>Supports Data Security and Authorization:</a:t>
            </a:r>
            <a:r>
              <a:rPr lang="en-US" dirty="0" smtClean="0">
                <a:latin typeface="+mj-lt"/>
              </a:rPr>
              <a:t> Schema-level definitions can help in applying access controls and roles, allowing only authorized users to view or manipulate certain parts of the data.</a:t>
            </a:r>
          </a:p>
          <a:p>
            <a:pPr fontAlgn="base"/>
            <a:r>
              <a:rPr lang="en-US" b="1" dirty="0" smtClean="0">
                <a:latin typeface="+mj-lt"/>
              </a:rPr>
              <a:t>Facilitates Database Design and Documentation:</a:t>
            </a:r>
            <a:r>
              <a:rPr lang="en-US" dirty="0" smtClean="0">
                <a:latin typeface="+mj-lt"/>
              </a:rPr>
              <a:t> The schema serves as documentation for the database, making it easier to understand its structure and relationships.</a:t>
            </a:r>
          </a:p>
          <a:p>
            <a:pPr fontAlgn="base"/>
            <a:r>
              <a:rPr lang="en-US" b="1" dirty="0" smtClean="0">
                <a:latin typeface="+mj-lt"/>
              </a:rPr>
              <a:t>Enables Logical and Physical Data Independence: </a:t>
            </a:r>
            <a:r>
              <a:rPr lang="en-US" dirty="0" smtClean="0">
                <a:latin typeface="+mj-lt"/>
              </a:rPr>
              <a:t>Through logical and physical schema separation, changes in storage details (physical schema) do not affect how users interact with data (logical schema).</a:t>
            </a:r>
            <a:br>
              <a:rPr lang="en-US" dirty="0" smtClean="0">
                <a:latin typeface="+mj-lt"/>
              </a:rPr>
            </a:br>
            <a:endParaRPr lang="en-US" dirty="0">
              <a:latin typeface="+mj-lt"/>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667512"/>
          </a:xfrm>
        </p:spPr>
        <p:txBody>
          <a:bodyPr>
            <a:normAutofit fontScale="90000"/>
          </a:bodyPr>
          <a:lstStyle/>
          <a:p>
            <a:pPr algn="ctr"/>
            <a:r>
              <a:rPr lang="en-US" b="1" dirty="0" smtClean="0"/>
              <a:t>Disadvantages of Schema</a:t>
            </a:r>
            <a:endParaRPr lang="en-US" dirty="0"/>
          </a:p>
        </p:txBody>
      </p:sp>
      <p:sp>
        <p:nvSpPr>
          <p:cNvPr id="3" name="Content Placeholder 2"/>
          <p:cNvSpPr>
            <a:spLocks noGrp="1"/>
          </p:cNvSpPr>
          <p:nvPr>
            <p:ph idx="1"/>
          </p:nvPr>
        </p:nvSpPr>
        <p:spPr>
          <a:xfrm>
            <a:off x="457200" y="1752600"/>
            <a:ext cx="8229600" cy="5257800"/>
          </a:xfrm>
        </p:spPr>
        <p:txBody>
          <a:bodyPr>
            <a:normAutofit fontScale="70000" lnSpcReduction="20000"/>
          </a:bodyPr>
          <a:lstStyle/>
          <a:p>
            <a:pPr fontAlgn="base"/>
            <a:r>
              <a:rPr lang="en-US" b="1" dirty="0" smtClean="0"/>
              <a:t>Rigidity and Inflexibility:</a:t>
            </a:r>
            <a:r>
              <a:rPr lang="en-US" dirty="0" smtClean="0"/>
              <a:t> Once a schema is defined and implemented, modifying it can be challenging, especially in production environments.</a:t>
            </a:r>
          </a:p>
          <a:p>
            <a:pPr fontAlgn="base"/>
            <a:r>
              <a:rPr lang="en-US" b="1" dirty="0" smtClean="0"/>
              <a:t>High Complexity in Large Systems:</a:t>
            </a:r>
            <a:r>
              <a:rPr lang="en-US" dirty="0" smtClean="0"/>
              <a:t> For complex systems with hundreds of tables and relationships, schema design becomes very complex and time-consuming.</a:t>
            </a:r>
          </a:p>
          <a:p>
            <a:pPr fontAlgn="base"/>
            <a:r>
              <a:rPr lang="en-US" b="1" dirty="0" smtClean="0"/>
              <a:t>Requires Skilled Designers: </a:t>
            </a:r>
            <a:r>
              <a:rPr lang="en-US" dirty="0" smtClean="0"/>
              <a:t>Designing an optimal schema is not trivial. It demands deep knowledge of data modeling, normalization and performance tuning.</a:t>
            </a:r>
          </a:p>
          <a:p>
            <a:pPr fontAlgn="base"/>
            <a:r>
              <a:rPr lang="en-US" b="1" dirty="0" smtClean="0"/>
              <a:t>Limited Adaptability to Changing Requirements: </a:t>
            </a:r>
            <a:r>
              <a:rPr lang="en-US" dirty="0" smtClean="0"/>
              <a:t>If business requirements evolve (e.g., new data fields or relationships), adapting the schema might require schema migration scripts, application code changes and extensive testing, making it less agile.</a:t>
            </a:r>
          </a:p>
          <a:p>
            <a:pPr fontAlgn="base"/>
            <a:r>
              <a:rPr lang="en-US" b="1" dirty="0" smtClean="0"/>
              <a:t>Overhead in Schema Maintenance:</a:t>
            </a:r>
            <a:r>
              <a:rPr lang="en-US" dirty="0" smtClean="0"/>
              <a:t> As the database grows and evolves, maintaining the schema can be overhead-heavy, especially when dealing with distributed systems, version control of schema files and synchronization across environments (development, staging, production).</a:t>
            </a:r>
          </a:p>
          <a:p>
            <a:pPr fontAlgn="base"/>
            <a:r>
              <a:rPr lang="en-US" b="1" dirty="0" smtClean="0"/>
              <a:t>Dependency on Schema Knowledge: </a:t>
            </a:r>
            <a:r>
              <a:rPr lang="en-US" dirty="0" smtClean="0"/>
              <a:t>Application developers and users must be aware of the schema structure to work effectively with the data.</a:t>
            </a:r>
          </a:p>
          <a:p>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Instance</a:t>
            </a:r>
            <a:endParaRPr lang="en-US" dirty="0"/>
          </a:p>
        </p:txBody>
      </p:sp>
      <p:sp>
        <p:nvSpPr>
          <p:cNvPr id="3" name="Content Placeholder 2"/>
          <p:cNvSpPr>
            <a:spLocks noGrp="1"/>
          </p:cNvSpPr>
          <p:nvPr>
            <p:ph idx="1"/>
          </p:nvPr>
        </p:nvSpPr>
        <p:spPr/>
        <p:txBody>
          <a:bodyPr>
            <a:normAutofit lnSpcReduction="10000"/>
          </a:bodyPr>
          <a:lstStyle/>
          <a:p>
            <a:r>
              <a:rPr lang="en-US" sz="2400" dirty="0" smtClean="0"/>
              <a:t>The collection of information stored in the database at a particular moment is called an instance of the database.</a:t>
            </a:r>
          </a:p>
          <a:p>
            <a:endParaRPr lang="en-US" sz="2400" dirty="0" smtClean="0"/>
          </a:p>
          <a:p>
            <a:r>
              <a:rPr lang="en-US" sz="2400" dirty="0" smtClean="0"/>
              <a:t>A database instance is the </a:t>
            </a:r>
            <a:r>
              <a:rPr lang="en-US" sz="2400" b="1" dirty="0" smtClean="0"/>
              <a:t>current data</a:t>
            </a:r>
            <a:r>
              <a:rPr lang="en-US" sz="2400" dirty="0" smtClean="0"/>
              <a:t> stored in the database. </a:t>
            </a:r>
          </a:p>
          <a:p>
            <a:r>
              <a:rPr lang="en-US" sz="2400" dirty="0" smtClean="0"/>
              <a:t>It is also called the </a:t>
            </a:r>
            <a:r>
              <a:rPr lang="en-US" sz="2400" b="1" dirty="0" smtClean="0"/>
              <a:t>snapshot</a:t>
            </a:r>
            <a:r>
              <a:rPr lang="en-US" sz="2400" dirty="0" smtClean="0"/>
              <a:t> or </a:t>
            </a:r>
            <a:r>
              <a:rPr lang="en-US" sz="2400" b="1" dirty="0" smtClean="0"/>
              <a:t>state</a:t>
            </a:r>
            <a:r>
              <a:rPr lang="en-US" sz="2400" dirty="0" smtClean="0"/>
              <a:t> of the database at a specific time. </a:t>
            </a:r>
          </a:p>
          <a:p>
            <a:r>
              <a:rPr lang="en-US" sz="2400" dirty="0" smtClean="0"/>
              <a:t>It changes whenever records are inserted, updated, or deleted. </a:t>
            </a:r>
          </a:p>
          <a:p>
            <a:r>
              <a:rPr lang="en-US" sz="2400" dirty="0" smtClean="0"/>
              <a:t>The </a:t>
            </a:r>
            <a:r>
              <a:rPr lang="en-US" sz="2400" b="1" dirty="0" smtClean="0"/>
              <a:t>schema</a:t>
            </a:r>
            <a:r>
              <a:rPr lang="en-US" sz="2400" dirty="0" smtClean="0"/>
              <a:t> defines the structure of the database, whereas the </a:t>
            </a:r>
            <a:r>
              <a:rPr lang="en-US" sz="2400" b="1" dirty="0" smtClean="0"/>
              <a:t>instance</a:t>
            </a:r>
            <a:r>
              <a:rPr lang="en-US" sz="2400" dirty="0" smtClean="0"/>
              <a:t> contains the actual data.</a:t>
            </a:r>
            <a:endParaRPr lang="en-US" sz="2400"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667512"/>
          </a:xfrm>
        </p:spPr>
        <p:txBody>
          <a:bodyPr>
            <a:normAutofit fontScale="90000"/>
          </a:bodyPr>
          <a:lstStyle/>
          <a:p>
            <a:pPr algn="ctr"/>
            <a:r>
              <a:rPr lang="en-US" b="1" dirty="0" smtClean="0"/>
              <a:t>Advantages of Instance</a:t>
            </a:r>
            <a:endParaRPr lang="en-US" dirty="0"/>
          </a:p>
        </p:txBody>
      </p:sp>
      <p:sp>
        <p:nvSpPr>
          <p:cNvPr id="3" name="Content Placeholder 2"/>
          <p:cNvSpPr>
            <a:spLocks noGrp="1"/>
          </p:cNvSpPr>
          <p:nvPr>
            <p:ph idx="1"/>
          </p:nvPr>
        </p:nvSpPr>
        <p:spPr>
          <a:xfrm>
            <a:off x="457200" y="1524000"/>
            <a:ext cx="8229600" cy="4800600"/>
          </a:xfrm>
        </p:spPr>
        <p:txBody>
          <a:bodyPr>
            <a:normAutofit fontScale="92500" lnSpcReduction="20000"/>
          </a:bodyPr>
          <a:lstStyle/>
          <a:p>
            <a:pPr fontAlgn="base"/>
            <a:r>
              <a:rPr lang="en-US" b="1" dirty="0" smtClean="0">
                <a:latin typeface="+mj-lt"/>
              </a:rPr>
              <a:t>Real-Time Representation of Data:</a:t>
            </a:r>
            <a:r>
              <a:rPr lang="en-US" dirty="0" smtClean="0">
                <a:latin typeface="+mj-lt"/>
              </a:rPr>
              <a:t> An instance reflects the current state of the database at a specific point in time.</a:t>
            </a:r>
          </a:p>
          <a:p>
            <a:pPr fontAlgn="base"/>
            <a:r>
              <a:rPr lang="en-US" b="1" dirty="0" smtClean="0">
                <a:latin typeface="+mj-lt"/>
              </a:rPr>
              <a:t>Flexibility in Data Handling:</a:t>
            </a:r>
            <a:r>
              <a:rPr lang="en-US" dirty="0" smtClean="0">
                <a:latin typeface="+mj-lt"/>
              </a:rPr>
              <a:t> While schemas are rigid and rarely change, instances are highly dynamic.</a:t>
            </a:r>
          </a:p>
          <a:p>
            <a:pPr fontAlgn="base"/>
            <a:r>
              <a:rPr lang="en-US" b="1" dirty="0" smtClean="0">
                <a:latin typeface="+mj-lt"/>
              </a:rPr>
              <a:t>Supports Day-to-Day Operations:</a:t>
            </a:r>
            <a:r>
              <a:rPr lang="en-US" dirty="0" smtClean="0">
                <a:latin typeface="+mj-lt"/>
              </a:rPr>
              <a:t> Since instances store actual data, they are essential for performing CRUD operations (Create, Read, Update, Delete) that are part of daily business processes.</a:t>
            </a:r>
          </a:p>
          <a:p>
            <a:pPr fontAlgn="base"/>
            <a:r>
              <a:rPr lang="en-US" b="1" dirty="0" smtClean="0">
                <a:latin typeface="+mj-lt"/>
              </a:rPr>
              <a:t>Basis for Decision-Making:</a:t>
            </a:r>
            <a:r>
              <a:rPr lang="en-US" dirty="0" smtClean="0">
                <a:latin typeface="+mj-lt"/>
              </a:rPr>
              <a:t> Instances provide the live data required for data analytics, forecasting, dashboards and reporting tools.</a:t>
            </a:r>
          </a:p>
          <a:p>
            <a:pPr fontAlgn="base"/>
            <a:r>
              <a:rPr lang="en-US" b="1" dirty="0" smtClean="0">
                <a:latin typeface="+mj-lt"/>
              </a:rPr>
              <a:t>Multiple Instances Over Time Enable History Tracking:</a:t>
            </a:r>
            <a:r>
              <a:rPr lang="en-US" dirty="0" smtClean="0">
                <a:latin typeface="+mj-lt"/>
              </a:rPr>
              <a:t> Though each instance is a snapshot in time, by capturing them periodically (e.g., through backups or logs), one can recreate historical data trends.</a:t>
            </a:r>
          </a:p>
          <a:p>
            <a:endParaRPr lang="en-US" dirty="0">
              <a:latin typeface="+mj-lt"/>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743712"/>
          </a:xfrm>
        </p:spPr>
        <p:txBody>
          <a:bodyPr>
            <a:normAutofit fontScale="90000"/>
          </a:bodyPr>
          <a:lstStyle/>
          <a:p>
            <a:pPr algn="ctr"/>
            <a:r>
              <a:rPr lang="en-US" b="1" dirty="0" smtClean="0"/>
              <a:t>Disadvantages of Instance</a:t>
            </a:r>
            <a:endParaRPr lang="en-US" dirty="0"/>
          </a:p>
        </p:txBody>
      </p:sp>
      <p:sp>
        <p:nvSpPr>
          <p:cNvPr id="3" name="Content Placeholder 2"/>
          <p:cNvSpPr>
            <a:spLocks noGrp="1"/>
          </p:cNvSpPr>
          <p:nvPr>
            <p:ph idx="1"/>
          </p:nvPr>
        </p:nvSpPr>
        <p:spPr>
          <a:xfrm>
            <a:off x="457200" y="1447800"/>
            <a:ext cx="8229600" cy="4876800"/>
          </a:xfrm>
        </p:spPr>
        <p:txBody>
          <a:bodyPr>
            <a:normAutofit fontScale="77500" lnSpcReduction="20000"/>
          </a:bodyPr>
          <a:lstStyle/>
          <a:p>
            <a:pPr fontAlgn="base"/>
            <a:r>
              <a:rPr lang="en-US" b="1" dirty="0" smtClean="0">
                <a:latin typeface="+mj-lt"/>
              </a:rPr>
              <a:t>Volatile and Continuously Changing:</a:t>
            </a:r>
            <a:r>
              <a:rPr lang="en-US" dirty="0" smtClean="0">
                <a:latin typeface="+mj-lt"/>
              </a:rPr>
              <a:t> Instances change constantly due to ongoing operations, making it difficult to maintain a consistent view of data over time unless snapshots or backups are taken.</a:t>
            </a:r>
          </a:p>
          <a:p>
            <a:pPr fontAlgn="base"/>
            <a:r>
              <a:rPr lang="en-US" b="1" dirty="0" smtClean="0">
                <a:latin typeface="+mj-lt"/>
              </a:rPr>
              <a:t>Potential for Data Inconsistency:</a:t>
            </a:r>
            <a:r>
              <a:rPr lang="en-US" dirty="0" smtClean="0">
                <a:latin typeface="+mj-lt"/>
              </a:rPr>
              <a:t> If constraints (like foreign keys, validations) are not properly enforced, bad or corrupt data can be entered into the instance, leading to inaccurate or inconsistent data.</a:t>
            </a:r>
          </a:p>
          <a:p>
            <a:pPr fontAlgn="base"/>
            <a:r>
              <a:rPr lang="en-US" b="1" dirty="0" smtClean="0">
                <a:latin typeface="+mj-lt"/>
              </a:rPr>
              <a:t>Difficult to Audit Without Proper Logging:</a:t>
            </a:r>
            <a:r>
              <a:rPr lang="en-US" dirty="0" smtClean="0">
                <a:latin typeface="+mj-lt"/>
              </a:rPr>
              <a:t> Since data in the instance can change frequently, without audit trails or version control, it may be impossible to track who changed what and when.</a:t>
            </a:r>
          </a:p>
          <a:p>
            <a:pPr fontAlgn="base"/>
            <a:r>
              <a:rPr lang="en-US" b="1" dirty="0" smtClean="0">
                <a:latin typeface="+mj-lt"/>
              </a:rPr>
              <a:t>Performance Overhead on Frequent Access:</a:t>
            </a:r>
            <a:r>
              <a:rPr lang="en-US" dirty="0" smtClean="0">
                <a:latin typeface="+mj-lt"/>
              </a:rPr>
              <a:t> Real-time access and updates to instances in large-scale systems can cause performance issues if not properly optimized with indexing, caching or partitioning.</a:t>
            </a:r>
          </a:p>
          <a:p>
            <a:pPr fontAlgn="base"/>
            <a:r>
              <a:rPr lang="en-US" b="1" dirty="0" smtClean="0">
                <a:latin typeface="+mj-lt"/>
              </a:rPr>
              <a:t>Storage and Memory Concerns: </a:t>
            </a:r>
            <a:r>
              <a:rPr lang="en-US" dirty="0" smtClean="0">
                <a:latin typeface="+mj-lt"/>
              </a:rPr>
              <a:t>Instances grow as more data is inserted into the database.</a:t>
            </a:r>
          </a:p>
          <a:p>
            <a:pPr fontAlgn="base"/>
            <a:r>
              <a:rPr lang="en-US" b="1" dirty="0" smtClean="0">
                <a:latin typeface="+mj-lt"/>
              </a:rPr>
              <a:t>Dependent on Schema Integrity: </a:t>
            </a:r>
            <a:r>
              <a:rPr lang="en-US" dirty="0" smtClean="0">
                <a:latin typeface="+mj-lt"/>
              </a:rPr>
              <a:t>While schema and instance are separate, a poorly designed schema can make instance data difficult to interpret or use.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b="1" dirty="0" smtClean="0"/>
              <a:t>Difference Between Schema and Instance</a:t>
            </a:r>
            <a:endParaRPr lang="en-US" dirty="0"/>
          </a:p>
        </p:txBody>
      </p:sp>
      <p:graphicFrame>
        <p:nvGraphicFramePr>
          <p:cNvPr id="4" name="Content Placeholder 3"/>
          <p:cNvGraphicFramePr>
            <a:graphicFrameLocks noGrp="1"/>
          </p:cNvGraphicFramePr>
          <p:nvPr>
            <p:ph idx="1"/>
          </p:nvPr>
        </p:nvGraphicFramePr>
        <p:xfrm>
          <a:off x="457200" y="1935162"/>
          <a:ext cx="8229600" cy="4694237"/>
        </p:xfrm>
        <a:graphic>
          <a:graphicData uri="http://schemas.openxmlformats.org/drawingml/2006/table">
            <a:tbl>
              <a:tblPr firstRow="1" bandRow="1">
                <a:tableStyleId>{5C22544A-7EE6-4342-B048-85BDC9FD1C3A}</a:tableStyleId>
              </a:tblPr>
              <a:tblGrid>
                <a:gridCol w="4114800"/>
                <a:gridCol w="4114800"/>
              </a:tblGrid>
              <a:tr h="434196">
                <a:tc>
                  <a:txBody>
                    <a:bodyPr/>
                    <a:lstStyle/>
                    <a:p>
                      <a:pPr algn="ctr" fontAlgn="base"/>
                      <a:r>
                        <a:rPr lang="en-US" sz="1400" b="1" dirty="0">
                          <a:latin typeface="Nunito"/>
                        </a:rPr>
                        <a:t>Schema</a:t>
                      </a:r>
                    </a:p>
                  </a:txBody>
                  <a:tcPr marL="38100" marR="38100" marT="95250" marB="95250" anchor="ctr"/>
                </a:tc>
                <a:tc>
                  <a:txBody>
                    <a:bodyPr/>
                    <a:lstStyle/>
                    <a:p>
                      <a:pPr algn="ctr" fontAlgn="base"/>
                      <a:r>
                        <a:rPr lang="en-US" sz="1400" b="1">
                          <a:latin typeface="Nunito"/>
                        </a:rPr>
                        <a:t>Instance</a:t>
                      </a:r>
                    </a:p>
                  </a:txBody>
                  <a:tcPr marL="95250" marR="95250" marT="95250" marB="95250" anchor="ctr"/>
                </a:tc>
              </a:tr>
              <a:tr h="696353">
                <a:tc>
                  <a:txBody>
                    <a:bodyPr/>
                    <a:lstStyle/>
                    <a:p>
                      <a:pPr algn="ctr" fontAlgn="ctr"/>
                      <a:r>
                        <a:rPr lang="en-US" sz="1250" b="0">
                          <a:latin typeface="Nunito"/>
                        </a:rPr>
                        <a:t>It is the overall description of the database.</a:t>
                      </a:r>
                    </a:p>
                  </a:txBody>
                  <a:tcPr marL="95250" marR="95250" marT="133350" marB="133350" anchor="ctr"/>
                </a:tc>
                <a:tc>
                  <a:txBody>
                    <a:bodyPr/>
                    <a:lstStyle/>
                    <a:p>
                      <a:pPr algn="ctr" fontAlgn="ctr"/>
                      <a:r>
                        <a:rPr lang="en-US" sz="1250" b="0">
                          <a:latin typeface="Nunito"/>
                        </a:rPr>
                        <a:t>It is the collection of information stored in a database at a particular moment.</a:t>
                      </a:r>
                    </a:p>
                  </a:txBody>
                  <a:tcPr marL="95250" marR="95250" marT="133350" marB="133350" anchor="ctr"/>
                </a:tc>
              </a:tr>
              <a:tr h="696353">
                <a:tc>
                  <a:txBody>
                    <a:bodyPr/>
                    <a:lstStyle/>
                    <a:p>
                      <a:pPr algn="ctr" fontAlgn="ctr"/>
                      <a:r>
                        <a:rPr lang="en-US" sz="1250" b="0">
                          <a:latin typeface="Nunito"/>
                        </a:rPr>
                        <a:t>The schema is same for the whole database.</a:t>
                      </a:r>
                    </a:p>
                  </a:txBody>
                  <a:tcPr marL="95250" marR="95250" marT="133350" marB="133350" anchor="ctr"/>
                </a:tc>
                <a:tc>
                  <a:txBody>
                    <a:bodyPr/>
                    <a:lstStyle/>
                    <a:p>
                      <a:pPr algn="ctr" fontAlgn="ctr"/>
                      <a:r>
                        <a:rPr lang="en-US" sz="1250" b="0">
                          <a:latin typeface="Nunito"/>
                        </a:rPr>
                        <a:t>Data in instances can be changed using addition, deletion and updation.</a:t>
                      </a:r>
                    </a:p>
                  </a:txBody>
                  <a:tcPr marL="95250" marR="95250" marT="133350" marB="133350" anchor="ctr"/>
                </a:tc>
              </a:tr>
              <a:tr h="491543">
                <a:tc>
                  <a:txBody>
                    <a:bodyPr/>
                    <a:lstStyle/>
                    <a:p>
                      <a:pPr algn="ctr" fontAlgn="ctr"/>
                      <a:r>
                        <a:rPr lang="en-US" sz="1250" b="0">
                          <a:latin typeface="Nunito"/>
                        </a:rPr>
                        <a:t>Does not change Frequently.</a:t>
                      </a:r>
                    </a:p>
                  </a:txBody>
                  <a:tcPr marL="95250" marR="95250" marT="133350" marB="133350" anchor="ctr"/>
                </a:tc>
                <a:tc>
                  <a:txBody>
                    <a:bodyPr/>
                    <a:lstStyle/>
                    <a:p>
                      <a:pPr algn="ctr" fontAlgn="ctr"/>
                      <a:r>
                        <a:rPr lang="en-US" sz="1250" b="0">
                          <a:latin typeface="Nunito"/>
                        </a:rPr>
                        <a:t>Changes Frequently.</a:t>
                      </a:r>
                    </a:p>
                  </a:txBody>
                  <a:tcPr marL="95250" marR="95250" marT="133350" marB="133350" anchor="ctr"/>
                </a:tc>
              </a:tr>
              <a:tr h="696353">
                <a:tc>
                  <a:txBody>
                    <a:bodyPr/>
                    <a:lstStyle/>
                    <a:p>
                      <a:pPr algn="ctr" fontAlgn="ctr"/>
                      <a:r>
                        <a:rPr lang="en-US" sz="1250" b="0">
                          <a:latin typeface="Nunito"/>
                        </a:rPr>
                        <a:t>Defines the basic structure of the database i.e. how the data will be stored in the database.</a:t>
                      </a:r>
                    </a:p>
                  </a:txBody>
                  <a:tcPr marL="95250" marR="95250" marT="133350" marB="133350" anchor="ctr"/>
                </a:tc>
                <a:tc>
                  <a:txBody>
                    <a:bodyPr/>
                    <a:lstStyle/>
                    <a:p>
                      <a:pPr algn="ctr" fontAlgn="ctr"/>
                      <a:r>
                        <a:rPr lang="en-US" sz="1250" b="0">
                          <a:latin typeface="Nunito"/>
                        </a:rPr>
                        <a:t>It is the set of Information stored at a particular time.</a:t>
                      </a:r>
                    </a:p>
                  </a:txBody>
                  <a:tcPr marL="95250" marR="95250" marT="133350" marB="133350" anchor="ctr"/>
                </a:tc>
              </a:tr>
              <a:tr h="491543">
                <a:tc>
                  <a:txBody>
                    <a:bodyPr/>
                    <a:lstStyle/>
                    <a:p>
                      <a:pPr algn="ctr" rtl="0" fontAlgn="base"/>
                      <a:r>
                        <a:rPr lang="en-US" sz="1250" b="0">
                          <a:latin typeface="Nunito"/>
                        </a:rPr>
                        <a:t>Affects the entire database structure.</a:t>
                      </a:r>
                    </a:p>
                  </a:txBody>
                  <a:tcPr marL="95250" marR="95250" marT="133350" marB="133350" anchor="ctr"/>
                </a:tc>
                <a:tc>
                  <a:txBody>
                    <a:bodyPr/>
                    <a:lstStyle/>
                    <a:p>
                      <a:pPr algn="ctr" rtl="0" fontAlgn="base"/>
                      <a:r>
                        <a:rPr lang="en-US" sz="1250" b="0">
                          <a:latin typeface="Nunito"/>
                        </a:rPr>
                        <a:t>Affects only the current state of data.</a:t>
                      </a:r>
                    </a:p>
                  </a:txBody>
                  <a:tcPr marL="95250" marR="95250" marT="133350" marB="133350" anchor="ctr"/>
                </a:tc>
              </a:tr>
              <a:tr h="696353">
                <a:tc>
                  <a:txBody>
                    <a:bodyPr/>
                    <a:lstStyle/>
                    <a:p>
                      <a:pPr algn="ctr" rtl="0" fontAlgn="base"/>
                      <a:r>
                        <a:rPr lang="en-US" sz="1250" b="0">
                          <a:latin typeface="Nunito"/>
                        </a:rPr>
                        <a:t>Requires significant effort and planning to change.</a:t>
                      </a:r>
                    </a:p>
                  </a:txBody>
                  <a:tcPr marL="95250" marR="95250" marT="133350" marB="133350" anchor="ctr"/>
                </a:tc>
                <a:tc>
                  <a:txBody>
                    <a:bodyPr/>
                    <a:lstStyle/>
                    <a:p>
                      <a:pPr algn="ctr" rtl="0" fontAlgn="base"/>
                      <a:r>
                        <a:rPr lang="en-US" sz="1250" b="0" dirty="0">
                          <a:latin typeface="Nunito"/>
                        </a:rPr>
                        <a:t>Easily altered by performing </a:t>
                      </a:r>
                      <a:r>
                        <a:rPr lang="en-US" sz="1250" b="0" u="sng" dirty="0" smtClean="0">
                          <a:solidFill>
                            <a:schemeClr val="tx1"/>
                          </a:solidFill>
                          <a:latin typeface="Nunito"/>
                        </a:rPr>
                        <a:t>CRUD</a:t>
                      </a:r>
                      <a:r>
                        <a:rPr lang="en-US" sz="1250" b="0" dirty="0" smtClean="0">
                          <a:solidFill>
                            <a:schemeClr val="tx1"/>
                          </a:solidFill>
                          <a:latin typeface="Nunito"/>
                        </a:rPr>
                        <a:t>(</a:t>
                      </a:r>
                      <a:r>
                        <a:rPr lang="en-US" sz="1250" b="0" dirty="0" smtClean="0">
                          <a:latin typeface="Nunito"/>
                        </a:rPr>
                        <a:t>Create</a:t>
                      </a:r>
                      <a:r>
                        <a:rPr lang="en-US" sz="1250" b="0" dirty="0">
                          <a:latin typeface="Nunito"/>
                        </a:rPr>
                        <a:t>, Read, Update, Delete) operations.</a:t>
                      </a:r>
                    </a:p>
                  </a:txBody>
                  <a:tcPr marL="95250" marR="95250" marT="133350" marB="133350" anchor="ctr"/>
                </a:tc>
              </a:tr>
              <a:tr h="491543">
                <a:tc>
                  <a:txBody>
                    <a:bodyPr/>
                    <a:lstStyle/>
                    <a:p>
                      <a:pPr algn="ctr" rtl="0" fontAlgn="base"/>
                      <a:r>
                        <a:rPr lang="en-US" sz="1250" b="0">
                          <a:latin typeface="Nunito"/>
                        </a:rPr>
                        <a:t>Table structures, relationships, constraints.</a:t>
                      </a:r>
                    </a:p>
                  </a:txBody>
                  <a:tcPr marL="95250" marR="95250" marT="133350" marB="133350" anchor="ctr"/>
                </a:tc>
                <a:tc>
                  <a:txBody>
                    <a:bodyPr/>
                    <a:lstStyle/>
                    <a:p>
                      <a:pPr algn="ctr" rtl="0" fontAlgn="base"/>
                      <a:r>
                        <a:rPr lang="en-US" sz="1250" b="0" dirty="0">
                          <a:latin typeface="Nunito"/>
                        </a:rPr>
                        <a:t>Data entries, records in tables.</a:t>
                      </a:r>
                    </a:p>
                  </a:txBody>
                  <a:tcPr marL="95250" marR="95250" marT="133350" marB="133350" anchor="ctr"/>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Data Independence</a:t>
            </a:r>
            <a:endParaRPr lang="en-US" dirty="0"/>
          </a:p>
        </p:txBody>
      </p:sp>
      <p:sp>
        <p:nvSpPr>
          <p:cNvPr id="3" name="Content Placeholder 2"/>
          <p:cNvSpPr>
            <a:spLocks noGrp="1"/>
          </p:cNvSpPr>
          <p:nvPr>
            <p:ph idx="1"/>
          </p:nvPr>
        </p:nvSpPr>
        <p:spPr/>
        <p:txBody>
          <a:bodyPr>
            <a:normAutofit/>
          </a:bodyPr>
          <a:lstStyle/>
          <a:p>
            <a:r>
              <a:rPr lang="en-US" sz="2400" dirty="0" smtClean="0"/>
              <a:t>Data independence can be explained using the three-schema architecture. </a:t>
            </a:r>
          </a:p>
          <a:p>
            <a:endParaRPr lang="en-US" sz="2400" dirty="0" smtClean="0"/>
          </a:p>
          <a:p>
            <a:r>
              <a:rPr lang="en-US" sz="2400" dirty="0" smtClean="0"/>
              <a:t>Data independence refers to characteristic of being able to modify the schema at one level of the database system without altering the schema at the next higher level. </a:t>
            </a:r>
          </a:p>
          <a:p>
            <a:endParaRPr lang="en-US" sz="2400" dirty="0" smtClean="0"/>
          </a:p>
          <a:p>
            <a:r>
              <a:rPr lang="en-US" sz="2400" dirty="0" smtClean="0"/>
              <a:t>There are two types of data independence: </a:t>
            </a:r>
          </a:p>
          <a:p>
            <a:pPr marL="971550" lvl="1" indent="-514350">
              <a:buAutoNum type="arabicPeriod"/>
            </a:pPr>
            <a:r>
              <a:rPr lang="en-US" sz="2400" dirty="0" smtClean="0"/>
              <a:t>Logical data independence </a:t>
            </a:r>
          </a:p>
          <a:p>
            <a:pPr marL="971550" lvl="1" indent="-514350">
              <a:buAutoNum type="arabicPeriod"/>
            </a:pPr>
            <a:r>
              <a:rPr lang="en-US" sz="2400" dirty="0" smtClean="0"/>
              <a:t>Physical data independence</a:t>
            </a:r>
            <a:endParaRPr lang="en-US" sz="2400"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667512"/>
          </a:xfrm>
        </p:spPr>
        <p:txBody>
          <a:bodyPr>
            <a:normAutofit/>
          </a:bodyPr>
          <a:lstStyle/>
          <a:p>
            <a:r>
              <a:rPr lang="en-US" sz="3200" dirty="0" smtClean="0"/>
              <a:t>Logical Data Independence</a:t>
            </a:r>
            <a:endParaRPr lang="en-US" sz="3200" dirty="0"/>
          </a:p>
        </p:txBody>
      </p:sp>
      <p:sp>
        <p:nvSpPr>
          <p:cNvPr id="3" name="Content Placeholder 2"/>
          <p:cNvSpPr>
            <a:spLocks noGrp="1"/>
          </p:cNvSpPr>
          <p:nvPr>
            <p:ph idx="1"/>
          </p:nvPr>
        </p:nvSpPr>
        <p:spPr/>
        <p:txBody>
          <a:bodyPr>
            <a:normAutofit/>
          </a:bodyPr>
          <a:lstStyle/>
          <a:p>
            <a:r>
              <a:rPr lang="en-US" sz="2400" dirty="0" smtClean="0"/>
              <a:t>Logical data independence refers characteristic of being able to change the conceptual schema without having to change the external schema. </a:t>
            </a:r>
          </a:p>
          <a:p>
            <a:endParaRPr lang="en-US" sz="2400" dirty="0" smtClean="0"/>
          </a:p>
          <a:p>
            <a:r>
              <a:rPr lang="en-US" sz="2400" dirty="0" smtClean="0"/>
              <a:t>Logical data independence is used to separate the external level from the conceptual view. </a:t>
            </a:r>
          </a:p>
          <a:p>
            <a:endParaRPr lang="en-US" sz="2400" dirty="0" smtClean="0"/>
          </a:p>
          <a:p>
            <a:r>
              <a:rPr lang="en-US" sz="2400" dirty="0" smtClean="0"/>
              <a:t>If we do any changes in the conceptual view of the data, then the user view of the data would not be affected.</a:t>
            </a:r>
            <a:endParaRPr lang="en-US" sz="2400"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743712"/>
          </a:xfrm>
        </p:spPr>
        <p:txBody>
          <a:bodyPr>
            <a:normAutofit/>
          </a:bodyPr>
          <a:lstStyle/>
          <a:p>
            <a:r>
              <a:rPr lang="en-US" sz="3200" dirty="0" smtClean="0"/>
              <a:t>Physical Data Independence</a:t>
            </a:r>
            <a:endParaRPr lang="en-US" sz="3200" dirty="0"/>
          </a:p>
        </p:txBody>
      </p:sp>
      <p:sp>
        <p:nvSpPr>
          <p:cNvPr id="3" name="Content Placeholder 2"/>
          <p:cNvSpPr>
            <a:spLocks noGrp="1"/>
          </p:cNvSpPr>
          <p:nvPr>
            <p:ph idx="1"/>
          </p:nvPr>
        </p:nvSpPr>
        <p:spPr/>
        <p:txBody>
          <a:bodyPr>
            <a:normAutofit fontScale="92500" lnSpcReduction="10000"/>
          </a:bodyPr>
          <a:lstStyle/>
          <a:p>
            <a:r>
              <a:rPr lang="en-US" sz="2400" dirty="0" smtClean="0"/>
              <a:t>Physical data independence can be defined as the capacity to change the internal schema without having to change the conceptual schema. </a:t>
            </a:r>
          </a:p>
          <a:p>
            <a:endParaRPr lang="en-US" sz="2400" dirty="0" smtClean="0"/>
          </a:p>
          <a:p>
            <a:r>
              <a:rPr lang="en-US" sz="2400" dirty="0" smtClean="0"/>
              <a:t>If we do any changes in the storage size of the database system server, then the Conceptual structure of the database will not be affected. </a:t>
            </a:r>
          </a:p>
          <a:p>
            <a:endParaRPr lang="en-US" sz="2400" dirty="0" smtClean="0"/>
          </a:p>
          <a:p>
            <a:r>
              <a:rPr lang="en-US" sz="2400" dirty="0" smtClean="0"/>
              <a:t>Physical data independence is used to separate conceptual levels from the internal levels. </a:t>
            </a:r>
          </a:p>
          <a:p>
            <a:endParaRPr lang="en-US" sz="2400" dirty="0" smtClean="0"/>
          </a:p>
          <a:p>
            <a:r>
              <a:rPr lang="en-US" sz="2400" dirty="0" smtClean="0"/>
              <a:t>Physical data independence occurs at the logical interface level.</a:t>
            </a:r>
            <a:endParaRPr lang="en-US" sz="2400" dirty="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Database Language</a:t>
            </a:r>
            <a:endParaRPr lang="en-US" dirty="0"/>
          </a:p>
        </p:txBody>
      </p:sp>
      <p:sp>
        <p:nvSpPr>
          <p:cNvPr id="3" name="Content Placeholder 2"/>
          <p:cNvSpPr>
            <a:spLocks noGrp="1"/>
          </p:cNvSpPr>
          <p:nvPr>
            <p:ph idx="1"/>
          </p:nvPr>
        </p:nvSpPr>
        <p:spPr/>
        <p:txBody>
          <a:bodyPr>
            <a:normAutofit/>
          </a:bodyPr>
          <a:lstStyle/>
          <a:p>
            <a:r>
              <a:rPr lang="en-US" sz="2400" dirty="0" smtClean="0"/>
              <a:t>Database languages are specialized tools used to interact with databases, mainly through SQL, which is divided into four categories: </a:t>
            </a:r>
          </a:p>
          <a:p>
            <a:pPr lvl="1"/>
            <a:r>
              <a:rPr lang="en-US" sz="2000" dirty="0" smtClean="0"/>
              <a:t>DDL, </a:t>
            </a:r>
          </a:p>
          <a:p>
            <a:pPr lvl="1"/>
            <a:r>
              <a:rPr lang="en-US" sz="2000" dirty="0" smtClean="0"/>
              <a:t>DML, </a:t>
            </a:r>
          </a:p>
          <a:p>
            <a:pPr lvl="1"/>
            <a:r>
              <a:rPr lang="en-US" sz="2000" dirty="0" smtClean="0"/>
              <a:t>DCL,  </a:t>
            </a:r>
          </a:p>
          <a:p>
            <a:pPr lvl="1"/>
            <a:r>
              <a:rPr lang="en-US" sz="2000" dirty="0" smtClean="0"/>
              <a:t>TCL. </a:t>
            </a:r>
          </a:p>
          <a:p>
            <a:endParaRPr lang="en-US" sz="2400" dirty="0" smtClean="0"/>
          </a:p>
          <a:p>
            <a:r>
              <a:rPr lang="en-US" sz="2400" dirty="0" smtClean="0"/>
              <a:t>These languages define, manipulate, control, and manage data and database structures.</a:t>
            </a:r>
            <a:endParaRPr lang="en-US" sz="2400" dirty="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743712"/>
          </a:xfrm>
        </p:spPr>
        <p:txBody>
          <a:bodyPr>
            <a:normAutofit/>
          </a:bodyPr>
          <a:lstStyle/>
          <a:p>
            <a:r>
              <a:rPr lang="en-US" sz="3200" b="1" dirty="0" smtClean="0"/>
              <a:t>Data Definition Language</a:t>
            </a:r>
            <a:endParaRPr lang="en-US" sz="3200" b="1" dirty="0"/>
          </a:p>
        </p:txBody>
      </p:sp>
      <p:sp>
        <p:nvSpPr>
          <p:cNvPr id="3" name="Content Placeholder 2"/>
          <p:cNvSpPr>
            <a:spLocks noGrp="1"/>
          </p:cNvSpPr>
          <p:nvPr>
            <p:ph idx="1"/>
          </p:nvPr>
        </p:nvSpPr>
        <p:spPr/>
        <p:txBody>
          <a:bodyPr>
            <a:normAutofit/>
          </a:bodyPr>
          <a:lstStyle/>
          <a:p>
            <a:pPr>
              <a:buNone/>
            </a:pPr>
            <a:r>
              <a:rPr lang="en-US" sz="2400" b="1" dirty="0" smtClean="0"/>
              <a:t>	DDL (Data Definition Language)</a:t>
            </a:r>
            <a:r>
              <a:rPr lang="en-US" sz="2400" dirty="0" smtClean="0"/>
              <a:t> Defines and modifies database schema and structure.</a:t>
            </a:r>
          </a:p>
          <a:p>
            <a:pPr>
              <a:buNone/>
            </a:pPr>
            <a:endParaRPr lang="en-US" sz="2400" dirty="0" smtClean="0"/>
          </a:p>
          <a:p>
            <a:pPr>
              <a:buNone/>
            </a:pPr>
            <a:r>
              <a:rPr lang="en-US" sz="2400" dirty="0" smtClean="0"/>
              <a:t>	Commands: </a:t>
            </a:r>
            <a:r>
              <a:rPr lang="en-US" sz="2400" b="1" dirty="0" smtClean="0"/>
              <a:t>CREATE</a:t>
            </a:r>
            <a:r>
              <a:rPr lang="en-US" sz="2400" dirty="0" smtClean="0"/>
              <a:t>, </a:t>
            </a:r>
            <a:r>
              <a:rPr lang="en-US" sz="2400" b="1" dirty="0" smtClean="0"/>
              <a:t>ALTER</a:t>
            </a:r>
            <a:r>
              <a:rPr lang="en-US" sz="2400" dirty="0" smtClean="0"/>
              <a:t>, </a:t>
            </a:r>
            <a:r>
              <a:rPr lang="en-US" sz="2400" b="1" dirty="0" smtClean="0"/>
              <a:t>DROP</a:t>
            </a:r>
            <a:r>
              <a:rPr lang="en-US" sz="2400" dirty="0" smtClean="0"/>
              <a:t>, </a:t>
            </a:r>
            <a:r>
              <a:rPr lang="en-US" sz="2400" b="1" dirty="0" smtClean="0"/>
              <a:t>TRUNCATE</a:t>
            </a:r>
            <a:r>
              <a:rPr lang="en-US" sz="2400" dirty="0" smtClean="0"/>
              <a:t>, </a:t>
            </a:r>
            <a:r>
              <a:rPr lang="en-US" sz="2400" b="1" dirty="0" smtClean="0"/>
              <a:t>RENAME</a:t>
            </a:r>
          </a:p>
          <a:p>
            <a:pPr>
              <a:buNone/>
            </a:pPr>
            <a:endParaRPr lang="en-US" sz="2400" dirty="0" smtClean="0"/>
          </a:p>
          <a:p>
            <a:pPr>
              <a:buNone/>
            </a:pPr>
            <a:r>
              <a:rPr lang="en-US" sz="2400" dirty="0" smtClean="0"/>
              <a:t>	</a:t>
            </a:r>
          </a:p>
          <a:p>
            <a:endParaRPr lang="en-US" sz="2400" dirty="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838200"/>
            <a:ext cx="8229600" cy="5638800"/>
          </a:xfrm>
        </p:spPr>
        <p:txBody>
          <a:bodyPr>
            <a:normAutofit fontScale="92500" lnSpcReduction="20000"/>
          </a:bodyPr>
          <a:lstStyle/>
          <a:p>
            <a:pPr>
              <a:buNone/>
            </a:pPr>
            <a:r>
              <a:rPr lang="en-US" dirty="0" smtClean="0"/>
              <a:t>1. CREATE : </a:t>
            </a:r>
          </a:p>
          <a:p>
            <a:r>
              <a:rPr lang="en-US" dirty="0" smtClean="0"/>
              <a:t>The create command is used to create a table. </a:t>
            </a:r>
          </a:p>
          <a:p>
            <a:r>
              <a:rPr lang="en-US" dirty="0" smtClean="0"/>
              <a:t> A table name should be unique, i.e., it must not match with existing tables. </a:t>
            </a:r>
          </a:p>
          <a:p>
            <a:r>
              <a:rPr lang="en-US" dirty="0" smtClean="0"/>
              <a:t>A table name and column name must start with alphabet, must not match with reserved keywords, and should be combination of A-Z, a-z, 0-9, and ’ ’ (underscore) having maximum length up to 30 characters. </a:t>
            </a:r>
          </a:p>
          <a:p>
            <a:r>
              <a:rPr lang="en-US" dirty="0" smtClean="0"/>
              <a:t>Each column definition requires name, data type and size for that column. </a:t>
            </a:r>
          </a:p>
          <a:p>
            <a:r>
              <a:rPr lang="en-US" dirty="0" smtClean="0"/>
              <a:t>Table name and column name are not case sensitive generally . But if they are enclosed within double quotes, then they are case sensitive. </a:t>
            </a:r>
          </a:p>
          <a:p>
            <a:r>
              <a:rPr lang="en-US" dirty="0" smtClean="0"/>
              <a:t>Each column definition is separated from other by a ’,’ (comma).</a:t>
            </a:r>
          </a:p>
          <a:p>
            <a:r>
              <a:rPr lang="en-US" dirty="0" smtClean="0"/>
              <a:t>The entire SQL statement is terminated with ’;’ (semi colon)</a:t>
            </a:r>
            <a:endParaRPr lang="en-US" dirty="0"/>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sz="2400" dirty="0" smtClean="0"/>
              <a:t>Syntax:</a:t>
            </a:r>
          </a:p>
          <a:p>
            <a:pPr>
              <a:buNone/>
            </a:pPr>
            <a:r>
              <a:rPr lang="en-US" sz="2400" dirty="0" smtClean="0"/>
              <a:t>	CREATE TABLE </a:t>
            </a:r>
            <a:r>
              <a:rPr lang="en-US" sz="2400" dirty="0" err="1" smtClean="0"/>
              <a:t>tablename</a:t>
            </a:r>
            <a:r>
              <a:rPr lang="en-US" sz="2400" dirty="0" smtClean="0"/>
              <a:t>( columnName1 </a:t>
            </a:r>
            <a:r>
              <a:rPr lang="en-US" sz="2400" dirty="0" err="1" smtClean="0"/>
              <a:t>datatype</a:t>
            </a:r>
            <a:r>
              <a:rPr lang="en-US" sz="2400" dirty="0" smtClean="0"/>
              <a:t>(size),</a:t>
            </a:r>
            <a:r>
              <a:rPr lang="en-US" sz="2400" dirty="0" err="1" smtClean="0"/>
              <a:t>columdatatype</a:t>
            </a:r>
            <a:r>
              <a:rPr lang="en-US" sz="2400" dirty="0" smtClean="0"/>
              <a:t>(size),.............., </a:t>
            </a:r>
            <a:r>
              <a:rPr lang="en-US" sz="2400" dirty="0" err="1" smtClean="0"/>
              <a:t>columnNameN</a:t>
            </a:r>
            <a:r>
              <a:rPr lang="en-US" sz="2400" dirty="0" smtClean="0"/>
              <a:t> </a:t>
            </a:r>
            <a:r>
              <a:rPr lang="en-US" sz="2400" dirty="0" err="1" smtClean="0"/>
              <a:t>datatype</a:t>
            </a:r>
            <a:r>
              <a:rPr lang="en-US" sz="2400" dirty="0" smtClean="0"/>
              <a:t>(size));</a:t>
            </a:r>
          </a:p>
          <a:p>
            <a:pPr>
              <a:buNone/>
            </a:pPr>
            <a:endParaRPr lang="en-US" sz="2400" dirty="0" smtClean="0"/>
          </a:p>
          <a:p>
            <a:pPr>
              <a:buNone/>
            </a:pPr>
            <a:r>
              <a:rPr lang="en-US" sz="2400" dirty="0" smtClean="0"/>
              <a:t>Example: CREATE TABLE Students (ID INT, Name VARCHAR(50));</a:t>
            </a:r>
            <a:endParaRPr lang="en-US" sz="2400" dirty="0"/>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838200"/>
            <a:ext cx="8229600" cy="5486400"/>
          </a:xfrm>
        </p:spPr>
        <p:txBody>
          <a:bodyPr>
            <a:normAutofit fontScale="92500" lnSpcReduction="20000"/>
          </a:bodyPr>
          <a:lstStyle/>
          <a:p>
            <a:pPr>
              <a:buNone/>
            </a:pPr>
            <a:r>
              <a:rPr lang="en-US" dirty="0" smtClean="0"/>
              <a:t>	2. ALTER : </a:t>
            </a:r>
          </a:p>
          <a:p>
            <a:pPr>
              <a:buNone/>
            </a:pPr>
            <a:r>
              <a:rPr lang="en-US" dirty="0" smtClean="0"/>
              <a:t>	• Alter command used to modify structures of a table. </a:t>
            </a:r>
          </a:p>
          <a:p>
            <a:pPr>
              <a:buNone/>
            </a:pPr>
            <a:r>
              <a:rPr lang="en-US" dirty="0" smtClean="0"/>
              <a:t>	• Alter command can be used to add ,modify, or drop columns in a table. </a:t>
            </a:r>
          </a:p>
          <a:p>
            <a:pPr>
              <a:buNone/>
            </a:pPr>
            <a:endParaRPr lang="en-US" dirty="0" smtClean="0"/>
          </a:p>
          <a:p>
            <a:pPr>
              <a:buNone/>
            </a:pPr>
            <a:r>
              <a:rPr lang="en-US" dirty="0" smtClean="0"/>
              <a:t>	• Alter command can be used for this purpose are described below: </a:t>
            </a:r>
          </a:p>
          <a:p>
            <a:pPr>
              <a:buNone/>
            </a:pPr>
            <a:endParaRPr lang="en-US" dirty="0" smtClean="0"/>
          </a:p>
          <a:p>
            <a:pPr>
              <a:buNone/>
            </a:pPr>
            <a:r>
              <a:rPr lang="en-US" dirty="0" smtClean="0"/>
              <a:t>	A. Adding New Columns : This command adds a new columns in an existing table. Initially, this column will not contain any data. If required, data can be filled for this column using UPDATE command. </a:t>
            </a:r>
          </a:p>
          <a:p>
            <a:pPr>
              <a:buNone/>
            </a:pPr>
            <a:endParaRPr lang="en-US" dirty="0" smtClean="0"/>
          </a:p>
          <a:p>
            <a:pPr>
              <a:buNone/>
            </a:pPr>
            <a:r>
              <a:rPr lang="en-US" dirty="0" smtClean="0"/>
              <a:t>	Syntax: Alter table </a:t>
            </a:r>
            <a:r>
              <a:rPr lang="en-US" dirty="0" err="1" smtClean="0"/>
              <a:t>TableName</a:t>
            </a:r>
            <a:r>
              <a:rPr lang="en-US" dirty="0" smtClean="0"/>
              <a:t> Add (</a:t>
            </a:r>
            <a:r>
              <a:rPr lang="en-US" dirty="0" err="1" smtClean="0"/>
              <a:t>NewColumnName</a:t>
            </a:r>
            <a:r>
              <a:rPr lang="en-US" dirty="0" smtClean="0"/>
              <a:t> </a:t>
            </a:r>
            <a:r>
              <a:rPr lang="en-US" dirty="0" err="1" smtClean="0"/>
              <a:t>Datatype</a:t>
            </a:r>
            <a:r>
              <a:rPr lang="en-US" dirty="0" smtClean="0"/>
              <a:t>(size), </a:t>
            </a:r>
            <a:r>
              <a:rPr lang="en-US" dirty="0" err="1" smtClean="0"/>
              <a:t>NewColumnName</a:t>
            </a:r>
            <a:r>
              <a:rPr lang="en-US" dirty="0" smtClean="0"/>
              <a:t> </a:t>
            </a:r>
            <a:r>
              <a:rPr lang="en-US" dirty="0" err="1" smtClean="0"/>
              <a:t>Datatype</a:t>
            </a:r>
            <a:r>
              <a:rPr lang="en-US" dirty="0" smtClean="0"/>
              <a:t>(size). . . .);</a:t>
            </a:r>
            <a:endParaRPr lang="en-US" dirty="0"/>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14400"/>
            <a:ext cx="8229600" cy="5211763"/>
          </a:xfrm>
        </p:spPr>
        <p:txBody>
          <a:bodyPr>
            <a:normAutofit lnSpcReduction="10000"/>
          </a:bodyPr>
          <a:lstStyle/>
          <a:p>
            <a:pPr>
              <a:buNone/>
            </a:pPr>
            <a:r>
              <a:rPr lang="en-US" dirty="0" smtClean="0"/>
              <a:t>B. Dropping Columns : This command deletes an existing column from the table along with the data held by that column. </a:t>
            </a:r>
          </a:p>
          <a:p>
            <a:pPr>
              <a:buNone/>
            </a:pPr>
            <a:endParaRPr lang="en-US" dirty="0" smtClean="0"/>
          </a:p>
          <a:p>
            <a:pPr>
              <a:buNone/>
            </a:pPr>
            <a:r>
              <a:rPr lang="en-US" dirty="0" smtClean="0"/>
              <a:t>	Syntax: Alter table </a:t>
            </a:r>
            <a:r>
              <a:rPr lang="en-US" dirty="0" err="1" smtClean="0"/>
              <a:t>TableName</a:t>
            </a:r>
            <a:r>
              <a:rPr lang="en-US" dirty="0" smtClean="0"/>
              <a:t> Drop column </a:t>
            </a:r>
            <a:r>
              <a:rPr lang="en-US" dirty="0" err="1" smtClean="0"/>
              <a:t>columnName</a:t>
            </a:r>
            <a:r>
              <a:rPr lang="en-US" dirty="0" smtClean="0"/>
              <a:t>;</a:t>
            </a:r>
          </a:p>
          <a:p>
            <a:pPr>
              <a:buNone/>
            </a:pPr>
            <a:endParaRPr lang="en-US" dirty="0" smtClean="0"/>
          </a:p>
          <a:p>
            <a:pPr>
              <a:buNone/>
            </a:pPr>
            <a:r>
              <a:rPr lang="en-US" dirty="0" smtClean="0"/>
              <a:t>C. Modifying Columns :	The main aim of this command is to modify or change the </a:t>
            </a:r>
            <a:r>
              <a:rPr lang="en-US" dirty="0" err="1" smtClean="0"/>
              <a:t>datatype</a:t>
            </a:r>
            <a:r>
              <a:rPr lang="en-US" dirty="0" smtClean="0"/>
              <a:t> and size of the column. </a:t>
            </a:r>
          </a:p>
          <a:p>
            <a:pPr>
              <a:buNone/>
            </a:pPr>
            <a:r>
              <a:rPr lang="en-US" dirty="0" smtClean="0"/>
              <a:t> </a:t>
            </a:r>
          </a:p>
          <a:p>
            <a:pPr>
              <a:buNone/>
            </a:pPr>
            <a:r>
              <a:rPr lang="en-US" dirty="0" smtClean="0"/>
              <a:t>	Syntax : Alter table </a:t>
            </a:r>
            <a:r>
              <a:rPr lang="en-US" dirty="0" err="1" smtClean="0"/>
              <a:t>TableName</a:t>
            </a:r>
            <a:r>
              <a:rPr lang="en-US" dirty="0" smtClean="0"/>
              <a:t> Modify(</a:t>
            </a:r>
            <a:r>
              <a:rPr lang="en-US" dirty="0" err="1" smtClean="0"/>
              <a:t>columnName</a:t>
            </a:r>
            <a:r>
              <a:rPr lang="en-US" dirty="0" smtClean="0"/>
              <a:t> </a:t>
            </a:r>
            <a:r>
              <a:rPr lang="en-US" dirty="0" err="1" smtClean="0"/>
              <a:t>newDatatype</a:t>
            </a:r>
            <a:r>
              <a:rPr lang="en-US" dirty="0" smtClean="0"/>
              <a:t>(</a:t>
            </a:r>
            <a:r>
              <a:rPr lang="en-US" dirty="0" err="1" smtClean="0"/>
              <a:t>newSize</a:t>
            </a:r>
            <a:r>
              <a:rPr lang="en-US" dirty="0" smtClean="0"/>
              <a:t>));</a:t>
            </a:r>
            <a:endParaRPr lang="en-US" dirty="0"/>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85800"/>
            <a:ext cx="8229600" cy="5440363"/>
          </a:xfrm>
        </p:spPr>
        <p:txBody>
          <a:bodyPr>
            <a:normAutofit/>
          </a:bodyPr>
          <a:lstStyle/>
          <a:p>
            <a:pPr>
              <a:buNone/>
            </a:pPr>
            <a:r>
              <a:rPr lang="en-US" sz="2400" dirty="0" smtClean="0"/>
              <a:t>3. DROP : </a:t>
            </a:r>
          </a:p>
          <a:p>
            <a:r>
              <a:rPr lang="en-US" sz="2400" dirty="0" smtClean="0"/>
              <a:t>DROP TABLE command is used to delete or destroy table from a database. </a:t>
            </a:r>
          </a:p>
          <a:p>
            <a:endParaRPr lang="en-US" sz="2400" dirty="0" smtClean="0"/>
          </a:p>
          <a:p>
            <a:r>
              <a:rPr lang="en-US" sz="2400" dirty="0" smtClean="0"/>
              <a:t>The DROP TABLE command drops the specified table. This means, all records along with structure of the table will be destroyed.</a:t>
            </a:r>
          </a:p>
          <a:p>
            <a:endParaRPr lang="en-US" sz="2400" dirty="0" smtClean="0"/>
          </a:p>
          <a:p>
            <a:r>
              <a:rPr lang="en-US" sz="2400" dirty="0" smtClean="0"/>
              <a:t>Care must be taken while using this command, as all records held within the table are lost and cannot be recovered.</a:t>
            </a:r>
          </a:p>
          <a:p>
            <a:pPr>
              <a:buNone/>
            </a:pPr>
            <a:endParaRPr lang="en-US" sz="2400" dirty="0" smtClean="0"/>
          </a:p>
          <a:p>
            <a:r>
              <a:rPr lang="en-US" sz="2400" dirty="0" smtClean="0"/>
              <a:t>Syntax : drop table </a:t>
            </a:r>
            <a:r>
              <a:rPr lang="en-US" sz="2400" dirty="0" err="1" smtClean="0"/>
              <a:t>tablename</a:t>
            </a:r>
            <a:r>
              <a:rPr lang="en-US" sz="2400" dirty="0" smtClean="0"/>
              <a:t>;</a:t>
            </a:r>
            <a:endParaRPr lang="en-US" sz="2400" dirty="0"/>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6019800"/>
          </a:xfrm>
        </p:spPr>
        <p:txBody>
          <a:bodyPr>
            <a:normAutofit/>
          </a:bodyPr>
          <a:lstStyle/>
          <a:p>
            <a:pPr>
              <a:buNone/>
            </a:pPr>
            <a:r>
              <a:rPr lang="en-US" sz="2400" dirty="0" smtClean="0"/>
              <a:t>	4. TRUNCATE : </a:t>
            </a:r>
          </a:p>
          <a:p>
            <a:r>
              <a:rPr lang="en-US" sz="2400" dirty="0" smtClean="0"/>
              <a:t>TRUNCATE TABLE is used to delete all data from a table. </a:t>
            </a:r>
          </a:p>
          <a:p>
            <a:endParaRPr lang="en-US" sz="2400" dirty="0" smtClean="0"/>
          </a:p>
          <a:p>
            <a:r>
              <a:rPr lang="en-US" sz="2400" dirty="0" smtClean="0"/>
              <a:t>Logically, this is equivalent to DELETE statement that deletes all rows without using WHERE clause. </a:t>
            </a:r>
          </a:p>
          <a:p>
            <a:endParaRPr lang="en-US" sz="2400" dirty="0" smtClean="0"/>
          </a:p>
          <a:p>
            <a:r>
              <a:rPr lang="en-US" sz="2400" dirty="0" smtClean="0"/>
              <a:t>TRUNCATE operation drops and re-creates the table. This is must faster than deleting all rows one by one. </a:t>
            </a:r>
          </a:p>
          <a:p>
            <a:endParaRPr lang="en-US" sz="2400" dirty="0" smtClean="0"/>
          </a:p>
          <a:p>
            <a:r>
              <a:rPr lang="en-US" sz="2400" dirty="0" smtClean="0"/>
              <a:t>The deleted records cannot be recovered in truncate operation. while in delete operation, deleted records can be recovered using ROLLBACK statement. </a:t>
            </a:r>
          </a:p>
          <a:p>
            <a:endParaRPr lang="en-US" sz="2400" dirty="0" smtClean="0"/>
          </a:p>
          <a:p>
            <a:r>
              <a:rPr lang="en-US" sz="2400" dirty="0" smtClean="0"/>
              <a:t>Syntax : truncate table </a:t>
            </a:r>
            <a:r>
              <a:rPr lang="en-US" sz="2400" dirty="0" err="1" smtClean="0"/>
              <a:t>tablename</a:t>
            </a:r>
            <a:r>
              <a:rPr lang="en-US" sz="2400" dirty="0" smtClean="0"/>
              <a:t>;</a:t>
            </a:r>
            <a:endParaRPr lang="en-US" sz="2400" dirty="0"/>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743712"/>
          </a:xfrm>
        </p:spPr>
        <p:txBody>
          <a:bodyPr>
            <a:normAutofit/>
          </a:bodyPr>
          <a:lstStyle/>
          <a:p>
            <a:r>
              <a:rPr lang="en-US" sz="3200" dirty="0" smtClean="0"/>
              <a:t>Data Manipulation Language</a:t>
            </a:r>
            <a:endParaRPr lang="en-US" sz="3200" dirty="0"/>
          </a:p>
        </p:txBody>
      </p:sp>
      <p:sp>
        <p:nvSpPr>
          <p:cNvPr id="3" name="Content Placeholder 2"/>
          <p:cNvSpPr>
            <a:spLocks noGrp="1"/>
          </p:cNvSpPr>
          <p:nvPr>
            <p:ph idx="1"/>
          </p:nvPr>
        </p:nvSpPr>
        <p:spPr/>
        <p:txBody>
          <a:bodyPr>
            <a:normAutofit/>
          </a:bodyPr>
          <a:lstStyle/>
          <a:p>
            <a:r>
              <a:rPr lang="en-US" sz="2400" b="1" dirty="0" smtClean="0"/>
              <a:t>DML (Data Manipulation Language)</a:t>
            </a:r>
            <a:r>
              <a:rPr lang="en-US" sz="2400" dirty="0" smtClean="0"/>
              <a:t> deals with data inside tables.</a:t>
            </a:r>
          </a:p>
          <a:p>
            <a:endParaRPr lang="en-US" sz="2400" dirty="0" smtClean="0"/>
          </a:p>
          <a:p>
            <a:r>
              <a:rPr lang="en-US" sz="2400" dirty="0" smtClean="0"/>
              <a:t>Data manipulation is </a:t>
            </a:r>
          </a:p>
          <a:p>
            <a:pPr lvl="1">
              <a:buNone/>
            </a:pPr>
            <a:r>
              <a:rPr lang="en-US" sz="2000" dirty="0" smtClean="0"/>
              <a:t>• The retrieval of information stored in the database (SELECT)</a:t>
            </a:r>
          </a:p>
          <a:p>
            <a:pPr lvl="1">
              <a:buNone/>
            </a:pPr>
            <a:r>
              <a:rPr lang="en-US" sz="2000" dirty="0" smtClean="0"/>
              <a:t>• The insertion of new information into the database (INSERT)</a:t>
            </a:r>
          </a:p>
          <a:p>
            <a:pPr lvl="1">
              <a:buNone/>
            </a:pPr>
            <a:r>
              <a:rPr lang="en-US" sz="2000" dirty="0" smtClean="0"/>
              <a:t>• The deletion of information from the database (DELETE)</a:t>
            </a:r>
          </a:p>
          <a:p>
            <a:pPr lvl="1">
              <a:buNone/>
            </a:pPr>
            <a:r>
              <a:rPr lang="en-US" sz="2000" dirty="0" smtClean="0"/>
              <a:t>• The modification of information stored in the database (UPDATE)</a:t>
            </a:r>
          </a:p>
          <a:p>
            <a:pPr>
              <a:buNone/>
            </a:pPr>
            <a:endParaRPr lang="en-US" sz="2400" dirty="0" smtClean="0"/>
          </a:p>
          <a:p>
            <a:r>
              <a:rPr lang="en-US" sz="2400" dirty="0" smtClean="0"/>
              <a:t>Example: INSERT INTO Students VALUES (1, '</a:t>
            </a:r>
            <a:r>
              <a:rPr lang="en-US" sz="2400" dirty="0" err="1" smtClean="0"/>
              <a:t>Rahul</a:t>
            </a:r>
            <a:r>
              <a:rPr lang="en-US" sz="2400" dirty="0" smtClean="0"/>
              <a:t>');</a:t>
            </a:r>
          </a:p>
          <a:p>
            <a:endParaRPr lang="en-US" sz="2400" dirty="0"/>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85800"/>
            <a:ext cx="8229600" cy="5440363"/>
          </a:xfrm>
        </p:spPr>
        <p:txBody>
          <a:bodyPr>
            <a:normAutofit/>
          </a:bodyPr>
          <a:lstStyle/>
          <a:p>
            <a:r>
              <a:rPr lang="en-US" sz="2400" dirty="0" smtClean="0"/>
              <a:t>A data manipulation language (DML) is a language that enables users to access or manipulate data as organized by the appropriate data model. </a:t>
            </a:r>
          </a:p>
          <a:p>
            <a:endParaRPr lang="en-US" sz="2400" dirty="0" smtClean="0"/>
          </a:p>
          <a:p>
            <a:r>
              <a:rPr lang="en-US" sz="2400" dirty="0" smtClean="0"/>
              <a:t>There are basically two types: </a:t>
            </a:r>
          </a:p>
          <a:p>
            <a:pPr lvl="1"/>
            <a:r>
              <a:rPr lang="en-US" sz="2000" dirty="0" smtClean="0"/>
              <a:t> Procedural DMLs require a user to specify what data are needed and how to get those data. </a:t>
            </a:r>
          </a:p>
          <a:p>
            <a:pPr lvl="1"/>
            <a:r>
              <a:rPr lang="en-US" sz="2000" dirty="0" smtClean="0"/>
              <a:t>Declarative DMLs (also referred to as non-procedural DMLs) require a user to specify what data are needed without specifying how to get those data.</a:t>
            </a:r>
          </a:p>
          <a:p>
            <a:pPr lvl="1"/>
            <a:endParaRPr lang="en-US" sz="2000" dirty="0" smtClean="0"/>
          </a:p>
          <a:p>
            <a:pPr marL="285750" lvl="1">
              <a:buFont typeface="Arial" pitchFamily="34" charset="0"/>
              <a:buChar char="•"/>
            </a:pPr>
            <a:r>
              <a:rPr lang="en-US" sz="2400" dirty="0" smtClean="0">
                <a:solidFill>
                  <a:schemeClr val="accent6">
                    <a:lumMod val="75000"/>
                  </a:schemeClr>
                </a:solidFill>
              </a:rPr>
              <a:t>A query is a statement requesting the retrieval of information. The portion of a DML that involves information retrieval is called a query language.</a:t>
            </a: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5592763"/>
          </a:xfrm>
        </p:spPr>
        <p:txBody>
          <a:bodyPr>
            <a:normAutofit/>
          </a:bodyPr>
          <a:lstStyle/>
          <a:p>
            <a:pPr>
              <a:buNone/>
            </a:pPr>
            <a:r>
              <a:rPr lang="en-US" sz="2400" dirty="0" smtClean="0"/>
              <a:t>1. INSERT : </a:t>
            </a:r>
          </a:p>
          <a:p>
            <a:r>
              <a:rPr lang="en-US" sz="2400" dirty="0" smtClean="0"/>
              <a:t>The INSERT command is used insert the data into a table or create a new row in table. </a:t>
            </a:r>
          </a:p>
          <a:p>
            <a:pPr>
              <a:buNone/>
            </a:pPr>
            <a:endParaRPr lang="en-US" sz="2400" dirty="0" smtClean="0"/>
          </a:p>
          <a:p>
            <a:r>
              <a:rPr lang="en-US" sz="2400" dirty="0" smtClean="0"/>
              <a:t>To insert user data into tables, ”INSERT INTO ...” SQL statement is used. and stores the inserted values into respective columns. </a:t>
            </a:r>
          </a:p>
          <a:p>
            <a:endParaRPr lang="en-US" sz="2400" dirty="0" smtClean="0"/>
          </a:p>
          <a:p>
            <a:r>
              <a:rPr lang="en-US" sz="2400" dirty="0" smtClean="0"/>
              <a:t>Syntax : insert into </a:t>
            </a:r>
            <a:r>
              <a:rPr lang="en-US" sz="2400" dirty="0" err="1" smtClean="0"/>
              <a:t>tablename</a:t>
            </a:r>
            <a:r>
              <a:rPr lang="en-US" sz="2400" dirty="0" smtClean="0"/>
              <a:t> (column1, column2, </a:t>
            </a:r>
            <a:r>
              <a:rPr lang="en-US" sz="2400" dirty="0" err="1" smtClean="0"/>
              <a:t>columnN</a:t>
            </a:r>
            <a:r>
              <a:rPr lang="en-US" sz="2400" dirty="0" smtClean="0"/>
              <a:t>) Values (expression1, expression2, ... , </a:t>
            </a:r>
            <a:r>
              <a:rPr lang="en-US" sz="2400" dirty="0" err="1" smtClean="0"/>
              <a:t>expressionN</a:t>
            </a:r>
            <a:r>
              <a:rPr lang="en-US" sz="2400" dirty="0" smtClean="0"/>
              <a:t>);</a:t>
            </a:r>
            <a:endParaRPr lang="en-US" sz="2400" dirty="0"/>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762000"/>
            <a:ext cx="8229600" cy="5364163"/>
          </a:xfrm>
        </p:spPr>
        <p:txBody>
          <a:bodyPr>
            <a:normAutofit lnSpcReduction="10000"/>
          </a:bodyPr>
          <a:lstStyle/>
          <a:p>
            <a:pPr>
              <a:buNone/>
            </a:pPr>
            <a:r>
              <a:rPr lang="en-US" sz="2400" dirty="0" smtClean="0"/>
              <a:t>2. SELECT : </a:t>
            </a:r>
          </a:p>
          <a:p>
            <a:r>
              <a:rPr lang="en-US" sz="2400" dirty="0" smtClean="0"/>
              <a:t>The SELECT command is used to retrieve selected rows from one or more tables and displays on the screen. It is most widely used and required statement among all others in SQL.</a:t>
            </a:r>
          </a:p>
          <a:p>
            <a:pPr>
              <a:buNone/>
            </a:pPr>
            <a:r>
              <a:rPr lang="en-US" sz="2400" dirty="0" smtClean="0"/>
              <a:t> </a:t>
            </a:r>
          </a:p>
          <a:p>
            <a:r>
              <a:rPr lang="en-US" sz="2400" dirty="0" smtClean="0"/>
              <a:t>Once a table is loaded with user data, these data can be retrieved in number of different manners.</a:t>
            </a:r>
          </a:p>
          <a:p>
            <a:endParaRPr lang="en-US" sz="2400" dirty="0" smtClean="0"/>
          </a:p>
          <a:p>
            <a:r>
              <a:rPr lang="en-US" sz="2400" dirty="0" smtClean="0"/>
              <a:t>Here, an asterisk (’ * ’) is used as the meta character, and it indicates all the columns of a given table. </a:t>
            </a:r>
          </a:p>
          <a:p>
            <a:pPr lvl="1"/>
            <a:endParaRPr lang="en-US" sz="2000" dirty="0" smtClean="0"/>
          </a:p>
          <a:p>
            <a:r>
              <a:rPr lang="en-US" sz="2400" dirty="0" smtClean="0"/>
              <a:t>This statement retrieves all the columns and all the rows of the table. Syntax : select * from </a:t>
            </a:r>
            <a:r>
              <a:rPr lang="en-US" sz="2400" dirty="0" err="1" smtClean="0"/>
              <a:t>tablename</a:t>
            </a:r>
            <a:r>
              <a:rPr lang="en-US" sz="2400" dirty="0" smtClean="0"/>
              <a:t>;</a:t>
            </a:r>
            <a:endParaRPr lang="en-US" sz="2400" dirty="0"/>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14400"/>
            <a:ext cx="8229600" cy="5211763"/>
          </a:xfrm>
        </p:spPr>
        <p:txBody>
          <a:bodyPr>
            <a:normAutofit fontScale="92500"/>
          </a:bodyPr>
          <a:lstStyle/>
          <a:p>
            <a:pPr>
              <a:buNone/>
            </a:pPr>
            <a:r>
              <a:rPr lang="en-US" dirty="0" smtClean="0"/>
              <a:t>There are three ways of table data filtering as given below:</a:t>
            </a:r>
          </a:p>
          <a:p>
            <a:pPr>
              <a:buNone/>
            </a:pPr>
            <a:r>
              <a:rPr lang="en-US" dirty="0" smtClean="0"/>
              <a:t> (A) Selected columns, All Rows </a:t>
            </a:r>
          </a:p>
          <a:p>
            <a:pPr>
              <a:buNone/>
            </a:pPr>
            <a:r>
              <a:rPr lang="en-US" dirty="0" smtClean="0"/>
              <a:t>(B) Selected Rows, All Columns </a:t>
            </a:r>
          </a:p>
          <a:p>
            <a:pPr>
              <a:buNone/>
            </a:pPr>
            <a:r>
              <a:rPr lang="en-US" dirty="0" smtClean="0"/>
              <a:t>(C) Selected columns, Selected Rows </a:t>
            </a:r>
          </a:p>
          <a:p>
            <a:pPr>
              <a:buNone/>
            </a:pPr>
            <a:endParaRPr lang="en-US" dirty="0" smtClean="0"/>
          </a:p>
          <a:p>
            <a:pPr>
              <a:buNone/>
            </a:pPr>
            <a:r>
              <a:rPr lang="en-US" dirty="0" smtClean="0"/>
              <a:t>A. SELECTED COLUMNS, ALL ROWS </a:t>
            </a:r>
          </a:p>
          <a:p>
            <a:pPr>
              <a:buNone/>
            </a:pPr>
            <a:r>
              <a:rPr lang="en-US" dirty="0" smtClean="0"/>
              <a:t>This Statement retrieves only selected columns as specified with SELECT clause. This Statement retrieves all the row of the table. </a:t>
            </a:r>
          </a:p>
          <a:p>
            <a:pPr>
              <a:buNone/>
            </a:pPr>
            <a:endParaRPr lang="en-US" dirty="0" smtClean="0"/>
          </a:p>
          <a:p>
            <a:pPr>
              <a:buNone/>
            </a:pPr>
            <a:r>
              <a:rPr lang="en-US" dirty="0" smtClean="0"/>
              <a:t>Syntax : select column1, column2, ..., </a:t>
            </a:r>
            <a:r>
              <a:rPr lang="en-US" dirty="0" err="1" smtClean="0"/>
              <a:t>columnN</a:t>
            </a:r>
            <a:r>
              <a:rPr lang="en-US" dirty="0" smtClean="0"/>
              <a:t> from </a:t>
            </a:r>
            <a:r>
              <a:rPr lang="en-US" dirty="0" err="1" smtClean="0"/>
              <a:t>tablename</a:t>
            </a:r>
            <a:r>
              <a:rPr lang="en-US" dirty="0" smtClean="0"/>
              <a:t>;</a:t>
            </a:r>
            <a:endParaRPr lang="en-US" dirty="0"/>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90600"/>
            <a:ext cx="8229600" cy="5135563"/>
          </a:xfrm>
        </p:spPr>
        <p:txBody>
          <a:bodyPr>
            <a:normAutofit/>
          </a:bodyPr>
          <a:lstStyle/>
          <a:p>
            <a:pPr>
              <a:buNone/>
            </a:pPr>
            <a:r>
              <a:rPr lang="en-US" sz="2400" dirty="0" smtClean="0"/>
              <a:t>B. SELECTED ROWS, ALL COLUMNS </a:t>
            </a:r>
          </a:p>
          <a:p>
            <a:pPr>
              <a:buFont typeface="Wingdings" pitchFamily="2" charset="2"/>
              <a:buChar char="Ø"/>
            </a:pPr>
            <a:r>
              <a:rPr lang="en-US" sz="2400" dirty="0" smtClean="0"/>
              <a:t>This Statement retrieves all the columns of the table. </a:t>
            </a:r>
          </a:p>
          <a:p>
            <a:pPr>
              <a:buFont typeface="Wingdings" pitchFamily="2" charset="2"/>
              <a:buChar char="Ø"/>
            </a:pPr>
            <a:endParaRPr lang="en-US" sz="2400" dirty="0" smtClean="0"/>
          </a:p>
          <a:p>
            <a:pPr>
              <a:buFont typeface="Wingdings" pitchFamily="2" charset="2"/>
              <a:buChar char="Ø"/>
            </a:pPr>
            <a:r>
              <a:rPr lang="en-US" sz="2400" dirty="0" smtClean="0"/>
              <a:t>This statement retrieves only specific rows that specify the condition given with WHERE clause. </a:t>
            </a:r>
          </a:p>
          <a:p>
            <a:pPr>
              <a:buFont typeface="Wingdings" pitchFamily="2" charset="2"/>
              <a:buChar char="Ø"/>
            </a:pPr>
            <a:endParaRPr lang="en-US" sz="2400" dirty="0" smtClean="0"/>
          </a:p>
          <a:p>
            <a:pPr>
              <a:buFont typeface="Wingdings" pitchFamily="2" charset="2"/>
              <a:buChar char="Ø"/>
            </a:pPr>
            <a:r>
              <a:rPr lang="en-US" sz="2400" dirty="0" smtClean="0"/>
              <a:t>Multiple conditions can be combined with logical operators such as AND </a:t>
            </a:r>
            <a:r>
              <a:rPr lang="en-US" sz="2400" dirty="0" err="1" smtClean="0"/>
              <a:t>and</a:t>
            </a:r>
            <a:r>
              <a:rPr lang="en-US" sz="2400" dirty="0" smtClean="0"/>
              <a:t> OR. </a:t>
            </a:r>
          </a:p>
          <a:p>
            <a:pPr>
              <a:buFont typeface="Wingdings" pitchFamily="2" charset="2"/>
              <a:buChar char="Ø"/>
            </a:pPr>
            <a:endParaRPr lang="en-US" sz="2400" dirty="0" smtClean="0"/>
          </a:p>
          <a:p>
            <a:pPr>
              <a:buNone/>
            </a:pPr>
            <a:r>
              <a:rPr lang="en-US" sz="2400" dirty="0" smtClean="0"/>
              <a:t>	Syntax : select * from </a:t>
            </a:r>
            <a:r>
              <a:rPr lang="en-US" sz="2400" dirty="0" err="1" smtClean="0"/>
              <a:t>tablename</a:t>
            </a:r>
            <a:r>
              <a:rPr lang="en-US" sz="2400" dirty="0" smtClean="0"/>
              <a:t> WHERE condition;</a:t>
            </a:r>
            <a:endParaRPr lang="en-US" sz="2400" dirty="0"/>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838200"/>
            <a:ext cx="8229600" cy="5287963"/>
          </a:xfrm>
        </p:spPr>
        <p:txBody>
          <a:bodyPr/>
          <a:lstStyle/>
          <a:p>
            <a:pPr>
              <a:buNone/>
            </a:pPr>
            <a:r>
              <a:rPr lang="en-US" dirty="0" smtClean="0"/>
              <a:t>C. SELECTED ROWS, SELECTED COLUMNS </a:t>
            </a:r>
          </a:p>
          <a:p>
            <a:endParaRPr lang="en-US" dirty="0" smtClean="0"/>
          </a:p>
          <a:p>
            <a:pPr>
              <a:buFont typeface="Wingdings" pitchFamily="2" charset="2"/>
              <a:buChar char="Ø"/>
            </a:pPr>
            <a:r>
              <a:rPr lang="en-US" sz="2400" dirty="0" smtClean="0"/>
              <a:t>This Statement retrieves only Selected columns as specified with SELECT clause. </a:t>
            </a:r>
          </a:p>
          <a:p>
            <a:pPr>
              <a:buFont typeface="Wingdings" pitchFamily="2" charset="2"/>
              <a:buChar char="Ø"/>
            </a:pPr>
            <a:r>
              <a:rPr lang="en-US" sz="2400" dirty="0" smtClean="0"/>
              <a:t>Also, retrieves only specific rows that specify the condition given with WHERE clause. </a:t>
            </a:r>
          </a:p>
          <a:p>
            <a:pPr>
              <a:buNone/>
            </a:pPr>
            <a:r>
              <a:rPr lang="en-US" sz="2400" dirty="0" smtClean="0"/>
              <a:t>	</a:t>
            </a:r>
          </a:p>
          <a:p>
            <a:pPr>
              <a:buNone/>
            </a:pPr>
            <a:r>
              <a:rPr lang="en-US" sz="2400" dirty="0" smtClean="0"/>
              <a:t>Syntax : select column1, column2, ..., </a:t>
            </a:r>
            <a:r>
              <a:rPr lang="en-US" sz="2400" dirty="0" err="1" smtClean="0"/>
              <a:t>columnN</a:t>
            </a:r>
            <a:r>
              <a:rPr lang="en-US" sz="2400" dirty="0" smtClean="0"/>
              <a:t> from </a:t>
            </a:r>
            <a:r>
              <a:rPr lang="en-US" sz="2400" dirty="0" err="1" smtClean="0"/>
              <a:t>tablename</a:t>
            </a:r>
            <a:r>
              <a:rPr lang="en-US" sz="2400" dirty="0" smtClean="0"/>
              <a:t> WHERE condition;</a:t>
            </a:r>
            <a:endParaRPr lang="en-US" sz="2400" dirty="0"/>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6400800"/>
          </a:xfrm>
        </p:spPr>
        <p:txBody>
          <a:bodyPr>
            <a:noAutofit/>
          </a:bodyPr>
          <a:lstStyle/>
          <a:p>
            <a:pPr>
              <a:buNone/>
            </a:pPr>
            <a:r>
              <a:rPr lang="en-US" sz="2000" b="1" dirty="0" smtClean="0"/>
              <a:t>3. UPDATE :</a:t>
            </a:r>
          </a:p>
          <a:p>
            <a:pPr>
              <a:buNone/>
            </a:pPr>
            <a:r>
              <a:rPr lang="en-US" sz="2000" b="1" dirty="0" smtClean="0"/>
              <a:t> </a:t>
            </a:r>
          </a:p>
          <a:p>
            <a:pPr>
              <a:buNone/>
            </a:pPr>
            <a:r>
              <a:rPr lang="en-US" sz="2000" dirty="0" smtClean="0"/>
              <a:t>• The UPDATE command can be used to change or modify the data values in a table. </a:t>
            </a:r>
          </a:p>
          <a:p>
            <a:pPr>
              <a:buNone/>
            </a:pPr>
            <a:r>
              <a:rPr lang="en-US" sz="2000" dirty="0" smtClean="0"/>
              <a:t>• It can be used to update either all rows or a set of rows from a table. </a:t>
            </a:r>
          </a:p>
          <a:p>
            <a:pPr>
              <a:buNone/>
            </a:pPr>
            <a:r>
              <a:rPr lang="en-US" sz="2000" dirty="0" smtClean="0"/>
              <a:t>• The SET clause specifies which column data to modify. </a:t>
            </a:r>
          </a:p>
          <a:p>
            <a:pPr>
              <a:buNone/>
            </a:pPr>
            <a:r>
              <a:rPr lang="en-US" sz="2000" dirty="0" smtClean="0"/>
              <a:t>• An expression can be a constant value, a variable, or some expression and it specifies the new value for related columns. </a:t>
            </a:r>
          </a:p>
          <a:p>
            <a:pPr>
              <a:buNone/>
            </a:pPr>
            <a:r>
              <a:rPr lang="en-US" sz="2000" dirty="0" smtClean="0"/>
              <a:t>• You can update specific rows by the WHERE clause, and displays message regarding how many rows have been updated. </a:t>
            </a:r>
          </a:p>
          <a:p>
            <a:pPr>
              <a:buNone/>
            </a:pPr>
            <a:endParaRPr lang="en-US" sz="2000" dirty="0" smtClean="0"/>
          </a:p>
          <a:p>
            <a:pPr>
              <a:buNone/>
            </a:pPr>
            <a:r>
              <a:rPr lang="en-US" sz="2000" dirty="0" smtClean="0"/>
              <a:t>Syntax : </a:t>
            </a:r>
          </a:p>
          <a:p>
            <a:pPr>
              <a:buNone/>
            </a:pPr>
            <a:r>
              <a:rPr lang="en-US" sz="2000" b="1" dirty="0" smtClean="0"/>
              <a:t>update </a:t>
            </a:r>
            <a:r>
              <a:rPr lang="en-US" sz="2000" b="1" dirty="0" err="1" smtClean="0"/>
              <a:t>tablename</a:t>
            </a:r>
            <a:r>
              <a:rPr lang="en-US" sz="2000" b="1" dirty="0" smtClean="0"/>
              <a:t> </a:t>
            </a:r>
          </a:p>
          <a:p>
            <a:pPr>
              <a:buNone/>
            </a:pPr>
            <a:r>
              <a:rPr lang="en-US" sz="2000" b="1" dirty="0" smtClean="0"/>
              <a:t>	set column1=expression1,</a:t>
            </a:r>
          </a:p>
          <a:p>
            <a:pPr>
              <a:buNone/>
            </a:pPr>
            <a:r>
              <a:rPr lang="en-US" sz="2000" b="1" dirty="0" smtClean="0"/>
              <a:t>	       column2=expression2 	where condition;</a:t>
            </a:r>
            <a:endParaRPr lang="en-US" sz="2000" b="1" dirty="0"/>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515112"/>
          </a:xfrm>
        </p:spPr>
        <p:txBody>
          <a:bodyPr>
            <a:normAutofit fontScale="90000"/>
          </a:bodyPr>
          <a:lstStyle/>
          <a:p>
            <a:r>
              <a:rPr lang="en-US" sz="3200" dirty="0" smtClean="0"/>
              <a:t>Example</a:t>
            </a:r>
            <a:endParaRPr lang="en-US" sz="3200" dirty="0"/>
          </a:p>
        </p:txBody>
      </p:sp>
      <p:sp>
        <p:nvSpPr>
          <p:cNvPr id="5" name="Content Placeholder 4"/>
          <p:cNvSpPr>
            <a:spLocks noGrp="1"/>
          </p:cNvSpPr>
          <p:nvPr>
            <p:ph idx="1"/>
          </p:nvPr>
        </p:nvSpPr>
        <p:spPr>
          <a:xfrm>
            <a:off x="457200" y="1600200"/>
            <a:ext cx="8229600" cy="4724400"/>
          </a:xfrm>
        </p:spPr>
        <p:txBody>
          <a:bodyPr/>
          <a:lstStyle/>
          <a:p>
            <a:r>
              <a:rPr lang="en-US" dirty="0" smtClean="0"/>
              <a:t>Table: Student</a:t>
            </a:r>
          </a:p>
          <a:p>
            <a:endParaRPr lang="en-US" dirty="0" smtClean="0"/>
          </a:p>
          <a:p>
            <a:endParaRPr lang="en-US" dirty="0" smtClean="0"/>
          </a:p>
          <a:p>
            <a:endParaRPr lang="en-US" dirty="0" smtClean="0"/>
          </a:p>
          <a:p>
            <a:r>
              <a:rPr lang="en-US" dirty="0" smtClean="0"/>
              <a:t>Increase </a:t>
            </a:r>
            <a:r>
              <a:rPr lang="en-US" dirty="0" err="1" smtClean="0"/>
              <a:t>Rahul's</a:t>
            </a:r>
            <a:r>
              <a:rPr lang="en-US" dirty="0" smtClean="0"/>
              <a:t> marks from 78 to 82.</a:t>
            </a:r>
          </a:p>
          <a:p>
            <a:r>
              <a:rPr lang="en-US" dirty="0" smtClean="0"/>
              <a:t>Change </a:t>
            </a:r>
            <a:r>
              <a:rPr lang="en-US" dirty="0" err="1" smtClean="0"/>
              <a:t>Priya's</a:t>
            </a:r>
            <a:r>
              <a:rPr lang="en-US" dirty="0" smtClean="0"/>
              <a:t> branch to CSE and marks to 90.</a:t>
            </a:r>
          </a:p>
          <a:p>
            <a:r>
              <a:rPr lang="en-US" dirty="0" smtClean="0"/>
              <a:t>Increase everyone's marks to 100.</a:t>
            </a:r>
          </a:p>
          <a:p>
            <a:endParaRPr lang="en-US" dirty="0"/>
          </a:p>
        </p:txBody>
      </p:sp>
      <p:graphicFrame>
        <p:nvGraphicFramePr>
          <p:cNvPr id="6" name="Table 5"/>
          <p:cNvGraphicFramePr>
            <a:graphicFrameLocks noGrp="1"/>
          </p:cNvGraphicFramePr>
          <p:nvPr/>
        </p:nvGraphicFramePr>
        <p:xfrm>
          <a:off x="1295400" y="2057400"/>
          <a:ext cx="6096000" cy="1483360"/>
        </p:xfrm>
        <a:graphic>
          <a:graphicData uri="http://schemas.openxmlformats.org/drawingml/2006/table">
            <a:tbl>
              <a:tblPr firstRow="1" bandRow="1">
                <a:tableStyleId>{5C22544A-7EE6-4342-B048-85BDC9FD1C3A}</a:tableStyleId>
              </a:tblPr>
              <a:tblGrid>
                <a:gridCol w="1524000"/>
                <a:gridCol w="1524000"/>
                <a:gridCol w="1524000"/>
                <a:gridCol w="1524000"/>
              </a:tblGrid>
              <a:tr h="370840">
                <a:tc>
                  <a:txBody>
                    <a:bodyPr/>
                    <a:lstStyle/>
                    <a:p>
                      <a:r>
                        <a:rPr lang="en-US" dirty="0" err="1"/>
                        <a:t>StudentID</a:t>
                      </a:r>
                      <a:endParaRPr lang="en-US" dirty="0"/>
                    </a:p>
                  </a:txBody>
                  <a:tcPr anchor="ctr"/>
                </a:tc>
                <a:tc>
                  <a:txBody>
                    <a:bodyPr/>
                    <a:lstStyle/>
                    <a:p>
                      <a:r>
                        <a:rPr lang="en-US" dirty="0"/>
                        <a:t>Name</a:t>
                      </a:r>
                    </a:p>
                  </a:txBody>
                  <a:tcPr anchor="ctr"/>
                </a:tc>
                <a:tc>
                  <a:txBody>
                    <a:bodyPr/>
                    <a:lstStyle/>
                    <a:p>
                      <a:r>
                        <a:rPr lang="en-US"/>
                        <a:t>Branch</a:t>
                      </a:r>
                    </a:p>
                  </a:txBody>
                  <a:tcPr anchor="ctr"/>
                </a:tc>
                <a:tc>
                  <a:txBody>
                    <a:bodyPr/>
                    <a:lstStyle/>
                    <a:p>
                      <a:r>
                        <a:rPr lang="en-US"/>
                        <a:t>Marks</a:t>
                      </a:r>
                    </a:p>
                  </a:txBody>
                  <a:tcPr anchor="ctr"/>
                </a:tc>
              </a:tr>
              <a:tr h="370840">
                <a:tc>
                  <a:txBody>
                    <a:bodyPr/>
                    <a:lstStyle/>
                    <a:p>
                      <a:r>
                        <a:rPr lang="en-US" dirty="0"/>
                        <a:t>101</a:t>
                      </a:r>
                    </a:p>
                  </a:txBody>
                  <a:tcPr anchor="ctr"/>
                </a:tc>
                <a:tc>
                  <a:txBody>
                    <a:bodyPr/>
                    <a:lstStyle/>
                    <a:p>
                      <a:r>
                        <a:rPr lang="en-US"/>
                        <a:t>Rahul</a:t>
                      </a:r>
                    </a:p>
                  </a:txBody>
                  <a:tcPr anchor="ctr"/>
                </a:tc>
                <a:tc>
                  <a:txBody>
                    <a:bodyPr/>
                    <a:lstStyle/>
                    <a:p>
                      <a:r>
                        <a:rPr lang="en-US"/>
                        <a:t>CSE</a:t>
                      </a:r>
                    </a:p>
                  </a:txBody>
                  <a:tcPr anchor="ctr"/>
                </a:tc>
                <a:tc>
                  <a:txBody>
                    <a:bodyPr/>
                    <a:lstStyle/>
                    <a:p>
                      <a:r>
                        <a:rPr lang="en-US"/>
                        <a:t>78</a:t>
                      </a:r>
                    </a:p>
                  </a:txBody>
                  <a:tcPr anchor="ctr"/>
                </a:tc>
              </a:tr>
              <a:tr h="370840">
                <a:tc>
                  <a:txBody>
                    <a:bodyPr/>
                    <a:lstStyle/>
                    <a:p>
                      <a:r>
                        <a:rPr lang="en-US"/>
                        <a:t>102</a:t>
                      </a:r>
                    </a:p>
                  </a:txBody>
                  <a:tcPr anchor="ctr"/>
                </a:tc>
                <a:tc>
                  <a:txBody>
                    <a:bodyPr/>
                    <a:lstStyle/>
                    <a:p>
                      <a:r>
                        <a:rPr lang="en-US"/>
                        <a:t>Priya</a:t>
                      </a:r>
                    </a:p>
                  </a:txBody>
                  <a:tcPr anchor="ctr"/>
                </a:tc>
                <a:tc>
                  <a:txBody>
                    <a:bodyPr/>
                    <a:lstStyle/>
                    <a:p>
                      <a:r>
                        <a:rPr lang="en-US"/>
                        <a:t>IT</a:t>
                      </a:r>
                    </a:p>
                  </a:txBody>
                  <a:tcPr anchor="ctr"/>
                </a:tc>
                <a:tc>
                  <a:txBody>
                    <a:bodyPr/>
                    <a:lstStyle/>
                    <a:p>
                      <a:r>
                        <a:rPr lang="en-US"/>
                        <a:t>85</a:t>
                      </a:r>
                    </a:p>
                  </a:txBody>
                  <a:tcPr anchor="ctr"/>
                </a:tc>
              </a:tr>
              <a:tr h="370840">
                <a:tc>
                  <a:txBody>
                    <a:bodyPr/>
                    <a:lstStyle/>
                    <a:p>
                      <a:r>
                        <a:rPr lang="en-US" dirty="0"/>
                        <a:t>103</a:t>
                      </a:r>
                    </a:p>
                  </a:txBody>
                  <a:tcPr anchor="ctr"/>
                </a:tc>
                <a:tc>
                  <a:txBody>
                    <a:bodyPr/>
                    <a:lstStyle/>
                    <a:p>
                      <a:r>
                        <a:rPr lang="en-US"/>
                        <a:t>Aman</a:t>
                      </a:r>
                    </a:p>
                  </a:txBody>
                  <a:tcPr anchor="ctr"/>
                </a:tc>
                <a:tc>
                  <a:txBody>
                    <a:bodyPr/>
                    <a:lstStyle/>
                    <a:p>
                      <a:r>
                        <a:rPr lang="en-US"/>
                        <a:t>ECE</a:t>
                      </a:r>
                    </a:p>
                  </a:txBody>
                  <a:tcPr anchor="ctr"/>
                </a:tc>
                <a:tc>
                  <a:txBody>
                    <a:bodyPr/>
                    <a:lstStyle/>
                    <a:p>
                      <a:r>
                        <a:rPr lang="en-US" dirty="0"/>
                        <a:t>72</a:t>
                      </a:r>
                    </a:p>
                  </a:txBody>
                  <a:tcPr anchor="ctr"/>
                </a:tc>
              </a:tr>
            </a:tbl>
          </a:graphicData>
        </a:graphic>
      </p:graphicFrame>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896112"/>
          </a:xfrm>
        </p:spPr>
        <p:txBody>
          <a:bodyPr>
            <a:normAutofit/>
          </a:bodyPr>
          <a:lstStyle/>
          <a:p>
            <a:r>
              <a:rPr lang="en-US" sz="3200" dirty="0" smtClean="0"/>
              <a:t>Answers</a:t>
            </a:r>
            <a:endParaRPr lang="en-US" sz="3200" dirty="0"/>
          </a:p>
        </p:txBody>
      </p:sp>
      <p:sp>
        <p:nvSpPr>
          <p:cNvPr id="3" name="Content Placeholder 2"/>
          <p:cNvSpPr>
            <a:spLocks noGrp="1"/>
          </p:cNvSpPr>
          <p:nvPr>
            <p:ph idx="1"/>
          </p:nvPr>
        </p:nvSpPr>
        <p:spPr/>
        <p:txBody>
          <a:bodyPr/>
          <a:lstStyle/>
          <a:p>
            <a:r>
              <a:rPr lang="en-US" dirty="0" smtClean="0"/>
              <a:t>UPDATE Student SET Marks = 82 WHERE </a:t>
            </a:r>
            <a:r>
              <a:rPr lang="en-US" dirty="0" err="1" smtClean="0"/>
              <a:t>StudentID</a:t>
            </a:r>
            <a:r>
              <a:rPr lang="en-US" dirty="0" smtClean="0"/>
              <a:t> = 101;</a:t>
            </a:r>
          </a:p>
          <a:p>
            <a:r>
              <a:rPr lang="en-US" dirty="0" smtClean="0"/>
              <a:t>UPDATE Student SET Branch = 'CSE', Marks = 90 WHERE </a:t>
            </a:r>
            <a:r>
              <a:rPr lang="en-US" dirty="0" err="1" smtClean="0"/>
              <a:t>StudentID</a:t>
            </a:r>
            <a:r>
              <a:rPr lang="en-US" dirty="0" smtClean="0"/>
              <a:t> = 102;</a:t>
            </a:r>
          </a:p>
          <a:p>
            <a:r>
              <a:rPr lang="en-US" dirty="0" smtClean="0"/>
              <a:t>UPDATE Student SET Marks = 100;</a:t>
            </a:r>
          </a:p>
          <a:p>
            <a:r>
              <a:rPr lang="en-US" dirty="0" smtClean="0"/>
              <a:t>UPDATE Student SET Marks = Marks + 5;</a:t>
            </a:r>
            <a:endParaRPr lang="en-US" dirty="0"/>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85800"/>
            <a:ext cx="8229600" cy="5440363"/>
          </a:xfrm>
        </p:spPr>
        <p:txBody>
          <a:bodyPr>
            <a:normAutofit/>
          </a:bodyPr>
          <a:lstStyle/>
          <a:p>
            <a:pPr>
              <a:buNone/>
            </a:pPr>
            <a:r>
              <a:rPr lang="en-US" sz="2000" b="1" dirty="0" smtClean="0"/>
              <a:t>4. DELETE : </a:t>
            </a:r>
          </a:p>
          <a:p>
            <a:pPr>
              <a:buNone/>
            </a:pPr>
            <a:endParaRPr lang="en-US" sz="2000" dirty="0" smtClean="0"/>
          </a:p>
          <a:p>
            <a:r>
              <a:rPr lang="en-US" sz="2000" dirty="0" smtClean="0"/>
              <a:t>The DELETE command can be used to remove either all rows of a table, or a set of rows from a table. </a:t>
            </a:r>
          </a:p>
          <a:p>
            <a:r>
              <a:rPr lang="en-US" sz="2000" dirty="0" smtClean="0"/>
              <a:t>The DELETE command deletes rows from the table that satisfy the condition provided by WHERE clause. It also displays message regarding how many rows have been deleted. </a:t>
            </a:r>
          </a:p>
          <a:p>
            <a:endParaRPr lang="en-US" sz="2000" dirty="0" smtClean="0"/>
          </a:p>
          <a:p>
            <a:r>
              <a:rPr lang="en-US" sz="2000" dirty="0" smtClean="0"/>
              <a:t>Syntax :</a:t>
            </a:r>
            <a:endParaRPr lang="en-US" sz="2000" b="1" dirty="0" smtClean="0"/>
          </a:p>
          <a:p>
            <a:pPr lvl="1"/>
            <a:r>
              <a:rPr lang="en-US" sz="2000" b="1" dirty="0" smtClean="0"/>
              <a:t>DELETE FROM </a:t>
            </a:r>
            <a:r>
              <a:rPr lang="en-US" sz="2000" b="1" dirty="0" err="1" smtClean="0"/>
              <a:t>table_name</a:t>
            </a:r>
            <a:r>
              <a:rPr lang="en-US" sz="2000" b="1" dirty="0" smtClean="0"/>
              <a:t> WHERE condition;</a:t>
            </a:r>
            <a:endParaRPr lang="en-US" sz="2000" b="1" dirty="0"/>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r>
              <a:rPr lang="en-US" dirty="0" smtClean="0"/>
              <a:t>Example</a:t>
            </a:r>
            <a:endParaRPr lang="en-US" dirty="0"/>
          </a:p>
        </p:txBody>
      </p:sp>
      <p:sp>
        <p:nvSpPr>
          <p:cNvPr id="3" name="Content Placeholder 2"/>
          <p:cNvSpPr>
            <a:spLocks noGrp="1"/>
          </p:cNvSpPr>
          <p:nvPr>
            <p:ph idx="1"/>
          </p:nvPr>
        </p:nvSpPr>
        <p:spPr>
          <a:xfrm>
            <a:off x="457200" y="990600"/>
            <a:ext cx="8229600" cy="5135563"/>
          </a:xfrm>
        </p:spPr>
        <p:txBody>
          <a:bodyPr/>
          <a:lstStyle/>
          <a:p>
            <a:r>
              <a:rPr lang="en-US" dirty="0" smtClean="0"/>
              <a:t>Table: Student</a:t>
            </a:r>
          </a:p>
          <a:p>
            <a:pPr>
              <a:buNone/>
            </a:pPr>
            <a:endParaRPr lang="en-US" dirty="0" smtClean="0"/>
          </a:p>
          <a:p>
            <a:endParaRPr lang="en-US" dirty="0" smtClean="0"/>
          </a:p>
          <a:p>
            <a:endParaRPr lang="en-US" dirty="0" smtClean="0"/>
          </a:p>
          <a:p>
            <a:endParaRPr lang="en-US" dirty="0" smtClean="0"/>
          </a:p>
          <a:p>
            <a:endParaRPr lang="en-US" dirty="0" smtClean="0"/>
          </a:p>
          <a:p>
            <a:r>
              <a:rPr lang="en-US" dirty="0" smtClean="0"/>
              <a:t>Delete the student whose </a:t>
            </a:r>
            <a:r>
              <a:rPr lang="en-US" dirty="0" err="1" smtClean="0"/>
              <a:t>StudentID</a:t>
            </a:r>
            <a:r>
              <a:rPr lang="en-US" dirty="0" smtClean="0"/>
              <a:t> is 103.</a:t>
            </a:r>
          </a:p>
          <a:p>
            <a:r>
              <a:rPr lang="en-US" dirty="0" smtClean="0"/>
              <a:t>Delete all students from the CSE branch.</a:t>
            </a:r>
            <a:endParaRPr lang="en-US" dirty="0"/>
          </a:p>
        </p:txBody>
      </p:sp>
      <p:graphicFrame>
        <p:nvGraphicFramePr>
          <p:cNvPr id="4" name="Table 3"/>
          <p:cNvGraphicFramePr>
            <a:graphicFrameLocks noGrp="1"/>
          </p:cNvGraphicFramePr>
          <p:nvPr/>
        </p:nvGraphicFramePr>
        <p:xfrm>
          <a:off x="990600" y="1600200"/>
          <a:ext cx="5943600" cy="1854200"/>
        </p:xfrm>
        <a:graphic>
          <a:graphicData uri="http://schemas.openxmlformats.org/drawingml/2006/table">
            <a:tbl>
              <a:tblPr firstRow="1" bandRow="1">
                <a:tableStyleId>{5C22544A-7EE6-4342-B048-85BDC9FD1C3A}</a:tableStyleId>
              </a:tblPr>
              <a:tblGrid>
                <a:gridCol w="1485900"/>
                <a:gridCol w="1485900"/>
                <a:gridCol w="1485900"/>
                <a:gridCol w="1485900"/>
              </a:tblGrid>
              <a:tr h="370840">
                <a:tc>
                  <a:txBody>
                    <a:bodyPr/>
                    <a:lstStyle/>
                    <a:p>
                      <a:r>
                        <a:rPr lang="en-US" dirty="0" err="1"/>
                        <a:t>StudentID</a:t>
                      </a:r>
                      <a:endParaRPr lang="en-US" dirty="0"/>
                    </a:p>
                  </a:txBody>
                  <a:tcPr anchor="ctr"/>
                </a:tc>
                <a:tc>
                  <a:txBody>
                    <a:bodyPr/>
                    <a:lstStyle/>
                    <a:p>
                      <a:r>
                        <a:rPr lang="en-US"/>
                        <a:t>Name</a:t>
                      </a:r>
                    </a:p>
                  </a:txBody>
                  <a:tcPr anchor="ctr"/>
                </a:tc>
                <a:tc>
                  <a:txBody>
                    <a:bodyPr/>
                    <a:lstStyle/>
                    <a:p>
                      <a:r>
                        <a:rPr lang="en-US"/>
                        <a:t>Branch</a:t>
                      </a:r>
                    </a:p>
                  </a:txBody>
                  <a:tcPr anchor="ctr"/>
                </a:tc>
                <a:tc>
                  <a:txBody>
                    <a:bodyPr/>
                    <a:lstStyle/>
                    <a:p>
                      <a:r>
                        <a:rPr lang="en-US"/>
                        <a:t>Marks</a:t>
                      </a:r>
                    </a:p>
                  </a:txBody>
                  <a:tcPr anchor="ctr"/>
                </a:tc>
              </a:tr>
              <a:tr h="370840">
                <a:tc>
                  <a:txBody>
                    <a:bodyPr/>
                    <a:lstStyle/>
                    <a:p>
                      <a:r>
                        <a:rPr lang="en-US"/>
                        <a:t>101</a:t>
                      </a:r>
                    </a:p>
                  </a:txBody>
                  <a:tcPr anchor="ctr"/>
                </a:tc>
                <a:tc>
                  <a:txBody>
                    <a:bodyPr/>
                    <a:lstStyle/>
                    <a:p>
                      <a:r>
                        <a:rPr lang="en-US"/>
                        <a:t>Rahul</a:t>
                      </a:r>
                    </a:p>
                  </a:txBody>
                  <a:tcPr anchor="ctr"/>
                </a:tc>
                <a:tc>
                  <a:txBody>
                    <a:bodyPr/>
                    <a:lstStyle/>
                    <a:p>
                      <a:r>
                        <a:rPr lang="en-US"/>
                        <a:t>CSE</a:t>
                      </a:r>
                    </a:p>
                  </a:txBody>
                  <a:tcPr anchor="ctr"/>
                </a:tc>
                <a:tc>
                  <a:txBody>
                    <a:bodyPr/>
                    <a:lstStyle/>
                    <a:p>
                      <a:r>
                        <a:rPr lang="en-US"/>
                        <a:t>82</a:t>
                      </a:r>
                    </a:p>
                  </a:txBody>
                  <a:tcPr anchor="ctr"/>
                </a:tc>
              </a:tr>
              <a:tr h="370840">
                <a:tc>
                  <a:txBody>
                    <a:bodyPr/>
                    <a:lstStyle/>
                    <a:p>
                      <a:r>
                        <a:rPr lang="en-US"/>
                        <a:t>102</a:t>
                      </a:r>
                    </a:p>
                  </a:txBody>
                  <a:tcPr anchor="ctr"/>
                </a:tc>
                <a:tc>
                  <a:txBody>
                    <a:bodyPr/>
                    <a:lstStyle/>
                    <a:p>
                      <a:r>
                        <a:rPr lang="en-US" dirty="0" err="1"/>
                        <a:t>Priya</a:t>
                      </a:r>
                      <a:endParaRPr lang="en-US" dirty="0"/>
                    </a:p>
                  </a:txBody>
                  <a:tcPr anchor="ctr"/>
                </a:tc>
                <a:tc>
                  <a:txBody>
                    <a:bodyPr/>
                    <a:lstStyle/>
                    <a:p>
                      <a:r>
                        <a:rPr lang="en-US" dirty="0"/>
                        <a:t>IT</a:t>
                      </a:r>
                    </a:p>
                  </a:txBody>
                  <a:tcPr anchor="ctr"/>
                </a:tc>
                <a:tc>
                  <a:txBody>
                    <a:bodyPr/>
                    <a:lstStyle/>
                    <a:p>
                      <a:r>
                        <a:rPr lang="en-US"/>
                        <a:t>90</a:t>
                      </a:r>
                    </a:p>
                  </a:txBody>
                  <a:tcPr anchor="ctr"/>
                </a:tc>
              </a:tr>
              <a:tr h="370840">
                <a:tc>
                  <a:txBody>
                    <a:bodyPr/>
                    <a:lstStyle/>
                    <a:p>
                      <a:r>
                        <a:rPr lang="en-US"/>
                        <a:t>103</a:t>
                      </a:r>
                    </a:p>
                  </a:txBody>
                  <a:tcPr anchor="ctr"/>
                </a:tc>
                <a:tc>
                  <a:txBody>
                    <a:bodyPr/>
                    <a:lstStyle/>
                    <a:p>
                      <a:r>
                        <a:rPr lang="en-US"/>
                        <a:t>Aman</a:t>
                      </a:r>
                    </a:p>
                  </a:txBody>
                  <a:tcPr anchor="ctr"/>
                </a:tc>
                <a:tc>
                  <a:txBody>
                    <a:bodyPr/>
                    <a:lstStyle/>
                    <a:p>
                      <a:r>
                        <a:rPr lang="en-US"/>
                        <a:t>ECE</a:t>
                      </a:r>
                    </a:p>
                  </a:txBody>
                  <a:tcPr anchor="ctr"/>
                </a:tc>
                <a:tc>
                  <a:txBody>
                    <a:bodyPr/>
                    <a:lstStyle/>
                    <a:p>
                      <a:r>
                        <a:rPr lang="en-US"/>
                        <a:t>72</a:t>
                      </a:r>
                    </a:p>
                  </a:txBody>
                  <a:tcPr anchor="ctr"/>
                </a:tc>
              </a:tr>
              <a:tr h="370840">
                <a:tc>
                  <a:txBody>
                    <a:bodyPr/>
                    <a:lstStyle/>
                    <a:p>
                      <a:r>
                        <a:rPr lang="en-US"/>
                        <a:t>104</a:t>
                      </a:r>
                    </a:p>
                  </a:txBody>
                  <a:tcPr anchor="ctr"/>
                </a:tc>
                <a:tc>
                  <a:txBody>
                    <a:bodyPr/>
                    <a:lstStyle/>
                    <a:p>
                      <a:r>
                        <a:rPr lang="en-US"/>
                        <a:t>Neha</a:t>
                      </a:r>
                    </a:p>
                  </a:txBody>
                  <a:tcPr anchor="ctr"/>
                </a:tc>
                <a:tc>
                  <a:txBody>
                    <a:bodyPr/>
                    <a:lstStyle/>
                    <a:p>
                      <a:r>
                        <a:rPr lang="en-US"/>
                        <a:t>CSE</a:t>
                      </a:r>
                    </a:p>
                  </a:txBody>
                  <a:tcPr anchor="ctr"/>
                </a:tc>
                <a:tc>
                  <a:txBody>
                    <a:bodyPr/>
                    <a:lstStyle/>
                    <a:p>
                      <a:r>
                        <a:rPr lang="en-US" dirty="0"/>
                        <a:t>65</a:t>
                      </a:r>
                    </a:p>
                  </a:txBody>
                  <a:tcPr anchor="ctr"/>
                </a:tc>
              </a:tr>
            </a:tbl>
          </a:graphicData>
        </a:graphic>
      </p:graphicFrame>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smtClean="0"/>
              <a:t>DELETE FROM Student WHERE </a:t>
            </a:r>
            <a:r>
              <a:rPr lang="en-US" dirty="0" err="1" smtClean="0"/>
              <a:t>StudentID</a:t>
            </a:r>
            <a:r>
              <a:rPr lang="en-US" dirty="0" smtClean="0"/>
              <a:t> = 103;</a:t>
            </a:r>
          </a:p>
          <a:p>
            <a:r>
              <a:rPr lang="en-US" dirty="0" smtClean="0"/>
              <a:t>DELETE FROM Student WHERE Branch = 'CSE';</a:t>
            </a:r>
            <a:endParaRPr lang="en-US" dirty="0"/>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743712"/>
          </a:xfrm>
        </p:spPr>
        <p:txBody>
          <a:bodyPr>
            <a:normAutofit/>
          </a:bodyPr>
          <a:lstStyle/>
          <a:p>
            <a:r>
              <a:rPr lang="en-US" sz="3200" dirty="0" smtClean="0"/>
              <a:t>Difference between Delete, Truncate and Drop</a:t>
            </a:r>
            <a:endParaRPr lang="en-US" sz="3200" dirty="0"/>
          </a:p>
        </p:txBody>
      </p:sp>
      <p:graphicFrame>
        <p:nvGraphicFramePr>
          <p:cNvPr id="4" name="Content Placeholder 3"/>
          <p:cNvGraphicFramePr>
            <a:graphicFrameLocks noGrp="1"/>
          </p:cNvGraphicFramePr>
          <p:nvPr>
            <p:ph idx="1"/>
          </p:nvPr>
        </p:nvGraphicFramePr>
        <p:xfrm>
          <a:off x="457200" y="1935163"/>
          <a:ext cx="8229600" cy="2392680"/>
        </p:xfrm>
        <a:graphic>
          <a:graphicData uri="http://schemas.openxmlformats.org/drawingml/2006/table">
            <a:tbl>
              <a:tblPr firstRow="1" bandRow="1">
                <a:tableStyleId>{5C22544A-7EE6-4342-B048-85BDC9FD1C3A}</a:tableStyleId>
              </a:tblPr>
              <a:tblGrid>
                <a:gridCol w="2057400"/>
                <a:gridCol w="2057400"/>
                <a:gridCol w="2057400"/>
                <a:gridCol w="2057400"/>
              </a:tblGrid>
              <a:tr h="370840">
                <a:tc>
                  <a:txBody>
                    <a:bodyPr/>
                    <a:lstStyle/>
                    <a:p>
                      <a:r>
                        <a:rPr lang="en-US" dirty="0"/>
                        <a:t>Feature</a:t>
                      </a:r>
                    </a:p>
                  </a:txBody>
                  <a:tcPr anchor="ctr"/>
                </a:tc>
                <a:tc>
                  <a:txBody>
                    <a:bodyPr/>
                    <a:lstStyle/>
                    <a:p>
                      <a:r>
                        <a:rPr lang="en-US"/>
                        <a:t>DELETE</a:t>
                      </a:r>
                    </a:p>
                  </a:txBody>
                  <a:tcPr anchor="ctr"/>
                </a:tc>
                <a:tc>
                  <a:txBody>
                    <a:bodyPr/>
                    <a:lstStyle/>
                    <a:p>
                      <a:r>
                        <a:rPr lang="en-US"/>
                        <a:t>TRUNCATE</a:t>
                      </a:r>
                    </a:p>
                  </a:txBody>
                  <a:tcPr anchor="ctr"/>
                </a:tc>
                <a:tc>
                  <a:txBody>
                    <a:bodyPr/>
                    <a:lstStyle/>
                    <a:p>
                      <a:r>
                        <a:rPr lang="en-US"/>
                        <a:t>DROP</a:t>
                      </a:r>
                    </a:p>
                  </a:txBody>
                  <a:tcPr anchor="ctr"/>
                </a:tc>
              </a:tr>
              <a:tr h="370840">
                <a:tc>
                  <a:txBody>
                    <a:bodyPr/>
                    <a:lstStyle/>
                    <a:p>
                      <a:r>
                        <a:rPr lang="en-US"/>
                        <a:t>Removes</a:t>
                      </a:r>
                    </a:p>
                  </a:txBody>
                  <a:tcPr anchor="ctr"/>
                </a:tc>
                <a:tc>
                  <a:txBody>
                    <a:bodyPr/>
                    <a:lstStyle/>
                    <a:p>
                      <a:r>
                        <a:rPr lang="en-US"/>
                        <a:t>Selected rows or all rows</a:t>
                      </a:r>
                    </a:p>
                  </a:txBody>
                  <a:tcPr anchor="ctr"/>
                </a:tc>
                <a:tc>
                  <a:txBody>
                    <a:bodyPr/>
                    <a:lstStyle/>
                    <a:p>
                      <a:r>
                        <a:rPr lang="en-US"/>
                        <a:t>All rows</a:t>
                      </a:r>
                    </a:p>
                  </a:txBody>
                  <a:tcPr anchor="ctr"/>
                </a:tc>
                <a:tc>
                  <a:txBody>
                    <a:bodyPr/>
                    <a:lstStyle/>
                    <a:p>
                      <a:r>
                        <a:rPr lang="en-US"/>
                        <a:t>Entire table</a:t>
                      </a:r>
                    </a:p>
                  </a:txBody>
                  <a:tcPr anchor="ctr"/>
                </a:tc>
              </a:tr>
              <a:tr h="370840">
                <a:tc>
                  <a:txBody>
                    <a:bodyPr/>
                    <a:lstStyle/>
                    <a:p>
                      <a:r>
                        <a:rPr lang="en-US"/>
                        <a:t>WHERE clause</a:t>
                      </a:r>
                    </a:p>
                  </a:txBody>
                  <a:tcPr anchor="ctr"/>
                </a:tc>
                <a:tc>
                  <a:txBody>
                    <a:bodyPr/>
                    <a:lstStyle/>
                    <a:p>
                      <a:r>
                        <a:rPr lang="en-US"/>
                        <a:t>Yes</a:t>
                      </a:r>
                    </a:p>
                  </a:txBody>
                  <a:tcPr anchor="ctr"/>
                </a:tc>
                <a:tc>
                  <a:txBody>
                    <a:bodyPr/>
                    <a:lstStyle/>
                    <a:p>
                      <a:r>
                        <a:rPr lang="en-US"/>
                        <a:t>No</a:t>
                      </a:r>
                    </a:p>
                  </a:txBody>
                  <a:tcPr anchor="ctr"/>
                </a:tc>
                <a:tc>
                  <a:txBody>
                    <a:bodyPr/>
                    <a:lstStyle/>
                    <a:p>
                      <a:r>
                        <a:rPr lang="en-US"/>
                        <a:t>No</a:t>
                      </a:r>
                    </a:p>
                  </a:txBody>
                  <a:tcPr anchor="ctr"/>
                </a:tc>
              </a:tr>
              <a:tr h="370840">
                <a:tc>
                  <a:txBody>
                    <a:bodyPr/>
                    <a:lstStyle/>
                    <a:p>
                      <a:r>
                        <a:rPr lang="en-US"/>
                        <a:t>Table structure remains</a:t>
                      </a:r>
                    </a:p>
                  </a:txBody>
                  <a:tcPr anchor="ctr"/>
                </a:tc>
                <a:tc>
                  <a:txBody>
                    <a:bodyPr/>
                    <a:lstStyle/>
                    <a:p>
                      <a:r>
                        <a:rPr lang="en-US"/>
                        <a:t>Yes</a:t>
                      </a:r>
                    </a:p>
                  </a:txBody>
                  <a:tcPr anchor="ctr"/>
                </a:tc>
                <a:tc>
                  <a:txBody>
                    <a:bodyPr/>
                    <a:lstStyle/>
                    <a:p>
                      <a:r>
                        <a:rPr lang="en-US"/>
                        <a:t>Yes</a:t>
                      </a:r>
                    </a:p>
                  </a:txBody>
                  <a:tcPr anchor="ctr"/>
                </a:tc>
                <a:tc>
                  <a:txBody>
                    <a:bodyPr/>
                    <a:lstStyle/>
                    <a:p>
                      <a:r>
                        <a:rPr lang="en-US"/>
                        <a:t>No</a:t>
                      </a:r>
                    </a:p>
                  </a:txBody>
                  <a:tcPr anchor="ctr"/>
                </a:tc>
              </a:tr>
              <a:tr h="370840">
                <a:tc>
                  <a:txBody>
                    <a:bodyPr/>
                    <a:lstStyle/>
                    <a:p>
                      <a:r>
                        <a:rPr lang="en-US"/>
                        <a:t>DML/DDL</a:t>
                      </a:r>
                    </a:p>
                  </a:txBody>
                  <a:tcPr anchor="ctr"/>
                </a:tc>
                <a:tc>
                  <a:txBody>
                    <a:bodyPr/>
                    <a:lstStyle/>
                    <a:p>
                      <a:r>
                        <a:rPr lang="en-US"/>
                        <a:t>DML</a:t>
                      </a:r>
                    </a:p>
                  </a:txBody>
                  <a:tcPr anchor="ctr"/>
                </a:tc>
                <a:tc>
                  <a:txBody>
                    <a:bodyPr/>
                    <a:lstStyle/>
                    <a:p>
                      <a:r>
                        <a:rPr lang="en-US"/>
                        <a:t>DDL</a:t>
                      </a:r>
                    </a:p>
                  </a:txBody>
                  <a:tcPr anchor="ctr"/>
                </a:tc>
                <a:tc>
                  <a:txBody>
                    <a:bodyPr/>
                    <a:lstStyle/>
                    <a:p>
                      <a:r>
                        <a:rPr lang="en-US" dirty="0"/>
                        <a:t>DDL</a:t>
                      </a:r>
                    </a:p>
                  </a:txBody>
                  <a:tcPr anchor="ctr"/>
                </a:tc>
              </a:tr>
            </a:tbl>
          </a:graphicData>
        </a:graphic>
      </p:graphicFrame>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381000"/>
            <a:ext cx="8229600" cy="990600"/>
          </a:xfrm>
        </p:spPr>
        <p:txBody>
          <a:bodyPr/>
          <a:lstStyle/>
          <a:p>
            <a:r>
              <a:rPr lang="en-US" dirty="0" smtClean="0"/>
              <a:t>Data Control Language (DCL)</a:t>
            </a:r>
            <a:endParaRPr lang="en-US" dirty="0"/>
          </a:p>
        </p:txBody>
      </p:sp>
      <p:sp>
        <p:nvSpPr>
          <p:cNvPr id="3" name="Content Placeholder 2"/>
          <p:cNvSpPr>
            <a:spLocks noGrp="1"/>
          </p:cNvSpPr>
          <p:nvPr>
            <p:ph idx="1"/>
          </p:nvPr>
        </p:nvSpPr>
        <p:spPr>
          <a:xfrm>
            <a:off x="457200" y="1600200"/>
            <a:ext cx="8229600" cy="4876800"/>
          </a:xfrm>
        </p:spPr>
        <p:txBody>
          <a:bodyPr>
            <a:normAutofit/>
          </a:bodyPr>
          <a:lstStyle/>
          <a:p>
            <a:r>
              <a:rPr lang="en-US" dirty="0" smtClean="0"/>
              <a:t>Data Control Language(DCL) is used to control privileges in Database. </a:t>
            </a:r>
          </a:p>
          <a:p>
            <a:r>
              <a:rPr lang="en-US" dirty="0" smtClean="0"/>
              <a:t>To perform any operation in the database, such as for creating tables or views, a user needs privileges. </a:t>
            </a:r>
          </a:p>
          <a:p>
            <a:r>
              <a:rPr lang="en-US" dirty="0" smtClean="0"/>
              <a:t>In DCL, we have following two commands: </a:t>
            </a:r>
          </a:p>
          <a:p>
            <a:pPr lvl="1"/>
            <a:r>
              <a:rPr lang="en-US" dirty="0" smtClean="0"/>
              <a:t>GRANT: It is used to provide any user access privileges or other </a:t>
            </a:r>
            <a:r>
              <a:rPr lang="en-US" dirty="0" err="1" smtClean="0"/>
              <a:t>priviliges</a:t>
            </a:r>
            <a:r>
              <a:rPr lang="en-US" dirty="0" smtClean="0"/>
              <a:t> for the database. </a:t>
            </a:r>
          </a:p>
          <a:p>
            <a:pPr lvl="1"/>
            <a:r>
              <a:rPr lang="en-US" dirty="0" smtClean="0"/>
              <a:t>REVOKE: It is used to take back permissions from any user. </a:t>
            </a:r>
            <a:endParaRPr lang="en-US" dirty="0"/>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743712"/>
          </a:xfrm>
        </p:spPr>
        <p:txBody>
          <a:bodyPr>
            <a:normAutofit fontScale="90000"/>
          </a:bodyPr>
          <a:lstStyle/>
          <a:p>
            <a:r>
              <a:rPr lang="en-US" dirty="0" smtClean="0"/>
              <a:t>Transaction Control Language(TCL)</a:t>
            </a:r>
            <a:endParaRPr lang="en-US" dirty="0"/>
          </a:p>
        </p:txBody>
      </p:sp>
      <p:sp>
        <p:nvSpPr>
          <p:cNvPr id="3" name="Content Placeholder 2"/>
          <p:cNvSpPr>
            <a:spLocks noGrp="1"/>
          </p:cNvSpPr>
          <p:nvPr>
            <p:ph idx="1"/>
          </p:nvPr>
        </p:nvSpPr>
        <p:spPr>
          <a:xfrm>
            <a:off x="457200" y="1600200"/>
            <a:ext cx="8229600" cy="4953000"/>
          </a:xfrm>
        </p:spPr>
        <p:txBody>
          <a:bodyPr>
            <a:normAutofit lnSpcReduction="10000"/>
          </a:bodyPr>
          <a:lstStyle/>
          <a:p>
            <a:r>
              <a:rPr lang="en-US" sz="2200" dirty="0" smtClean="0"/>
              <a:t>Transaction Control Language(TCL) commands are used to manage transactions in the database. </a:t>
            </a:r>
          </a:p>
          <a:p>
            <a:r>
              <a:rPr lang="en-US" sz="2200" dirty="0" smtClean="0"/>
              <a:t>These are used to manage the changes made to the data in a table by DML statements. </a:t>
            </a:r>
          </a:p>
          <a:p>
            <a:r>
              <a:rPr lang="en-US" sz="2200" dirty="0" smtClean="0"/>
              <a:t>In TCL, we have following three commands:</a:t>
            </a:r>
          </a:p>
          <a:p>
            <a:pPr lvl="1"/>
            <a:r>
              <a:rPr lang="en-US" sz="2200" dirty="0" smtClean="0">
                <a:solidFill>
                  <a:srgbClr val="FF0000"/>
                </a:solidFill>
              </a:rPr>
              <a:t>COMMIT Command: </a:t>
            </a:r>
            <a:r>
              <a:rPr lang="en-US" sz="2200" dirty="0" smtClean="0"/>
              <a:t>COMMIT command is used to permanently save any transaction into the database. When we use any DML command like INSERT, UPDATE or DELETE, the changes made by these commands are not permanent, until the current session is closed. The changes made by these commands can be rolled back. To avoid that, we use the COMMIT command to mark the changes as permanent. Following is commit command’s syntax,</a:t>
            </a:r>
          </a:p>
          <a:p>
            <a:pPr lvl="1"/>
            <a:r>
              <a:rPr lang="en-US" sz="2200" dirty="0" smtClean="0"/>
              <a:t> COMMIT;</a:t>
            </a:r>
            <a:endParaRPr lang="en-US" sz="2200" dirty="0"/>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85800"/>
            <a:ext cx="8229600" cy="5440363"/>
          </a:xfrm>
        </p:spPr>
        <p:txBody>
          <a:bodyPr>
            <a:normAutofit/>
          </a:bodyPr>
          <a:lstStyle/>
          <a:p>
            <a:r>
              <a:rPr lang="en-US" sz="2200" dirty="0" smtClean="0">
                <a:solidFill>
                  <a:srgbClr val="FF0000"/>
                </a:solidFill>
              </a:rPr>
              <a:t>ROLLBACK command : </a:t>
            </a:r>
            <a:r>
              <a:rPr lang="en-US" sz="2200" dirty="0" smtClean="0"/>
              <a:t>This command restores the database to last </a:t>
            </a:r>
            <a:r>
              <a:rPr lang="en-US" sz="2200" dirty="0" err="1" smtClean="0"/>
              <a:t>commited</a:t>
            </a:r>
            <a:r>
              <a:rPr lang="en-US" sz="2200" dirty="0" smtClean="0"/>
              <a:t> state. It is also used with SAVEPOINT command to jump to a </a:t>
            </a:r>
            <a:r>
              <a:rPr lang="en-US" sz="2200" dirty="0" err="1" smtClean="0"/>
              <a:t>savepoint</a:t>
            </a:r>
            <a:r>
              <a:rPr lang="en-US" sz="2200" dirty="0" smtClean="0"/>
              <a:t> in an ongoing transaction. </a:t>
            </a:r>
          </a:p>
          <a:p>
            <a:r>
              <a:rPr lang="en-US" sz="2200" dirty="0" smtClean="0"/>
              <a:t>If we have used the UPDATE command to make some changes into the database, and </a:t>
            </a:r>
            <a:r>
              <a:rPr lang="en-US" sz="2200" dirty="0" err="1" smtClean="0"/>
              <a:t>realise</a:t>
            </a:r>
            <a:r>
              <a:rPr lang="en-US" sz="2200" dirty="0" smtClean="0"/>
              <a:t> that those changes were not required, then we can use the ROLLBACK command to rollback those changes, if they were not </a:t>
            </a:r>
            <a:r>
              <a:rPr lang="en-US" sz="2200" dirty="0" err="1" smtClean="0"/>
              <a:t>commited</a:t>
            </a:r>
            <a:r>
              <a:rPr lang="en-US" sz="2200" dirty="0" smtClean="0"/>
              <a:t> using the COMMIT command.</a:t>
            </a:r>
          </a:p>
          <a:p>
            <a:r>
              <a:rPr lang="en-US" sz="2200" dirty="0" smtClean="0"/>
              <a:t>Following is rollback command’s syntax, </a:t>
            </a:r>
          </a:p>
          <a:p>
            <a:pPr lvl="1"/>
            <a:r>
              <a:rPr lang="en-US" sz="1800" b="1" dirty="0" smtClean="0"/>
              <a:t>ROLLBACK TO </a:t>
            </a:r>
            <a:r>
              <a:rPr lang="en-US" sz="1800" b="1" dirty="0" err="1" smtClean="0"/>
              <a:t>savepoint</a:t>
            </a:r>
            <a:r>
              <a:rPr lang="en-US" sz="1800" b="1" dirty="0" smtClean="0"/>
              <a:t> name; </a:t>
            </a:r>
          </a:p>
          <a:p>
            <a:r>
              <a:rPr lang="en-US" sz="2200" dirty="0" smtClean="0">
                <a:solidFill>
                  <a:srgbClr val="FF0000"/>
                </a:solidFill>
              </a:rPr>
              <a:t>SAVEPOINT command: </a:t>
            </a:r>
            <a:r>
              <a:rPr lang="en-US" sz="2200" dirty="0" smtClean="0"/>
              <a:t>SAVEPOINT command is used to temporarily save a transaction so that you can rollback to that point whenever required. </a:t>
            </a:r>
          </a:p>
          <a:p>
            <a:r>
              <a:rPr lang="en-US" sz="2200" dirty="0" smtClean="0"/>
              <a:t>Following is </a:t>
            </a:r>
            <a:r>
              <a:rPr lang="en-US" sz="2200" dirty="0" err="1" smtClean="0"/>
              <a:t>savepoint</a:t>
            </a:r>
            <a:r>
              <a:rPr lang="en-US" sz="2200" dirty="0" smtClean="0"/>
              <a:t> command’s syntax, </a:t>
            </a:r>
          </a:p>
          <a:p>
            <a:pPr lvl="1"/>
            <a:r>
              <a:rPr lang="en-US" sz="1800" b="1" dirty="0" smtClean="0"/>
              <a:t>SAVEPOINT </a:t>
            </a:r>
            <a:r>
              <a:rPr lang="en-US" sz="1800" b="1" dirty="0" err="1" smtClean="0"/>
              <a:t>savepoint</a:t>
            </a:r>
            <a:r>
              <a:rPr lang="en-US" sz="1800" b="1" dirty="0" smtClean="0"/>
              <a:t> name;</a:t>
            </a:r>
            <a:endParaRPr lang="en-US" sz="1800" b="1" dirty="0"/>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819912"/>
          </a:xfrm>
        </p:spPr>
        <p:txBody>
          <a:bodyPr>
            <a:normAutofit/>
          </a:bodyPr>
          <a:lstStyle/>
          <a:p>
            <a:r>
              <a:rPr lang="en-US" sz="3200" dirty="0" smtClean="0"/>
              <a:t>Example</a:t>
            </a:r>
            <a:endParaRPr lang="en-US" sz="3200" dirty="0"/>
          </a:p>
        </p:txBody>
      </p:sp>
      <p:sp>
        <p:nvSpPr>
          <p:cNvPr id="3" name="Content Placeholder 2"/>
          <p:cNvSpPr>
            <a:spLocks noGrp="1"/>
          </p:cNvSpPr>
          <p:nvPr>
            <p:ph idx="1"/>
          </p:nvPr>
        </p:nvSpPr>
        <p:spPr/>
        <p:txBody>
          <a:bodyPr>
            <a:normAutofit fontScale="92500" lnSpcReduction="10000"/>
          </a:bodyPr>
          <a:lstStyle/>
          <a:p>
            <a:r>
              <a:rPr lang="en-US" dirty="0" smtClean="0"/>
              <a:t>The class table contains the attributes id and name.</a:t>
            </a:r>
          </a:p>
          <a:p>
            <a:pPr>
              <a:buNone/>
            </a:pPr>
            <a:r>
              <a:rPr lang="en-US" dirty="0" smtClean="0"/>
              <a:t>Write SQL commands to:</a:t>
            </a:r>
          </a:p>
          <a:p>
            <a:pPr lvl="1"/>
            <a:r>
              <a:rPr lang="en-US" dirty="0" smtClean="0"/>
              <a:t>Insert the record (5, '</a:t>
            </a:r>
            <a:r>
              <a:rPr lang="en-US" dirty="0" err="1" smtClean="0"/>
              <a:t>Rahul</a:t>
            </a:r>
            <a:r>
              <a:rPr lang="en-US" dirty="0" smtClean="0"/>
              <a:t>'). </a:t>
            </a:r>
          </a:p>
          <a:p>
            <a:pPr lvl="1"/>
            <a:r>
              <a:rPr lang="en-US" dirty="0" smtClean="0"/>
              <a:t>Commit the transaction. </a:t>
            </a:r>
          </a:p>
          <a:p>
            <a:pPr lvl="1"/>
            <a:r>
              <a:rPr lang="en-US" dirty="0" smtClean="0"/>
              <a:t>Update </a:t>
            </a:r>
            <a:r>
              <a:rPr lang="en-US" dirty="0" err="1" smtClean="0"/>
              <a:t>Rahul's</a:t>
            </a:r>
            <a:r>
              <a:rPr lang="en-US" dirty="0" smtClean="0"/>
              <a:t> name to </a:t>
            </a:r>
            <a:r>
              <a:rPr lang="en-US" b="1" dirty="0" err="1" smtClean="0"/>
              <a:t>Abhijit</a:t>
            </a:r>
            <a:r>
              <a:rPr lang="en-US" dirty="0" smtClean="0"/>
              <a:t>. </a:t>
            </a:r>
          </a:p>
          <a:p>
            <a:pPr lvl="1"/>
            <a:r>
              <a:rPr lang="en-US" dirty="0" smtClean="0"/>
              <a:t>Create a </a:t>
            </a:r>
            <a:r>
              <a:rPr lang="en-US" dirty="0" err="1" smtClean="0"/>
              <a:t>savepoint</a:t>
            </a:r>
            <a:r>
              <a:rPr lang="en-US" dirty="0" smtClean="0"/>
              <a:t> </a:t>
            </a:r>
            <a:r>
              <a:rPr lang="en-US" b="1" dirty="0" smtClean="0"/>
              <a:t>A</a:t>
            </a:r>
            <a:r>
              <a:rPr lang="en-US" dirty="0" smtClean="0"/>
              <a:t>. </a:t>
            </a:r>
          </a:p>
          <a:p>
            <a:pPr lvl="1"/>
            <a:r>
              <a:rPr lang="en-US" dirty="0" smtClean="0"/>
              <a:t>Insert the record (6, 'Chris'). </a:t>
            </a:r>
          </a:p>
          <a:p>
            <a:pPr lvl="1"/>
            <a:r>
              <a:rPr lang="en-US" dirty="0" smtClean="0"/>
              <a:t>Create </a:t>
            </a:r>
            <a:r>
              <a:rPr lang="en-US" dirty="0" err="1" smtClean="0"/>
              <a:t>savepoint</a:t>
            </a:r>
            <a:r>
              <a:rPr lang="en-US" dirty="0" smtClean="0"/>
              <a:t> </a:t>
            </a:r>
            <a:r>
              <a:rPr lang="en-US" b="1" dirty="0" smtClean="0"/>
              <a:t>B</a:t>
            </a:r>
            <a:r>
              <a:rPr lang="en-US" dirty="0" smtClean="0"/>
              <a:t>. </a:t>
            </a:r>
          </a:p>
          <a:p>
            <a:pPr lvl="1"/>
            <a:r>
              <a:rPr lang="en-US" dirty="0" smtClean="0"/>
              <a:t>Insert the record (7, 'Bravo'). </a:t>
            </a:r>
          </a:p>
          <a:p>
            <a:pPr lvl="1"/>
            <a:r>
              <a:rPr lang="en-US" dirty="0" smtClean="0"/>
              <a:t>Create </a:t>
            </a:r>
            <a:r>
              <a:rPr lang="en-US" dirty="0" err="1" smtClean="0"/>
              <a:t>savepoint</a:t>
            </a:r>
            <a:r>
              <a:rPr lang="en-US" dirty="0" smtClean="0"/>
              <a:t> </a:t>
            </a:r>
            <a:r>
              <a:rPr lang="en-US" b="1" dirty="0" smtClean="0"/>
              <a:t>C</a:t>
            </a:r>
            <a:r>
              <a:rPr lang="en-US" dirty="0" smtClean="0"/>
              <a:t>. </a:t>
            </a:r>
          </a:p>
          <a:p>
            <a:pPr lvl="1"/>
            <a:r>
              <a:rPr lang="en-US" dirty="0" smtClean="0"/>
              <a:t>Display all records from the table. </a:t>
            </a:r>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743712"/>
          </a:xfrm>
        </p:spPr>
        <p:txBody>
          <a:bodyPr>
            <a:normAutofit/>
          </a:bodyPr>
          <a:lstStyle/>
          <a:p>
            <a:r>
              <a:rPr lang="en-US" sz="3200" dirty="0" smtClean="0"/>
              <a:t>Solution</a:t>
            </a:r>
            <a:endParaRPr lang="en-US" sz="3200" dirty="0"/>
          </a:p>
        </p:txBody>
      </p:sp>
      <p:sp>
        <p:nvSpPr>
          <p:cNvPr id="3" name="Content Placeholder 2"/>
          <p:cNvSpPr>
            <a:spLocks noGrp="1"/>
          </p:cNvSpPr>
          <p:nvPr>
            <p:ph idx="1"/>
          </p:nvPr>
        </p:nvSpPr>
        <p:spPr>
          <a:xfrm>
            <a:off x="304800" y="1524000"/>
            <a:ext cx="8229600" cy="4236720"/>
          </a:xfrm>
        </p:spPr>
        <p:txBody>
          <a:bodyPr>
            <a:noAutofit/>
          </a:bodyPr>
          <a:lstStyle/>
          <a:p>
            <a:pPr>
              <a:buNone/>
            </a:pPr>
            <a:r>
              <a:rPr lang="en-US" sz="1600" dirty="0" smtClean="0"/>
              <a:t>INSERT INTO class VALUES (5, '</a:t>
            </a:r>
            <a:r>
              <a:rPr lang="en-US" sz="1600" dirty="0" err="1" smtClean="0"/>
              <a:t>Rahul</a:t>
            </a:r>
            <a:r>
              <a:rPr lang="en-US" sz="1600" dirty="0" smtClean="0"/>
              <a:t>');</a:t>
            </a:r>
          </a:p>
          <a:p>
            <a:pPr>
              <a:buNone/>
            </a:pPr>
            <a:r>
              <a:rPr lang="en-US" sz="1600" dirty="0" smtClean="0"/>
              <a:t>COMMIT;</a:t>
            </a:r>
          </a:p>
          <a:p>
            <a:pPr>
              <a:buNone/>
            </a:pPr>
            <a:endParaRPr lang="en-US" sz="1600" dirty="0" smtClean="0"/>
          </a:p>
          <a:p>
            <a:pPr>
              <a:buNone/>
            </a:pPr>
            <a:r>
              <a:rPr lang="en-US" sz="1600" dirty="0" smtClean="0"/>
              <a:t>UPDATE class</a:t>
            </a:r>
          </a:p>
          <a:p>
            <a:pPr>
              <a:buNone/>
            </a:pPr>
            <a:r>
              <a:rPr lang="en-US" sz="1600" dirty="0" smtClean="0"/>
              <a:t>SET name = '</a:t>
            </a:r>
            <a:r>
              <a:rPr lang="en-US" sz="1600" dirty="0" err="1" smtClean="0"/>
              <a:t>Abhijit</a:t>
            </a:r>
            <a:r>
              <a:rPr lang="en-US" sz="1600" dirty="0" smtClean="0"/>
              <a:t>'</a:t>
            </a:r>
          </a:p>
          <a:p>
            <a:pPr>
              <a:buNone/>
            </a:pPr>
            <a:r>
              <a:rPr lang="en-US" sz="1600" dirty="0" smtClean="0"/>
              <a:t>WHERE id = 5;</a:t>
            </a:r>
          </a:p>
          <a:p>
            <a:pPr>
              <a:buNone/>
            </a:pPr>
            <a:endParaRPr lang="en-US" sz="1600" dirty="0" smtClean="0"/>
          </a:p>
          <a:p>
            <a:pPr>
              <a:buNone/>
            </a:pPr>
            <a:r>
              <a:rPr lang="en-US" sz="1600" dirty="0" smtClean="0"/>
              <a:t>SAVEPOINT A;</a:t>
            </a:r>
          </a:p>
          <a:p>
            <a:pPr>
              <a:buNone/>
            </a:pPr>
            <a:endParaRPr lang="en-US" sz="1600" dirty="0" smtClean="0"/>
          </a:p>
          <a:p>
            <a:pPr>
              <a:buNone/>
            </a:pPr>
            <a:r>
              <a:rPr lang="en-US" sz="1600" dirty="0" smtClean="0"/>
              <a:t>INSERT INTO class VALUES (6, 'Chris');</a:t>
            </a:r>
          </a:p>
          <a:p>
            <a:pPr>
              <a:buNone/>
            </a:pPr>
            <a:endParaRPr lang="en-US" sz="1600" dirty="0" smtClean="0"/>
          </a:p>
          <a:p>
            <a:pPr>
              <a:buNone/>
            </a:pPr>
            <a:r>
              <a:rPr lang="en-US" sz="1600" dirty="0" smtClean="0"/>
              <a:t>SAVEPOINT B;</a:t>
            </a:r>
          </a:p>
          <a:p>
            <a:pPr>
              <a:buNone/>
            </a:pPr>
            <a:endParaRPr lang="en-US" sz="1600" dirty="0" smtClean="0"/>
          </a:p>
          <a:p>
            <a:pPr>
              <a:buNone/>
            </a:pPr>
            <a:r>
              <a:rPr lang="en-US" sz="1600" dirty="0" smtClean="0"/>
              <a:t>INSERT INTO class VALUES (7, 'Bravo');</a:t>
            </a:r>
          </a:p>
          <a:p>
            <a:pPr>
              <a:buNone/>
            </a:pPr>
            <a:endParaRPr lang="en-US" sz="1600" dirty="0" smtClean="0"/>
          </a:p>
          <a:p>
            <a:pPr>
              <a:buNone/>
            </a:pPr>
            <a:r>
              <a:rPr lang="en-US" sz="1600" dirty="0" smtClean="0"/>
              <a:t>SAVEPOINT C;</a:t>
            </a:r>
          </a:p>
          <a:p>
            <a:pPr>
              <a:buNone/>
            </a:pPr>
            <a:endParaRPr lang="en-US" sz="1600" dirty="0" smtClean="0"/>
          </a:p>
          <a:p>
            <a:pPr>
              <a:buNone/>
            </a:pPr>
            <a:r>
              <a:rPr lang="en-US" sz="1600" dirty="0" smtClean="0"/>
              <a:t>SELECT * FROM class;</a:t>
            </a:r>
            <a:endParaRPr lang="en-US" sz="1600" dirty="0"/>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1143000"/>
          </a:xfrm>
        </p:spPr>
        <p:txBody>
          <a:bodyPr/>
          <a:lstStyle/>
          <a:p>
            <a:r>
              <a:rPr lang="en-US" dirty="0" smtClean="0"/>
              <a:t>Comparison Table</a:t>
            </a:r>
            <a:endParaRPr lang="en-US" dirty="0"/>
          </a:p>
        </p:txBody>
      </p:sp>
      <p:graphicFrame>
        <p:nvGraphicFramePr>
          <p:cNvPr id="4" name="Content Placeholder 3"/>
          <p:cNvGraphicFramePr>
            <a:graphicFrameLocks noGrp="1"/>
          </p:cNvGraphicFramePr>
          <p:nvPr>
            <p:ph idx="1"/>
          </p:nvPr>
        </p:nvGraphicFramePr>
        <p:xfrm>
          <a:off x="457200" y="1600200"/>
          <a:ext cx="7924800" cy="4343399"/>
        </p:xfrm>
        <a:graphic>
          <a:graphicData uri="http://schemas.openxmlformats.org/drawingml/2006/table">
            <a:tbl>
              <a:tblPr firstRow="1" bandRow="1">
                <a:tableStyleId>{5C22544A-7EE6-4342-B048-85BDC9FD1C3A}</a:tableStyleId>
              </a:tblPr>
              <a:tblGrid>
                <a:gridCol w="1981200"/>
                <a:gridCol w="1981200"/>
                <a:gridCol w="1981200"/>
                <a:gridCol w="1981200"/>
              </a:tblGrid>
              <a:tr h="462873">
                <a:tc>
                  <a:txBody>
                    <a:bodyPr/>
                    <a:lstStyle/>
                    <a:p>
                      <a:r>
                        <a:rPr lang="en-US" b="1" dirty="0">
                          <a:hlinkClick r:id="rId2" action="ppaction://hlinkfile"/>
                        </a:rPr>
                        <a:t>Language</a:t>
                      </a:r>
                      <a:endParaRPr lang="en-US" dirty="0"/>
                    </a:p>
                  </a:txBody>
                  <a:tcPr anchor="ctr"/>
                </a:tc>
                <a:tc>
                  <a:txBody>
                    <a:bodyPr/>
                    <a:lstStyle/>
                    <a:p>
                      <a:r>
                        <a:rPr lang="en-US" b="1"/>
                        <a:t>Purpose</a:t>
                      </a:r>
                      <a:endParaRPr lang="en-US"/>
                    </a:p>
                  </a:txBody>
                  <a:tcPr anchor="ctr"/>
                </a:tc>
                <a:tc>
                  <a:txBody>
                    <a:bodyPr/>
                    <a:lstStyle/>
                    <a:p>
                      <a:r>
                        <a:rPr lang="en-US" b="1"/>
                        <a:t>Key Commands</a:t>
                      </a:r>
                      <a:endParaRPr lang="en-US"/>
                    </a:p>
                  </a:txBody>
                  <a:tcPr anchor="ctr"/>
                </a:tc>
                <a:tc>
                  <a:txBody>
                    <a:bodyPr/>
                    <a:lstStyle/>
                    <a:p>
                      <a:r>
                        <a:rPr lang="en-US" b="1"/>
                        <a:t>Focus</a:t>
                      </a:r>
                      <a:endParaRPr lang="en-US"/>
                    </a:p>
                  </a:txBody>
                  <a:tcPr anchor="ctr"/>
                </a:tc>
              </a:tr>
              <a:tr h="798932">
                <a:tc>
                  <a:txBody>
                    <a:bodyPr/>
                    <a:lstStyle/>
                    <a:p>
                      <a:r>
                        <a:rPr lang="en-US" b="1">
                          <a:hlinkClick r:id="rId3" action="ppaction://hlinkfile"/>
                        </a:rPr>
                        <a:t>DDL</a:t>
                      </a:r>
                      <a:endParaRPr lang="en-US"/>
                    </a:p>
                  </a:txBody>
                  <a:tcPr anchor="ctr"/>
                </a:tc>
                <a:tc>
                  <a:txBody>
                    <a:bodyPr/>
                    <a:lstStyle/>
                    <a:p>
                      <a:r>
                        <a:rPr lang="en-US"/>
                        <a:t>Define structure</a:t>
                      </a:r>
                    </a:p>
                  </a:txBody>
                  <a:tcPr anchor="ctr"/>
                </a:tc>
                <a:tc>
                  <a:txBody>
                    <a:bodyPr/>
                    <a:lstStyle/>
                    <a:p>
                      <a:r>
                        <a:rPr lang="en-US"/>
                        <a:t>CREATE, ALTER, DROP</a:t>
                      </a:r>
                    </a:p>
                  </a:txBody>
                  <a:tcPr anchor="ctr"/>
                </a:tc>
                <a:tc>
                  <a:txBody>
                    <a:bodyPr/>
                    <a:lstStyle/>
                    <a:p>
                      <a:r>
                        <a:rPr lang="en-US"/>
                        <a:t>Schema objects</a:t>
                      </a:r>
                    </a:p>
                  </a:txBody>
                  <a:tcPr anchor="ctr"/>
                </a:tc>
              </a:tr>
              <a:tr h="1141331">
                <a:tc>
                  <a:txBody>
                    <a:bodyPr/>
                    <a:lstStyle/>
                    <a:p>
                      <a:r>
                        <a:rPr lang="en-US" b="1">
                          <a:hlinkClick r:id="rId4" action="ppaction://hlinkfile"/>
                        </a:rPr>
                        <a:t>DML</a:t>
                      </a:r>
                      <a:endParaRPr lang="en-US"/>
                    </a:p>
                  </a:txBody>
                  <a:tcPr anchor="ctr"/>
                </a:tc>
                <a:tc>
                  <a:txBody>
                    <a:bodyPr/>
                    <a:lstStyle/>
                    <a:p>
                      <a:r>
                        <a:rPr lang="en-US"/>
                        <a:t>Manage data</a:t>
                      </a:r>
                    </a:p>
                  </a:txBody>
                  <a:tcPr anchor="ctr"/>
                </a:tc>
                <a:tc>
                  <a:txBody>
                    <a:bodyPr/>
                    <a:lstStyle/>
                    <a:p>
                      <a:r>
                        <a:rPr lang="en-US"/>
                        <a:t>SELECT, INSERT, UPDATE, DELETE</a:t>
                      </a:r>
                    </a:p>
                  </a:txBody>
                  <a:tcPr anchor="ctr"/>
                </a:tc>
                <a:tc>
                  <a:txBody>
                    <a:bodyPr/>
                    <a:lstStyle/>
                    <a:p>
                      <a:r>
                        <a:rPr lang="en-US"/>
                        <a:t>Table records</a:t>
                      </a:r>
                    </a:p>
                  </a:txBody>
                  <a:tcPr anchor="ctr"/>
                </a:tc>
              </a:tr>
              <a:tr h="798932">
                <a:tc>
                  <a:txBody>
                    <a:bodyPr/>
                    <a:lstStyle/>
                    <a:p>
                      <a:r>
                        <a:rPr lang="en-US" b="1">
                          <a:hlinkClick r:id="rId5" action="ppaction://hlinkfile"/>
                        </a:rPr>
                        <a:t>DCL</a:t>
                      </a:r>
                      <a:endParaRPr lang="en-US"/>
                    </a:p>
                  </a:txBody>
                  <a:tcPr anchor="ctr"/>
                </a:tc>
                <a:tc>
                  <a:txBody>
                    <a:bodyPr/>
                    <a:lstStyle/>
                    <a:p>
                      <a:r>
                        <a:rPr lang="en-US"/>
                        <a:t>Control access</a:t>
                      </a:r>
                    </a:p>
                  </a:txBody>
                  <a:tcPr anchor="ctr"/>
                </a:tc>
                <a:tc>
                  <a:txBody>
                    <a:bodyPr/>
                    <a:lstStyle/>
                    <a:p>
                      <a:r>
                        <a:rPr lang="en-US"/>
                        <a:t>GRANT, REVOKE</a:t>
                      </a:r>
                    </a:p>
                  </a:txBody>
                  <a:tcPr anchor="ctr"/>
                </a:tc>
                <a:tc>
                  <a:txBody>
                    <a:bodyPr/>
                    <a:lstStyle/>
                    <a:p>
                      <a:r>
                        <a:rPr lang="en-US"/>
                        <a:t>User privileges</a:t>
                      </a:r>
                    </a:p>
                  </a:txBody>
                  <a:tcPr anchor="ctr"/>
                </a:tc>
              </a:tr>
              <a:tr h="1141331">
                <a:tc>
                  <a:txBody>
                    <a:bodyPr/>
                    <a:lstStyle/>
                    <a:p>
                      <a:r>
                        <a:rPr lang="en-US" b="1" dirty="0">
                          <a:hlinkClick r:id="rId6" action="ppaction://hlinkfile"/>
                        </a:rPr>
                        <a:t>TCL</a:t>
                      </a:r>
                      <a:endParaRPr lang="en-US" dirty="0"/>
                    </a:p>
                  </a:txBody>
                  <a:tcPr anchor="ctr"/>
                </a:tc>
                <a:tc>
                  <a:txBody>
                    <a:bodyPr/>
                    <a:lstStyle/>
                    <a:p>
                      <a:r>
                        <a:rPr lang="en-US"/>
                        <a:t>Manage transactions</a:t>
                      </a:r>
                    </a:p>
                  </a:txBody>
                  <a:tcPr anchor="ctr"/>
                </a:tc>
                <a:tc>
                  <a:txBody>
                    <a:bodyPr/>
                    <a:lstStyle/>
                    <a:p>
                      <a:r>
                        <a:rPr lang="en-US"/>
                        <a:t>COMMIT, ROLLBACK, SAVEPOINT</a:t>
                      </a:r>
                    </a:p>
                  </a:txBody>
                  <a:tcPr anchor="ctr"/>
                </a:tc>
                <a:tc>
                  <a:txBody>
                    <a:bodyPr/>
                    <a:lstStyle/>
                    <a:p>
                      <a:r>
                        <a:rPr lang="en-US" dirty="0"/>
                        <a:t>Transaction integrity</a:t>
                      </a:r>
                    </a:p>
                  </a:txBody>
                  <a:tcPr anchor="ctr"/>
                </a:tc>
              </a:tr>
            </a:tbl>
          </a:graphicData>
        </a:graphic>
      </p:graphicFrame>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solidFill>
                  <a:srgbClr val="FF0000"/>
                </a:solidFill>
              </a:rPr>
              <a:t>Database Users and Administrators</a:t>
            </a:r>
            <a:endParaRPr lang="en-US" dirty="0">
              <a:solidFill>
                <a:srgbClr val="FF0000"/>
              </a:solidFill>
            </a:endParaRPr>
          </a:p>
        </p:txBody>
      </p:sp>
      <p:sp>
        <p:nvSpPr>
          <p:cNvPr id="3" name="Content Placeholder 2"/>
          <p:cNvSpPr>
            <a:spLocks noGrp="1"/>
          </p:cNvSpPr>
          <p:nvPr>
            <p:ph idx="1"/>
          </p:nvPr>
        </p:nvSpPr>
        <p:spPr/>
        <p:txBody>
          <a:bodyPr>
            <a:normAutofit/>
          </a:bodyPr>
          <a:lstStyle/>
          <a:p>
            <a:r>
              <a:rPr lang="en-US" sz="2400" dirty="0" smtClean="0"/>
              <a:t>People who work with a database can be categorized as database users or database administrators. </a:t>
            </a:r>
          </a:p>
          <a:p>
            <a:endParaRPr lang="en-US" sz="2400" dirty="0" smtClean="0"/>
          </a:p>
          <a:p>
            <a:pPr>
              <a:buNone/>
            </a:pPr>
            <a:r>
              <a:rPr lang="en-US" sz="2400" dirty="0" smtClean="0">
                <a:solidFill>
                  <a:srgbClr val="7030A0"/>
                </a:solidFill>
              </a:rPr>
              <a:t>Database Users :</a:t>
            </a:r>
          </a:p>
          <a:p>
            <a:r>
              <a:rPr lang="en-US" sz="2400" dirty="0" smtClean="0"/>
              <a:t>There are four different types of database-system users, differentiated by the way they expect to interact with the system. </a:t>
            </a:r>
          </a:p>
          <a:p>
            <a:r>
              <a:rPr lang="en-US" sz="2400" dirty="0" smtClean="0"/>
              <a:t>Different types of user interfaces have been designed for the different types of users.</a:t>
            </a:r>
            <a:endParaRPr lang="en-US" sz="24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Database users.png"/>
          <p:cNvPicPr>
            <a:picLocks noGrp="1" noChangeAspect="1"/>
          </p:cNvPicPr>
          <p:nvPr>
            <p:ph idx="1"/>
          </p:nvPr>
        </p:nvPicPr>
        <p:blipFill>
          <a:blip r:embed="rId2"/>
          <a:stretch>
            <a:fillRect/>
          </a:stretch>
        </p:blipFill>
        <p:spPr>
          <a:xfrm>
            <a:off x="1248500" y="457199"/>
            <a:ext cx="6371500" cy="6082159"/>
          </a:xfr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4983163"/>
          </a:xfrm>
        </p:spPr>
        <p:txBody>
          <a:bodyPr>
            <a:normAutofit lnSpcReduction="10000"/>
          </a:bodyPr>
          <a:lstStyle/>
          <a:p>
            <a:r>
              <a:rPr lang="en-US" sz="2200" dirty="0" smtClean="0">
                <a:solidFill>
                  <a:srgbClr val="FF0000"/>
                </a:solidFill>
              </a:rPr>
              <a:t>Naive users/Parametric users: </a:t>
            </a:r>
          </a:p>
          <a:p>
            <a:pPr lvl="1"/>
            <a:r>
              <a:rPr lang="en-US" sz="2200" dirty="0" smtClean="0"/>
              <a:t>Naive users are unsophisticated users who interact with the system by invoking one of the application programs that have been written previously. </a:t>
            </a:r>
          </a:p>
          <a:p>
            <a:pPr lvl="1"/>
            <a:r>
              <a:rPr lang="en-US" sz="2200" dirty="0" smtClean="0"/>
              <a:t>For example, a bank teller who needs to transfer $50 from account A to account B invokes a program called transfer. </a:t>
            </a:r>
          </a:p>
          <a:p>
            <a:pPr lvl="1">
              <a:buNone/>
            </a:pPr>
            <a:endParaRPr lang="en-US" sz="2200" dirty="0" smtClean="0"/>
          </a:p>
          <a:p>
            <a:r>
              <a:rPr lang="en-US" sz="2200" dirty="0" smtClean="0">
                <a:solidFill>
                  <a:srgbClr val="FF0000"/>
                </a:solidFill>
              </a:rPr>
              <a:t>Application programmers: </a:t>
            </a:r>
          </a:p>
          <a:p>
            <a:pPr lvl="1"/>
            <a:r>
              <a:rPr lang="en-US" sz="2200" dirty="0" smtClean="0"/>
              <a:t>Application programmers are computer professionals who write application programs. </a:t>
            </a:r>
          </a:p>
          <a:p>
            <a:pPr lvl="1"/>
            <a:r>
              <a:rPr lang="en-US" sz="2200" dirty="0" smtClean="0"/>
              <a:t>Application programmers can choose from many tools to develop user interfaces. Rapid application development (RAD) tools are tools that enable an application programmer to construct forms and reports without writing a program.</a:t>
            </a:r>
            <a:endParaRPr lang="en-US" sz="22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sz="2400" dirty="0" smtClean="0">
                <a:solidFill>
                  <a:srgbClr val="FF0000"/>
                </a:solidFill>
                <a:latin typeface="Times New Roman" pitchFamily="18" charset="0"/>
                <a:cs typeface="Times New Roman" pitchFamily="18" charset="0"/>
              </a:rPr>
              <a:t>Sophisticated users: </a:t>
            </a:r>
          </a:p>
          <a:p>
            <a:pPr lvl="1"/>
            <a:r>
              <a:rPr lang="en-US" sz="2000" dirty="0" smtClean="0">
                <a:latin typeface="Times New Roman" pitchFamily="18" charset="0"/>
                <a:cs typeface="Times New Roman" pitchFamily="18" charset="0"/>
              </a:rPr>
              <a:t>Sophisticated users interact with the system without writing programs. Instead, they form their requests in a database query language. </a:t>
            </a:r>
          </a:p>
          <a:p>
            <a:pPr lvl="1"/>
            <a:r>
              <a:rPr lang="en-US" sz="2000" dirty="0" smtClean="0">
                <a:latin typeface="Times New Roman" pitchFamily="18" charset="0"/>
                <a:cs typeface="Times New Roman" pitchFamily="18" charset="0"/>
              </a:rPr>
              <a:t>They submit each such query to a query processor, whose function is to break down DML statements into instructions that the storage manager understands. </a:t>
            </a:r>
          </a:p>
          <a:p>
            <a:pPr lvl="1"/>
            <a:r>
              <a:rPr lang="en-US" sz="2000" dirty="0" smtClean="0">
                <a:latin typeface="Times New Roman" pitchFamily="18" charset="0"/>
                <a:cs typeface="Times New Roman" pitchFamily="18" charset="0"/>
              </a:rPr>
              <a:t>Analysts who submit queries to explore data in the database fall in this category. They use some of the tools like Online Analytical Processing(OLAP), Data mining.</a:t>
            </a:r>
            <a:endParaRPr lang="en-US" sz="2000" dirty="0">
              <a:latin typeface="Times New Roman" pitchFamily="18" charset="0"/>
              <a:cs typeface="Times New Roman" pitchFamily="18" charset="0"/>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sz="2200" dirty="0" smtClean="0">
                <a:solidFill>
                  <a:srgbClr val="FF0000"/>
                </a:solidFill>
              </a:rPr>
              <a:t>Specialized users: </a:t>
            </a:r>
          </a:p>
          <a:p>
            <a:pPr lvl="1"/>
            <a:r>
              <a:rPr lang="en-US" sz="2200" dirty="0" smtClean="0"/>
              <a:t>Specialized users are sophisticated users who write specialized database applications that do not fit into the traditional data-processing framework. </a:t>
            </a:r>
          </a:p>
          <a:p>
            <a:pPr lvl="1"/>
            <a:r>
              <a:rPr lang="en-US" sz="2200" dirty="0" smtClean="0"/>
              <a:t>Among these applications are computer-aided design systems, knowledge base and expert systems, systems that store data with complex data types (for example, graphics data and audio data), and environment-modeling systems.</a:t>
            </a:r>
            <a:endParaRPr lang="en-US" sz="22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Database Administrator</a:t>
            </a:r>
            <a:endParaRPr lang="en-US" dirty="0"/>
          </a:p>
        </p:txBody>
      </p:sp>
      <p:sp>
        <p:nvSpPr>
          <p:cNvPr id="3" name="Content Placeholder 2"/>
          <p:cNvSpPr>
            <a:spLocks noGrp="1"/>
          </p:cNvSpPr>
          <p:nvPr>
            <p:ph idx="1"/>
          </p:nvPr>
        </p:nvSpPr>
        <p:spPr/>
        <p:txBody>
          <a:bodyPr>
            <a:normAutofit/>
          </a:bodyPr>
          <a:lstStyle/>
          <a:p>
            <a:r>
              <a:rPr lang="en-US" sz="2200" dirty="0" smtClean="0"/>
              <a:t>A person who has such central control of both the data and the programs that access those data over the system is called a database administrator (DBA).</a:t>
            </a:r>
          </a:p>
          <a:p>
            <a:pPr>
              <a:buNone/>
            </a:pPr>
            <a:r>
              <a:rPr lang="en-US" sz="2200" dirty="0" smtClean="0"/>
              <a:t> </a:t>
            </a:r>
          </a:p>
          <a:p>
            <a:endParaRPr lang="en-US" sz="2200" dirty="0" smtClean="0"/>
          </a:p>
        </p:txBody>
      </p:sp>
      <p:pic>
        <p:nvPicPr>
          <p:cNvPr id="4" name="Picture 3" descr="dba.jpg"/>
          <p:cNvPicPr>
            <a:picLocks noChangeAspect="1"/>
          </p:cNvPicPr>
          <p:nvPr/>
        </p:nvPicPr>
        <p:blipFill>
          <a:blip r:embed="rId2"/>
          <a:stretch>
            <a:fillRect/>
          </a:stretch>
        </p:blipFill>
        <p:spPr>
          <a:xfrm>
            <a:off x="954505" y="2971800"/>
            <a:ext cx="7499685" cy="3352800"/>
          </a:xfrm>
          <a:prstGeom prst="rect">
            <a:avLst/>
          </a:prstGeom>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85800"/>
            <a:ext cx="8229600" cy="5440363"/>
          </a:xfrm>
        </p:spPr>
        <p:txBody>
          <a:bodyPr>
            <a:normAutofit lnSpcReduction="10000"/>
          </a:bodyPr>
          <a:lstStyle/>
          <a:p>
            <a:r>
              <a:rPr lang="en-US" sz="2200" dirty="0" smtClean="0"/>
              <a:t>The functions of a DBA are the followings:- </a:t>
            </a:r>
          </a:p>
          <a:p>
            <a:pPr lvl="1"/>
            <a:r>
              <a:rPr lang="en-US" sz="2200" dirty="0" smtClean="0">
                <a:solidFill>
                  <a:srgbClr val="FF0000"/>
                </a:solidFill>
              </a:rPr>
              <a:t> Schema definition: </a:t>
            </a:r>
          </a:p>
          <a:p>
            <a:pPr lvl="2"/>
            <a:r>
              <a:rPr lang="en-US" sz="1800" dirty="0" smtClean="0"/>
              <a:t>The DBA creates the original database schema by executing a set of data definition statements in the DDL. </a:t>
            </a:r>
          </a:p>
          <a:p>
            <a:pPr lvl="1"/>
            <a:r>
              <a:rPr lang="en-US" sz="2200" dirty="0" smtClean="0">
                <a:solidFill>
                  <a:srgbClr val="FF0000"/>
                </a:solidFill>
              </a:rPr>
              <a:t>Schema and physical-organization modification: </a:t>
            </a:r>
          </a:p>
          <a:p>
            <a:pPr lvl="2"/>
            <a:r>
              <a:rPr lang="en-US" sz="1800" dirty="0" smtClean="0"/>
              <a:t>The DBA carries out changes to the schema and physical organization to reflect the changing needs of the organization, or to alter the physical organization to improve performance. </a:t>
            </a:r>
            <a:endParaRPr lang="en-US" sz="2200" dirty="0" smtClean="0"/>
          </a:p>
          <a:p>
            <a:pPr lvl="1"/>
            <a:r>
              <a:rPr lang="en-US" sz="2200" dirty="0" smtClean="0">
                <a:solidFill>
                  <a:srgbClr val="FF0000"/>
                </a:solidFill>
              </a:rPr>
              <a:t>Routine maintenance: </a:t>
            </a:r>
          </a:p>
          <a:p>
            <a:pPr lvl="1">
              <a:buNone/>
            </a:pPr>
            <a:r>
              <a:rPr lang="en-US" sz="1800" dirty="0" smtClean="0"/>
              <a:t>	Examples of the database administrator’s routine maintenance activities are: </a:t>
            </a:r>
          </a:p>
          <a:p>
            <a:pPr lvl="2"/>
            <a:r>
              <a:rPr lang="en-US" sz="1800" dirty="0" smtClean="0"/>
              <a:t> Periodically backing up the database, either onto tapes or onto remote servers, to prevent loss of data in case of disasters such as flooding. </a:t>
            </a:r>
          </a:p>
          <a:p>
            <a:pPr lvl="2"/>
            <a:r>
              <a:rPr lang="en-US" sz="1800" dirty="0" smtClean="0"/>
              <a:t>Ensuring that enough free disk space is available for normal operations, and upgrading disk space as required. </a:t>
            </a:r>
          </a:p>
          <a:p>
            <a:pPr lvl="2"/>
            <a:r>
              <a:rPr lang="en-US" sz="1800" dirty="0" smtClean="0"/>
              <a:t>Monitoring jobs running on the database and ensuring that performance is not degraded by very expensive tasks submitted by some users.</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lvl="1"/>
            <a:r>
              <a:rPr lang="en-US" sz="2200" dirty="0" smtClean="0">
                <a:solidFill>
                  <a:srgbClr val="FF0000"/>
                </a:solidFill>
              </a:rPr>
              <a:t>Storage structure and access-method definition: </a:t>
            </a:r>
          </a:p>
          <a:p>
            <a:pPr lvl="2"/>
            <a:r>
              <a:rPr lang="en-US" sz="1800" dirty="0" smtClean="0"/>
              <a:t>DBA decides what structure to be used to store the data and what method to be used to access that.</a:t>
            </a:r>
          </a:p>
          <a:p>
            <a:pPr lvl="1"/>
            <a:r>
              <a:rPr lang="en-US" sz="2200" dirty="0" smtClean="0">
                <a:solidFill>
                  <a:srgbClr val="FF0000"/>
                </a:solidFill>
              </a:rPr>
              <a:t>Granting of authorization for data access: </a:t>
            </a:r>
          </a:p>
          <a:p>
            <a:pPr lvl="2"/>
            <a:r>
              <a:rPr lang="en-US" sz="1800" dirty="0" smtClean="0"/>
              <a:t>By granting different types of authorization, the database administrator can regulate which parts of the database various users can access.</a:t>
            </a:r>
          </a:p>
          <a:p>
            <a:pPr lvl="1"/>
            <a:endParaRPr lang="en-US"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914400"/>
          </a:xfrm>
        </p:spPr>
        <p:txBody>
          <a:bodyPr/>
          <a:lstStyle/>
          <a:p>
            <a:r>
              <a:rPr lang="en-US" dirty="0" smtClean="0"/>
              <a:t>Data Model</a:t>
            </a:r>
            <a:endParaRPr lang="en-US" dirty="0"/>
          </a:p>
        </p:txBody>
      </p:sp>
      <p:sp>
        <p:nvSpPr>
          <p:cNvPr id="3" name="Content Placeholder 2"/>
          <p:cNvSpPr>
            <a:spLocks noGrp="1"/>
          </p:cNvSpPr>
          <p:nvPr>
            <p:ph idx="1"/>
          </p:nvPr>
        </p:nvSpPr>
        <p:spPr>
          <a:xfrm>
            <a:off x="457200" y="1600200"/>
            <a:ext cx="8229600" cy="4800600"/>
          </a:xfrm>
        </p:spPr>
        <p:txBody>
          <a:bodyPr>
            <a:normAutofit/>
          </a:bodyPr>
          <a:lstStyle/>
          <a:p>
            <a:r>
              <a:rPr lang="en-US" sz="2400" dirty="0" smtClean="0"/>
              <a:t>A data model is a collection of concepts used to describe the structure of a database, the relationships among data, and the constraints on the data.</a:t>
            </a:r>
          </a:p>
          <a:p>
            <a:endParaRPr lang="en-US" sz="2400" dirty="0" smtClean="0"/>
          </a:p>
          <a:p>
            <a:r>
              <a:rPr lang="en-US" sz="2400" b="1" dirty="0" smtClean="0">
                <a:solidFill>
                  <a:schemeClr val="accent6">
                    <a:lumMod val="75000"/>
                  </a:schemeClr>
                </a:solidFill>
              </a:rPr>
              <a:t>A data model is a logical framework that defines how data is stored, organized, related, and manipulated in a database.</a:t>
            </a:r>
          </a:p>
          <a:p>
            <a:endParaRPr lang="en-US" sz="2400" dirty="0" smtClean="0"/>
          </a:p>
          <a:p>
            <a:r>
              <a:rPr lang="en-US" sz="2400" dirty="0" smtClean="0"/>
              <a:t>Data models define how data is connected to each other and how they are processed and stored inside the system. </a:t>
            </a:r>
          </a:p>
          <a:p>
            <a:endParaRPr lang="en-US" sz="20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Types of Data Models</a:t>
            </a:r>
            <a:endParaRPr lang="en-US" dirty="0"/>
          </a:p>
        </p:txBody>
      </p:sp>
      <p:sp>
        <p:nvSpPr>
          <p:cNvPr id="3" name="Content Placeholder 2"/>
          <p:cNvSpPr>
            <a:spLocks noGrp="1"/>
          </p:cNvSpPr>
          <p:nvPr>
            <p:ph idx="1"/>
          </p:nvPr>
        </p:nvSpPr>
        <p:spPr/>
        <p:txBody>
          <a:bodyPr/>
          <a:lstStyle/>
          <a:p>
            <a:r>
              <a:rPr lang="en-US" sz="2400" dirty="0" smtClean="0"/>
              <a:t>There are different types of data models are used in DBMS. Here, we are going to explain some data models. </a:t>
            </a:r>
          </a:p>
          <a:p>
            <a:pPr>
              <a:buNone/>
            </a:pPr>
            <a:endParaRPr lang="en-US" sz="2400" dirty="0" smtClean="0"/>
          </a:p>
          <a:p>
            <a:pPr lvl="1"/>
            <a:r>
              <a:rPr lang="en-US" sz="2000" dirty="0" smtClean="0"/>
              <a:t>(1) Entity relationship model </a:t>
            </a:r>
          </a:p>
          <a:p>
            <a:pPr lvl="1"/>
            <a:r>
              <a:rPr lang="en-US" sz="2000" dirty="0" smtClean="0"/>
              <a:t>(2) Relational model </a:t>
            </a:r>
          </a:p>
          <a:p>
            <a:pPr lvl="1"/>
            <a:r>
              <a:rPr lang="en-US" sz="2000" dirty="0" smtClean="0"/>
              <a:t>(3) Network model </a:t>
            </a:r>
          </a:p>
          <a:p>
            <a:pPr lvl="1"/>
            <a:r>
              <a:rPr lang="en-US" sz="2000" dirty="0" smtClean="0"/>
              <a:t>(4) Hierarchical model </a:t>
            </a:r>
          </a:p>
        </p:txBody>
      </p: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381000"/>
            <a:ext cx="8229600" cy="1143000"/>
          </a:xfrm>
        </p:spPr>
        <p:txBody>
          <a:bodyPr/>
          <a:lstStyle/>
          <a:p>
            <a:r>
              <a:rPr lang="en-US" dirty="0" smtClean="0"/>
              <a:t>Entity-Relationship (ER) Model</a:t>
            </a:r>
            <a:endParaRPr lang="en-US" dirty="0"/>
          </a:p>
        </p:txBody>
      </p:sp>
      <p:sp>
        <p:nvSpPr>
          <p:cNvPr id="3" name="Content Placeholder 2"/>
          <p:cNvSpPr>
            <a:spLocks noGrp="1"/>
          </p:cNvSpPr>
          <p:nvPr>
            <p:ph idx="1"/>
          </p:nvPr>
        </p:nvSpPr>
        <p:spPr>
          <a:xfrm>
            <a:off x="457200" y="1600200"/>
            <a:ext cx="8229600" cy="4724400"/>
          </a:xfrm>
        </p:spPr>
        <p:txBody>
          <a:bodyPr>
            <a:normAutofit lnSpcReduction="10000"/>
          </a:bodyPr>
          <a:lstStyle/>
          <a:p>
            <a:r>
              <a:rPr lang="en-US" dirty="0" smtClean="0"/>
              <a:t>The Entity-Relationship (ER) Model is a high-level conceptual data model used to design the structure of a database. </a:t>
            </a:r>
          </a:p>
          <a:p>
            <a:endParaRPr lang="en-US" dirty="0" smtClean="0"/>
          </a:p>
          <a:p>
            <a:r>
              <a:rPr lang="en-US" dirty="0" smtClean="0"/>
              <a:t>It represents </a:t>
            </a:r>
          </a:p>
          <a:p>
            <a:pPr lvl="1"/>
            <a:r>
              <a:rPr lang="en-US" dirty="0" smtClean="0"/>
              <a:t>real-world objects as entities, </a:t>
            </a:r>
          </a:p>
          <a:p>
            <a:pPr lvl="1"/>
            <a:r>
              <a:rPr lang="en-US" dirty="0" smtClean="0"/>
              <a:t>their properties as attributes, and </a:t>
            </a:r>
          </a:p>
          <a:p>
            <a:pPr lvl="1"/>
            <a:r>
              <a:rPr lang="en-US" dirty="0" smtClean="0"/>
              <a:t>the associations between them as relationships.</a:t>
            </a:r>
          </a:p>
          <a:p>
            <a:pPr lvl="1"/>
            <a:endParaRPr lang="en-US" dirty="0" smtClean="0"/>
          </a:p>
          <a:p>
            <a:r>
              <a:rPr lang="en-US" dirty="0" smtClean="0"/>
              <a:t>It is mainly used during the database design phase, before creating tables in a relational database.</a:t>
            </a:r>
          </a:p>
          <a:p>
            <a:endParaRPr lang="en-US" dirty="0"/>
          </a:p>
        </p:txBody>
      </p:sp>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609600"/>
            <a:ext cx="8229600" cy="762000"/>
          </a:xfrm>
        </p:spPr>
        <p:txBody>
          <a:bodyPr>
            <a:normAutofit/>
          </a:bodyPr>
          <a:lstStyle/>
          <a:p>
            <a:r>
              <a:rPr lang="en-US" sz="3200" dirty="0" smtClean="0"/>
              <a:t>Components of the ER Model</a:t>
            </a:r>
            <a:endParaRPr lang="en-US" sz="3200" dirty="0"/>
          </a:p>
        </p:txBody>
      </p:sp>
      <p:sp>
        <p:nvSpPr>
          <p:cNvPr id="3" name="Content Placeholder 2"/>
          <p:cNvSpPr>
            <a:spLocks noGrp="1"/>
          </p:cNvSpPr>
          <p:nvPr>
            <p:ph idx="1"/>
          </p:nvPr>
        </p:nvSpPr>
        <p:spPr>
          <a:xfrm>
            <a:off x="457200" y="1600200"/>
            <a:ext cx="8229600" cy="4876800"/>
          </a:xfrm>
        </p:spPr>
        <p:txBody>
          <a:bodyPr>
            <a:normAutofit/>
          </a:bodyPr>
          <a:lstStyle/>
          <a:p>
            <a:pPr>
              <a:buNone/>
            </a:pPr>
            <a:r>
              <a:rPr lang="en-US" sz="2400" b="1" dirty="0" smtClean="0"/>
              <a:t>1. Entity</a:t>
            </a:r>
          </a:p>
          <a:p>
            <a:r>
              <a:rPr lang="en-US" sz="2400" dirty="0" smtClean="0"/>
              <a:t>An entity is a real-world object, person, place, event, or thing about which data is stored.</a:t>
            </a:r>
          </a:p>
          <a:p>
            <a:pPr>
              <a:buNone/>
            </a:pPr>
            <a:r>
              <a:rPr lang="en-US" sz="2400" b="1" dirty="0" smtClean="0"/>
              <a:t>Examples:</a:t>
            </a:r>
            <a:endParaRPr lang="en-US" sz="2400" dirty="0" smtClean="0"/>
          </a:p>
          <a:p>
            <a:pPr lvl="1"/>
            <a:r>
              <a:rPr lang="en-US" sz="2400" dirty="0" smtClean="0"/>
              <a:t>Student </a:t>
            </a:r>
          </a:p>
          <a:p>
            <a:pPr lvl="1"/>
            <a:r>
              <a:rPr lang="en-US" sz="2400" dirty="0" smtClean="0"/>
              <a:t>Employee </a:t>
            </a:r>
          </a:p>
          <a:p>
            <a:pPr lvl="1"/>
            <a:r>
              <a:rPr lang="en-US" sz="2400" dirty="0" smtClean="0"/>
              <a:t>Book </a:t>
            </a:r>
          </a:p>
          <a:p>
            <a:pPr lvl="1"/>
            <a:r>
              <a:rPr lang="en-US" sz="2400" dirty="0" smtClean="0"/>
              <a:t>Department </a:t>
            </a:r>
          </a:p>
          <a:p>
            <a:r>
              <a:rPr lang="en-US" sz="2400" b="1" dirty="0" smtClean="0"/>
              <a:t>Symbol:</a:t>
            </a:r>
            <a:r>
              <a:rPr lang="en-US" sz="2400" dirty="0" smtClean="0"/>
              <a:t> Rectangle</a:t>
            </a:r>
          </a:p>
          <a:p>
            <a:endParaRPr lang="en-US" sz="2400" dirty="0" smtClean="0"/>
          </a:p>
          <a:p>
            <a:endParaRPr lang="en-US" sz="2400" dirty="0" smtClean="0"/>
          </a:p>
          <a:p>
            <a:pPr lvl="1">
              <a:buNone/>
            </a:pPr>
            <a:endParaRPr lang="en-US" sz="2400" dirty="0" smtClean="0"/>
          </a:p>
          <a:p>
            <a:pPr lvl="1">
              <a:buNone/>
            </a:pPr>
            <a:endParaRPr lang="en-US" sz="2400" dirty="0" smtClean="0"/>
          </a:p>
          <a:p>
            <a:pPr lvl="1">
              <a:buNone/>
            </a:pPr>
            <a:endParaRPr lang="en-US" sz="2400" dirty="0" smtClean="0"/>
          </a:p>
          <a:p>
            <a:pPr lvl="1">
              <a:buNone/>
            </a:pPr>
            <a:endParaRPr lang="en-US" sz="2400" dirty="0"/>
          </a:p>
        </p:txBody>
      </p:sp>
      <p:sp>
        <p:nvSpPr>
          <p:cNvPr id="4" name="Rectangle 3"/>
          <p:cNvSpPr/>
          <p:nvPr/>
        </p:nvSpPr>
        <p:spPr>
          <a:xfrm>
            <a:off x="3048000" y="5715000"/>
            <a:ext cx="15240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838200"/>
            <a:ext cx="8229600" cy="5715000"/>
          </a:xfrm>
        </p:spPr>
        <p:txBody>
          <a:bodyPr>
            <a:normAutofit/>
          </a:bodyPr>
          <a:lstStyle/>
          <a:p>
            <a:pPr>
              <a:buNone/>
            </a:pPr>
            <a:r>
              <a:rPr lang="en-US" sz="2400" b="1" dirty="0" smtClean="0"/>
              <a:t>2. Attribute</a:t>
            </a:r>
          </a:p>
          <a:p>
            <a:r>
              <a:rPr lang="en-US" sz="2400" dirty="0" smtClean="0"/>
              <a:t>An </a:t>
            </a:r>
            <a:r>
              <a:rPr lang="en-US" sz="2400" b="1" dirty="0" smtClean="0"/>
              <a:t>attribute</a:t>
            </a:r>
            <a:r>
              <a:rPr lang="en-US" sz="2400" dirty="0" smtClean="0"/>
              <a:t> is a property or characteristic of an entity.</a:t>
            </a:r>
          </a:p>
          <a:p>
            <a:pPr>
              <a:buNone/>
            </a:pPr>
            <a:r>
              <a:rPr lang="en-US" sz="2400" dirty="0" smtClean="0"/>
              <a:t>For example, the </a:t>
            </a:r>
            <a:r>
              <a:rPr lang="en-US" sz="2400" b="1" dirty="0" smtClean="0"/>
              <a:t>Student</a:t>
            </a:r>
            <a:r>
              <a:rPr lang="en-US" sz="2400" dirty="0" smtClean="0"/>
              <a:t> entity may have:</a:t>
            </a:r>
          </a:p>
          <a:p>
            <a:pPr lvl="1"/>
            <a:r>
              <a:rPr lang="en-US" sz="2400" dirty="0" smtClean="0"/>
              <a:t>Roll Number </a:t>
            </a:r>
          </a:p>
          <a:p>
            <a:pPr lvl="1"/>
            <a:r>
              <a:rPr lang="en-US" sz="2400" dirty="0" smtClean="0"/>
              <a:t>Name </a:t>
            </a:r>
          </a:p>
          <a:p>
            <a:pPr lvl="1"/>
            <a:r>
              <a:rPr lang="en-US" sz="2400" dirty="0" smtClean="0"/>
              <a:t>Age </a:t>
            </a:r>
          </a:p>
          <a:p>
            <a:pPr lvl="1"/>
            <a:r>
              <a:rPr lang="en-US" sz="2400" dirty="0" smtClean="0"/>
              <a:t>Email </a:t>
            </a:r>
          </a:p>
          <a:p>
            <a:r>
              <a:rPr lang="en-US" sz="2400" b="1" dirty="0" smtClean="0"/>
              <a:t>Symbol:</a:t>
            </a:r>
            <a:r>
              <a:rPr lang="en-US" sz="2400" dirty="0" smtClean="0"/>
              <a:t> Oval (Ellipse)</a:t>
            </a:r>
          </a:p>
          <a:p>
            <a:endParaRPr lang="en-US" sz="2400" dirty="0" smtClean="0"/>
          </a:p>
          <a:p>
            <a:endParaRPr lang="en-US" sz="2400" dirty="0"/>
          </a:p>
        </p:txBody>
      </p:sp>
      <p:sp>
        <p:nvSpPr>
          <p:cNvPr id="4" name="Oval 3"/>
          <p:cNvSpPr/>
          <p:nvPr/>
        </p:nvSpPr>
        <p:spPr>
          <a:xfrm>
            <a:off x="3048000" y="4572000"/>
            <a:ext cx="1600200" cy="533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smtClean="0"/>
              <a:t>Roll_No</a:t>
            </a:r>
            <a:endParaRPr lang="en-US" dirty="0"/>
          </a:p>
        </p:txBody>
      </p:sp>
      <p:sp>
        <p:nvSpPr>
          <p:cNvPr id="5" name="Oval 4"/>
          <p:cNvSpPr/>
          <p:nvPr/>
        </p:nvSpPr>
        <p:spPr>
          <a:xfrm>
            <a:off x="5410200" y="4572000"/>
            <a:ext cx="1676400" cy="533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Name</a:t>
            </a:r>
            <a:endParaRPr lang="en-US" dirty="0"/>
          </a:p>
        </p:txBody>
      </p:sp>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a:bodyPr>
          <a:lstStyle/>
          <a:p>
            <a:r>
              <a:rPr lang="en-US" sz="3800" b="1" dirty="0" smtClean="0"/>
              <a:t>Types of Attributes</a:t>
            </a:r>
            <a:endParaRPr lang="en-US" sz="3800" dirty="0"/>
          </a:p>
        </p:txBody>
      </p:sp>
      <p:sp>
        <p:nvSpPr>
          <p:cNvPr id="3" name="Content Placeholder 2"/>
          <p:cNvSpPr>
            <a:spLocks noGrp="1"/>
          </p:cNvSpPr>
          <p:nvPr>
            <p:ph idx="1"/>
          </p:nvPr>
        </p:nvSpPr>
        <p:spPr>
          <a:xfrm>
            <a:off x="381000" y="1143000"/>
            <a:ext cx="8305800" cy="4983163"/>
          </a:xfrm>
        </p:spPr>
        <p:txBody>
          <a:bodyPr>
            <a:normAutofit lnSpcReduction="10000"/>
          </a:bodyPr>
          <a:lstStyle/>
          <a:p>
            <a:pPr>
              <a:buNone/>
            </a:pPr>
            <a:r>
              <a:rPr lang="en-US" sz="2400" b="1" dirty="0" smtClean="0"/>
              <a:t>a) Simple Attribute</a:t>
            </a:r>
          </a:p>
          <a:p>
            <a:pPr>
              <a:buNone/>
            </a:pPr>
            <a:r>
              <a:rPr lang="en-US" sz="2400" dirty="0" smtClean="0"/>
              <a:t>	Cannot be divided further.</a:t>
            </a:r>
          </a:p>
          <a:p>
            <a:pPr>
              <a:buNone/>
            </a:pPr>
            <a:r>
              <a:rPr lang="en-US" sz="2400" b="1" dirty="0" smtClean="0"/>
              <a:t>		Example:</a:t>
            </a:r>
            <a:r>
              <a:rPr lang="en-US" sz="2400" dirty="0" smtClean="0"/>
              <a:t> Age, Gender</a:t>
            </a:r>
          </a:p>
          <a:p>
            <a:pPr>
              <a:buNone/>
            </a:pPr>
            <a:endParaRPr lang="en-US" sz="2400" dirty="0" smtClean="0"/>
          </a:p>
          <a:p>
            <a:pPr>
              <a:buNone/>
            </a:pPr>
            <a:r>
              <a:rPr lang="en-US" sz="2400" b="1" dirty="0" smtClean="0"/>
              <a:t>b) Composite Attribute</a:t>
            </a:r>
          </a:p>
          <a:p>
            <a:pPr>
              <a:buNone/>
            </a:pPr>
            <a:r>
              <a:rPr lang="en-US" sz="2400" dirty="0" smtClean="0"/>
              <a:t>	Can be divided into smaller attributes.</a:t>
            </a:r>
          </a:p>
          <a:p>
            <a:pPr>
              <a:buNone/>
            </a:pPr>
            <a:r>
              <a:rPr lang="en-US" sz="2400" b="1" dirty="0" smtClean="0"/>
              <a:t>		Example:</a:t>
            </a:r>
            <a:endParaRPr lang="en-US" sz="2400" dirty="0" smtClean="0"/>
          </a:p>
          <a:p>
            <a:pPr>
              <a:buNone/>
            </a:pPr>
            <a:r>
              <a:rPr lang="en-US" sz="2400" dirty="0" smtClean="0"/>
              <a:t>	Name ├── First Name ├── Middle Name └── Last Name</a:t>
            </a:r>
          </a:p>
          <a:p>
            <a:pPr>
              <a:buNone/>
            </a:pPr>
            <a:endParaRPr lang="en-US" sz="2400" dirty="0" smtClean="0"/>
          </a:p>
          <a:p>
            <a:pPr>
              <a:buNone/>
            </a:pPr>
            <a:r>
              <a:rPr lang="en-US" sz="2400" b="1" dirty="0" smtClean="0"/>
              <a:t>c) Single-Valued Attribute</a:t>
            </a:r>
          </a:p>
          <a:p>
            <a:pPr>
              <a:buNone/>
            </a:pPr>
            <a:r>
              <a:rPr lang="en-US" sz="2400" dirty="0" smtClean="0"/>
              <a:t>	Has only one value for each entity.</a:t>
            </a:r>
          </a:p>
          <a:p>
            <a:pPr>
              <a:buNone/>
            </a:pPr>
            <a:r>
              <a:rPr lang="en-US" sz="2400" b="1" dirty="0" smtClean="0"/>
              <a:t>		Example: </a:t>
            </a:r>
            <a:r>
              <a:rPr lang="en-US" sz="2400" dirty="0" smtClean="0"/>
              <a:t>Roll Number, Date of Birth </a:t>
            </a:r>
          </a:p>
          <a:p>
            <a:endParaRPr lang="en-US" sz="2400" dirty="0"/>
          </a:p>
        </p:txBody>
      </p:sp>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371600"/>
            <a:ext cx="8229600" cy="4754563"/>
          </a:xfrm>
        </p:spPr>
        <p:txBody>
          <a:bodyPr>
            <a:noAutofit/>
          </a:bodyPr>
          <a:lstStyle/>
          <a:p>
            <a:pPr>
              <a:buNone/>
            </a:pPr>
            <a:r>
              <a:rPr lang="en-US" sz="2400" b="1" dirty="0" smtClean="0"/>
              <a:t>d) Multi-Valued Attribute</a:t>
            </a:r>
          </a:p>
          <a:p>
            <a:pPr>
              <a:buNone/>
            </a:pPr>
            <a:r>
              <a:rPr lang="en-US" sz="2400" dirty="0" smtClean="0"/>
              <a:t>	Can have multiple values.</a:t>
            </a:r>
          </a:p>
          <a:p>
            <a:pPr>
              <a:buNone/>
            </a:pPr>
            <a:r>
              <a:rPr lang="en-US" sz="2400" b="1" dirty="0" smtClean="0"/>
              <a:t>		Example:</a:t>
            </a:r>
            <a:endParaRPr lang="en-US" sz="2400" dirty="0" smtClean="0"/>
          </a:p>
          <a:p>
            <a:pPr lvl="3"/>
            <a:r>
              <a:rPr lang="en-US" sz="2400" dirty="0" smtClean="0"/>
              <a:t>Phone Numbers </a:t>
            </a:r>
          </a:p>
          <a:p>
            <a:pPr lvl="3"/>
            <a:r>
              <a:rPr lang="en-US" sz="2400" dirty="0" smtClean="0"/>
              <a:t>Email Addresses </a:t>
            </a:r>
          </a:p>
          <a:p>
            <a:pPr>
              <a:buNone/>
            </a:pPr>
            <a:r>
              <a:rPr lang="en-US" sz="2400" dirty="0" smtClean="0"/>
              <a:t>	Represented by a </a:t>
            </a:r>
            <a:r>
              <a:rPr lang="en-US" sz="2400" b="1" dirty="0" smtClean="0"/>
              <a:t>double oval</a:t>
            </a:r>
            <a:r>
              <a:rPr lang="en-US" sz="2400" dirty="0" smtClean="0"/>
              <a:t>.</a:t>
            </a:r>
          </a:p>
          <a:p>
            <a:endParaRPr lang="en-US" sz="2400" b="1" dirty="0" smtClean="0"/>
          </a:p>
          <a:p>
            <a:pPr>
              <a:buNone/>
            </a:pPr>
            <a:r>
              <a:rPr lang="en-US" sz="2400" b="1" dirty="0" smtClean="0"/>
              <a:t>e) Derived Attribute</a:t>
            </a:r>
          </a:p>
          <a:p>
            <a:pPr>
              <a:buNone/>
            </a:pPr>
            <a:r>
              <a:rPr lang="en-US" sz="2400" dirty="0" smtClean="0"/>
              <a:t>	Can be calculated from another attribute.</a:t>
            </a:r>
          </a:p>
          <a:p>
            <a:pPr>
              <a:buNone/>
            </a:pPr>
            <a:r>
              <a:rPr lang="en-US" sz="2400" b="1" dirty="0" smtClean="0"/>
              <a:t>		Example:</a:t>
            </a:r>
            <a:endParaRPr lang="en-US" sz="2400" dirty="0" smtClean="0"/>
          </a:p>
          <a:p>
            <a:pPr>
              <a:buNone/>
            </a:pPr>
            <a:r>
              <a:rPr lang="en-US" sz="2400" dirty="0" smtClean="0"/>
              <a:t>			Age (derived from Date of Birth) </a:t>
            </a:r>
          </a:p>
          <a:p>
            <a:pPr>
              <a:buNone/>
            </a:pPr>
            <a:r>
              <a:rPr lang="en-US" sz="2400" dirty="0" smtClean="0"/>
              <a:t>	Represented by a </a:t>
            </a:r>
            <a:r>
              <a:rPr lang="en-US" sz="2400" b="1" dirty="0" smtClean="0"/>
              <a:t>dashed oval</a:t>
            </a:r>
            <a:r>
              <a:rPr lang="en-US" sz="2400" dirty="0" smtClean="0"/>
              <a:t>.</a:t>
            </a:r>
          </a:p>
          <a:p>
            <a:endParaRPr lang="en-US" sz="2400" dirty="0"/>
          </a:p>
        </p:txBody>
      </p:sp>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743712"/>
          </a:xfrm>
        </p:spPr>
        <p:txBody>
          <a:bodyPr>
            <a:normAutofit/>
          </a:bodyPr>
          <a:lstStyle/>
          <a:p>
            <a:r>
              <a:rPr lang="en-US" sz="3200" b="1" dirty="0" smtClean="0"/>
              <a:t>3. Relationship</a:t>
            </a:r>
            <a:endParaRPr lang="en-US" sz="3200" dirty="0"/>
          </a:p>
        </p:txBody>
      </p:sp>
      <p:sp>
        <p:nvSpPr>
          <p:cNvPr id="3" name="Content Placeholder 2"/>
          <p:cNvSpPr>
            <a:spLocks noGrp="1"/>
          </p:cNvSpPr>
          <p:nvPr>
            <p:ph idx="1"/>
          </p:nvPr>
        </p:nvSpPr>
        <p:spPr/>
        <p:txBody>
          <a:bodyPr/>
          <a:lstStyle/>
          <a:p>
            <a:pPr>
              <a:buNone/>
            </a:pPr>
            <a:r>
              <a:rPr lang="en-US" sz="2400" dirty="0" smtClean="0"/>
              <a:t>	A relationship shows how two or more entities are associated.</a:t>
            </a:r>
          </a:p>
          <a:p>
            <a:pPr>
              <a:buNone/>
            </a:pPr>
            <a:r>
              <a:rPr lang="en-US" sz="2400" b="1" dirty="0" smtClean="0"/>
              <a:t>	</a:t>
            </a:r>
          </a:p>
          <a:p>
            <a:pPr>
              <a:buNone/>
            </a:pPr>
            <a:r>
              <a:rPr lang="en-US" sz="2400" b="1" dirty="0" smtClean="0"/>
              <a:t>	Example:</a:t>
            </a:r>
            <a:r>
              <a:rPr lang="en-US" sz="2400" dirty="0" smtClean="0"/>
              <a:t/>
            </a:r>
            <a:br>
              <a:rPr lang="en-US" sz="2400" dirty="0" smtClean="0"/>
            </a:br>
            <a:r>
              <a:rPr lang="en-US" sz="2400" dirty="0" smtClean="0"/>
              <a:t>	A student enrolls in a course.</a:t>
            </a:r>
          </a:p>
          <a:p>
            <a:pPr lvl="2">
              <a:buNone/>
            </a:pPr>
            <a:r>
              <a:rPr lang="en-US" dirty="0" smtClean="0"/>
              <a:t>Student -------- Enrolls -------- </a:t>
            </a:r>
            <a:r>
              <a:rPr lang="en-US" dirty="0" smtClean="0"/>
              <a:t>Course</a:t>
            </a:r>
            <a:endParaRPr lang="en-US" sz="2400" b="1" dirty="0" smtClean="0"/>
          </a:p>
          <a:p>
            <a:pPr>
              <a:buNone/>
            </a:pPr>
            <a:r>
              <a:rPr lang="en-US" sz="2400" b="1" dirty="0" smtClean="0"/>
              <a:t>	Symbol:</a:t>
            </a:r>
            <a:r>
              <a:rPr lang="en-US" sz="2400" dirty="0" smtClean="0"/>
              <a:t> Diamond</a:t>
            </a:r>
          </a:p>
          <a:p>
            <a:endParaRPr lang="en-US" dirty="0"/>
          </a:p>
        </p:txBody>
      </p:sp>
      <p:sp>
        <p:nvSpPr>
          <p:cNvPr id="4" name="Rectangle 3"/>
          <p:cNvSpPr/>
          <p:nvPr/>
        </p:nvSpPr>
        <p:spPr>
          <a:xfrm>
            <a:off x="1524000" y="5105400"/>
            <a:ext cx="10668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Student</a:t>
            </a:r>
            <a:endParaRPr lang="en-US" dirty="0"/>
          </a:p>
        </p:txBody>
      </p:sp>
      <p:sp>
        <p:nvSpPr>
          <p:cNvPr id="5" name="Rectangle 4"/>
          <p:cNvSpPr/>
          <p:nvPr/>
        </p:nvSpPr>
        <p:spPr>
          <a:xfrm>
            <a:off x="6400800" y="5181600"/>
            <a:ext cx="9144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Course</a:t>
            </a:r>
            <a:endParaRPr lang="en-US" dirty="0"/>
          </a:p>
        </p:txBody>
      </p:sp>
      <p:sp>
        <p:nvSpPr>
          <p:cNvPr id="6" name="Diamond 5"/>
          <p:cNvSpPr/>
          <p:nvPr/>
        </p:nvSpPr>
        <p:spPr>
          <a:xfrm>
            <a:off x="3581400" y="4876800"/>
            <a:ext cx="1676400" cy="914400"/>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Enrolls</a:t>
            </a:r>
            <a:endParaRPr lang="en-US" dirty="0"/>
          </a:p>
        </p:txBody>
      </p:sp>
      <p:cxnSp>
        <p:nvCxnSpPr>
          <p:cNvPr id="8" name="Straight Connector 7"/>
          <p:cNvCxnSpPr>
            <a:stCxn id="4" idx="3"/>
            <a:endCxn id="6" idx="1"/>
          </p:cNvCxnSpPr>
          <p:nvPr/>
        </p:nvCxnSpPr>
        <p:spPr>
          <a:xfrm>
            <a:off x="2590800" y="5334000"/>
            <a:ext cx="9906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p:cNvCxnSpPr>
            <a:stCxn id="6" idx="3"/>
            <a:endCxn id="5" idx="1"/>
          </p:cNvCxnSpPr>
          <p:nvPr/>
        </p:nvCxnSpPr>
        <p:spPr>
          <a:xfrm>
            <a:off x="5257800" y="5334000"/>
            <a:ext cx="1143000" cy="38100"/>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a:bodyPr>
          <a:lstStyle/>
          <a:p>
            <a:r>
              <a:rPr lang="en-US" sz="3200" b="1" dirty="0" smtClean="0"/>
              <a:t>4. Cardinality (Mapping Constraints)</a:t>
            </a:r>
            <a:endParaRPr lang="en-US" sz="3200" dirty="0"/>
          </a:p>
        </p:txBody>
      </p:sp>
      <p:sp>
        <p:nvSpPr>
          <p:cNvPr id="3" name="Content Placeholder 2"/>
          <p:cNvSpPr>
            <a:spLocks noGrp="1"/>
          </p:cNvSpPr>
          <p:nvPr>
            <p:ph idx="1"/>
          </p:nvPr>
        </p:nvSpPr>
        <p:spPr>
          <a:xfrm>
            <a:off x="457200" y="1066800"/>
            <a:ext cx="8229600" cy="5562600"/>
          </a:xfrm>
        </p:spPr>
        <p:txBody>
          <a:bodyPr>
            <a:normAutofit fontScale="62500" lnSpcReduction="20000"/>
          </a:bodyPr>
          <a:lstStyle/>
          <a:p>
            <a:pPr>
              <a:buNone/>
            </a:pPr>
            <a:r>
              <a:rPr lang="en-US" sz="4400" dirty="0" smtClean="0"/>
              <a:t>	</a:t>
            </a:r>
          </a:p>
          <a:p>
            <a:pPr>
              <a:buNone/>
            </a:pPr>
            <a:r>
              <a:rPr lang="en-US" sz="4400" dirty="0" smtClean="0">
                <a:solidFill>
                  <a:schemeClr val="accent6">
                    <a:lumMod val="75000"/>
                  </a:schemeClr>
                </a:solidFill>
              </a:rPr>
              <a:t>Cardinality specifies how many instances of one entity are related to another.</a:t>
            </a:r>
          </a:p>
          <a:p>
            <a:pPr>
              <a:buNone/>
            </a:pPr>
            <a:endParaRPr lang="en-US" dirty="0" smtClean="0"/>
          </a:p>
          <a:p>
            <a:pPr>
              <a:buNone/>
            </a:pPr>
            <a:r>
              <a:rPr lang="en-US" b="1" dirty="0" smtClean="0"/>
              <a:t>a) One-to-One (1:1)</a:t>
            </a:r>
          </a:p>
          <a:p>
            <a:pPr>
              <a:buNone/>
            </a:pPr>
            <a:r>
              <a:rPr lang="en-US" dirty="0" smtClean="0"/>
              <a:t>One person has one passport.</a:t>
            </a:r>
          </a:p>
          <a:p>
            <a:pPr>
              <a:buNone/>
            </a:pPr>
            <a:r>
              <a:rPr lang="en-US" dirty="0" smtClean="0"/>
              <a:t>Person -------- Passport </a:t>
            </a:r>
          </a:p>
          <a:p>
            <a:pPr>
              <a:buNone/>
            </a:pPr>
            <a:endParaRPr lang="en-US" dirty="0" smtClean="0"/>
          </a:p>
          <a:p>
            <a:pPr>
              <a:buNone/>
            </a:pPr>
            <a:r>
              <a:rPr lang="en-US" b="1" dirty="0" smtClean="0"/>
              <a:t>b) One-to-Many (1:M)</a:t>
            </a:r>
          </a:p>
          <a:p>
            <a:pPr>
              <a:buNone/>
            </a:pPr>
            <a:r>
              <a:rPr lang="en-US" dirty="0" smtClean="0"/>
              <a:t>One department has many employees.</a:t>
            </a:r>
          </a:p>
          <a:p>
            <a:pPr>
              <a:buNone/>
            </a:pPr>
            <a:r>
              <a:rPr lang="en-US" dirty="0" smtClean="0"/>
              <a:t>Department -------- Employee </a:t>
            </a:r>
          </a:p>
          <a:p>
            <a:pPr>
              <a:buNone/>
            </a:pPr>
            <a:endParaRPr lang="en-US" dirty="0" smtClean="0"/>
          </a:p>
          <a:p>
            <a:pPr>
              <a:buNone/>
            </a:pPr>
            <a:r>
              <a:rPr lang="en-US" b="1" dirty="0" smtClean="0"/>
              <a:t>c) Many-to-One (M:1)</a:t>
            </a:r>
          </a:p>
          <a:p>
            <a:pPr>
              <a:buNone/>
            </a:pPr>
            <a:r>
              <a:rPr lang="en-US" dirty="0" smtClean="0"/>
              <a:t>Many students belong to one department.</a:t>
            </a:r>
          </a:p>
          <a:p>
            <a:pPr>
              <a:buNone/>
            </a:pPr>
            <a:r>
              <a:rPr lang="en-US" dirty="0" smtClean="0"/>
              <a:t>Student -------- Department </a:t>
            </a:r>
          </a:p>
          <a:p>
            <a:pPr>
              <a:buNone/>
            </a:pPr>
            <a:endParaRPr lang="en-US" dirty="0" smtClean="0"/>
          </a:p>
          <a:p>
            <a:pPr>
              <a:buNone/>
            </a:pPr>
            <a:r>
              <a:rPr lang="en-US" b="1" dirty="0" smtClean="0"/>
              <a:t>d) Many-to-Many (M:N)</a:t>
            </a:r>
          </a:p>
          <a:p>
            <a:pPr>
              <a:buNone/>
            </a:pPr>
            <a:r>
              <a:rPr lang="en-US" dirty="0" smtClean="0"/>
              <a:t>Students can enroll in many courses, and each course can have many students.</a:t>
            </a:r>
          </a:p>
          <a:p>
            <a:pPr>
              <a:buNone/>
            </a:pPr>
            <a:r>
              <a:rPr lang="en-US" dirty="0" smtClean="0"/>
              <a:t>Student -------- Course </a:t>
            </a:r>
          </a:p>
          <a:p>
            <a:endParaRPr lang="en-US" dirty="0"/>
          </a:p>
        </p:txBody>
      </p:sp>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667512"/>
          </a:xfrm>
        </p:spPr>
        <p:txBody>
          <a:bodyPr>
            <a:normAutofit/>
          </a:bodyPr>
          <a:lstStyle/>
          <a:p>
            <a:r>
              <a:rPr lang="en-US" sz="3200" b="1" dirty="0" smtClean="0"/>
              <a:t>5. Participation Constraints</a:t>
            </a:r>
            <a:endParaRPr lang="en-US" sz="3200" dirty="0"/>
          </a:p>
        </p:txBody>
      </p:sp>
      <p:sp>
        <p:nvSpPr>
          <p:cNvPr id="3" name="Content Placeholder 2"/>
          <p:cNvSpPr>
            <a:spLocks noGrp="1"/>
          </p:cNvSpPr>
          <p:nvPr>
            <p:ph idx="1"/>
          </p:nvPr>
        </p:nvSpPr>
        <p:spPr/>
        <p:txBody>
          <a:bodyPr>
            <a:normAutofit fontScale="92500" lnSpcReduction="10000"/>
          </a:bodyPr>
          <a:lstStyle/>
          <a:p>
            <a:pPr>
              <a:buNone/>
            </a:pPr>
            <a:r>
              <a:rPr lang="en-US" b="1" dirty="0" smtClean="0">
                <a:solidFill>
                  <a:schemeClr val="accent6">
                    <a:lumMod val="75000"/>
                  </a:schemeClr>
                </a:solidFill>
              </a:rPr>
              <a:t>Total Participation</a:t>
            </a:r>
          </a:p>
          <a:p>
            <a:pPr>
              <a:buNone/>
            </a:pPr>
            <a:r>
              <a:rPr lang="en-US" dirty="0" smtClean="0"/>
              <a:t>Every entity must participate in the relationship.</a:t>
            </a:r>
          </a:p>
          <a:p>
            <a:pPr>
              <a:buNone/>
            </a:pPr>
            <a:r>
              <a:rPr lang="en-US" b="1" dirty="0" smtClean="0"/>
              <a:t>Example:</a:t>
            </a:r>
            <a:r>
              <a:rPr lang="en-US" dirty="0" smtClean="0"/>
              <a:t/>
            </a:r>
            <a:br>
              <a:rPr lang="en-US" dirty="0" smtClean="0"/>
            </a:br>
            <a:r>
              <a:rPr lang="en-US" dirty="0" smtClean="0"/>
              <a:t>Every employee must belong to a department.</a:t>
            </a:r>
          </a:p>
          <a:p>
            <a:pPr>
              <a:buNone/>
            </a:pPr>
            <a:r>
              <a:rPr lang="en-US" dirty="0" smtClean="0"/>
              <a:t>	Represented by a </a:t>
            </a:r>
            <a:r>
              <a:rPr lang="en-US" b="1" dirty="0" smtClean="0">
                <a:solidFill>
                  <a:srgbClr val="00B050"/>
                </a:solidFill>
              </a:rPr>
              <a:t>double line</a:t>
            </a:r>
            <a:r>
              <a:rPr lang="en-US" dirty="0" smtClean="0"/>
              <a:t>.</a:t>
            </a:r>
          </a:p>
          <a:p>
            <a:endParaRPr lang="en-US" b="1" dirty="0" smtClean="0"/>
          </a:p>
          <a:p>
            <a:pPr>
              <a:buNone/>
            </a:pPr>
            <a:r>
              <a:rPr lang="en-US" b="1" dirty="0" smtClean="0">
                <a:solidFill>
                  <a:schemeClr val="accent6">
                    <a:lumMod val="75000"/>
                  </a:schemeClr>
                </a:solidFill>
              </a:rPr>
              <a:t>Partial Participation</a:t>
            </a:r>
          </a:p>
          <a:p>
            <a:pPr>
              <a:buNone/>
            </a:pPr>
            <a:r>
              <a:rPr lang="en-US" dirty="0" smtClean="0"/>
              <a:t>Participation is optional.</a:t>
            </a:r>
          </a:p>
          <a:p>
            <a:pPr>
              <a:buNone/>
            </a:pPr>
            <a:r>
              <a:rPr lang="en-US" dirty="0" smtClean="0"/>
              <a:t>Example:</a:t>
            </a:r>
            <a:br>
              <a:rPr lang="en-US" dirty="0" smtClean="0"/>
            </a:br>
            <a:r>
              <a:rPr lang="en-US" dirty="0" smtClean="0"/>
              <a:t>Not every employee is assigned a company car.</a:t>
            </a:r>
          </a:p>
          <a:p>
            <a:pPr>
              <a:buNone/>
            </a:pPr>
            <a:r>
              <a:rPr lang="en-US" dirty="0" smtClean="0"/>
              <a:t>	Represented by a </a:t>
            </a:r>
            <a:r>
              <a:rPr lang="en-US" b="1" dirty="0" smtClean="0">
                <a:solidFill>
                  <a:srgbClr val="00B050"/>
                </a:solidFill>
              </a:rPr>
              <a:t>single line</a:t>
            </a:r>
            <a:r>
              <a:rPr lang="en-US" dirty="0" smtClean="0">
                <a:solidFill>
                  <a:srgbClr val="00B050"/>
                </a:solidFill>
              </a:rPr>
              <a:t>.</a:t>
            </a:r>
          </a:p>
          <a:p>
            <a:endParaRPr lang="en-US" dirty="0"/>
          </a:p>
        </p:txBody>
      </p:sp>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What is a Strong Entity Set?</a:t>
            </a:r>
            <a:endParaRPr lang="en-US" dirty="0"/>
          </a:p>
        </p:txBody>
      </p:sp>
      <p:sp>
        <p:nvSpPr>
          <p:cNvPr id="3" name="Content Placeholder 2"/>
          <p:cNvSpPr>
            <a:spLocks noGrp="1"/>
          </p:cNvSpPr>
          <p:nvPr>
            <p:ph idx="1"/>
          </p:nvPr>
        </p:nvSpPr>
        <p:spPr/>
        <p:txBody>
          <a:bodyPr/>
          <a:lstStyle/>
          <a:p>
            <a:r>
              <a:rPr lang="en-US" dirty="0" smtClean="0"/>
              <a:t>A Strong Entity Set is an entity set that has its own primary key and can be uniquely identified without depending on any other entity.</a:t>
            </a:r>
          </a:p>
          <a:p>
            <a:endParaRPr lang="en-US" dirty="0" smtClean="0"/>
          </a:p>
          <a:p>
            <a:r>
              <a:rPr lang="en-US" dirty="0" smtClean="0"/>
              <a:t>A strong entity set is an entity that has a primary key and can exist independently.</a:t>
            </a:r>
          </a:p>
          <a:p>
            <a:endParaRPr lang="en-US" dirty="0"/>
          </a:p>
        </p:txBody>
      </p:sp>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Characteristics of a Strong Entity Set</a:t>
            </a:r>
            <a:endParaRPr lang="en-US" dirty="0"/>
          </a:p>
        </p:txBody>
      </p:sp>
      <p:sp>
        <p:nvSpPr>
          <p:cNvPr id="3" name="Content Placeholder 2"/>
          <p:cNvSpPr>
            <a:spLocks noGrp="1"/>
          </p:cNvSpPr>
          <p:nvPr>
            <p:ph idx="1"/>
          </p:nvPr>
        </p:nvSpPr>
        <p:spPr/>
        <p:txBody>
          <a:bodyPr/>
          <a:lstStyle/>
          <a:p>
            <a:r>
              <a:rPr lang="en-US" dirty="0" smtClean="0"/>
              <a:t>Has its own Primary Key. </a:t>
            </a:r>
          </a:p>
          <a:p>
            <a:r>
              <a:rPr lang="en-US" dirty="0" smtClean="0"/>
              <a:t>Can exist independently. </a:t>
            </a:r>
          </a:p>
          <a:p>
            <a:r>
              <a:rPr lang="en-US" dirty="0" smtClean="0"/>
              <a:t>Does not depend on another entity. </a:t>
            </a:r>
          </a:p>
          <a:p>
            <a:r>
              <a:rPr lang="en-US" dirty="0" smtClean="0"/>
              <a:t>Represented by a single rectangle in an ER diagram.</a:t>
            </a:r>
          </a:p>
          <a:p>
            <a:endParaRPr lang="en-US" dirty="0"/>
          </a:p>
        </p:txBody>
      </p:sp>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US" dirty="0"/>
          </a:p>
        </p:txBody>
      </p:sp>
      <p:sp>
        <p:nvSpPr>
          <p:cNvPr id="3" name="Content Placeholder 2"/>
          <p:cNvSpPr>
            <a:spLocks noGrp="1"/>
          </p:cNvSpPr>
          <p:nvPr>
            <p:ph idx="1"/>
          </p:nvPr>
        </p:nvSpPr>
        <p:spPr/>
        <p:txBody>
          <a:bodyPr/>
          <a:lstStyle/>
          <a:p>
            <a:r>
              <a:rPr lang="en-US" dirty="0" smtClean="0"/>
              <a:t>Since </a:t>
            </a:r>
            <a:r>
              <a:rPr lang="en-US" dirty="0" err="1" smtClean="0"/>
              <a:t>Student_ID</a:t>
            </a:r>
            <a:r>
              <a:rPr lang="en-US" dirty="0" smtClean="0"/>
              <a:t> is sufficient to identify every student,</a:t>
            </a:r>
          </a:p>
          <a:p>
            <a:r>
              <a:rPr lang="en-US" b="1" dirty="0" smtClean="0"/>
              <a:t>Student is a Strong Entity Set.</a:t>
            </a:r>
            <a:endParaRPr lang="en-US" dirty="0" smtClean="0"/>
          </a:p>
          <a:p>
            <a:endParaRPr lang="en-US" dirty="0"/>
          </a:p>
        </p:txBody>
      </p:sp>
      <p:graphicFrame>
        <p:nvGraphicFramePr>
          <p:cNvPr id="4" name="Table 3"/>
          <p:cNvGraphicFramePr>
            <a:graphicFrameLocks noGrp="1"/>
          </p:cNvGraphicFramePr>
          <p:nvPr/>
        </p:nvGraphicFramePr>
        <p:xfrm>
          <a:off x="1752600" y="3429000"/>
          <a:ext cx="5486400" cy="1483360"/>
        </p:xfrm>
        <a:graphic>
          <a:graphicData uri="http://schemas.openxmlformats.org/drawingml/2006/table">
            <a:tbl>
              <a:tblPr firstRow="1" bandRow="1">
                <a:tableStyleId>{5C22544A-7EE6-4342-B048-85BDC9FD1C3A}</a:tableStyleId>
              </a:tblPr>
              <a:tblGrid>
                <a:gridCol w="1828800"/>
                <a:gridCol w="1828800"/>
                <a:gridCol w="1828800"/>
              </a:tblGrid>
              <a:tr h="370840">
                <a:tc>
                  <a:txBody>
                    <a:bodyPr/>
                    <a:lstStyle/>
                    <a:p>
                      <a:r>
                        <a:rPr lang="en-US" dirty="0" err="1"/>
                        <a:t>Student_ID</a:t>
                      </a:r>
                      <a:endParaRPr lang="en-US" dirty="0"/>
                    </a:p>
                  </a:txBody>
                  <a:tcPr anchor="ctr"/>
                </a:tc>
                <a:tc>
                  <a:txBody>
                    <a:bodyPr/>
                    <a:lstStyle/>
                    <a:p>
                      <a:r>
                        <a:rPr lang="en-US" dirty="0"/>
                        <a:t>Name</a:t>
                      </a:r>
                    </a:p>
                  </a:txBody>
                  <a:tcPr anchor="ctr"/>
                </a:tc>
                <a:tc>
                  <a:txBody>
                    <a:bodyPr/>
                    <a:lstStyle/>
                    <a:p>
                      <a:r>
                        <a:rPr lang="en-US"/>
                        <a:t>Branch</a:t>
                      </a:r>
                    </a:p>
                  </a:txBody>
                  <a:tcPr anchor="ctr"/>
                </a:tc>
              </a:tr>
              <a:tr h="370840">
                <a:tc>
                  <a:txBody>
                    <a:bodyPr/>
                    <a:lstStyle/>
                    <a:p>
                      <a:r>
                        <a:rPr lang="en-US"/>
                        <a:t>101</a:t>
                      </a:r>
                    </a:p>
                  </a:txBody>
                  <a:tcPr anchor="ctr"/>
                </a:tc>
                <a:tc>
                  <a:txBody>
                    <a:bodyPr/>
                    <a:lstStyle/>
                    <a:p>
                      <a:r>
                        <a:rPr lang="en-US"/>
                        <a:t>Rahul</a:t>
                      </a:r>
                    </a:p>
                  </a:txBody>
                  <a:tcPr anchor="ctr"/>
                </a:tc>
                <a:tc>
                  <a:txBody>
                    <a:bodyPr/>
                    <a:lstStyle/>
                    <a:p>
                      <a:r>
                        <a:rPr lang="en-US"/>
                        <a:t>CSE</a:t>
                      </a:r>
                    </a:p>
                  </a:txBody>
                  <a:tcPr anchor="ctr"/>
                </a:tc>
              </a:tr>
              <a:tr h="370840">
                <a:tc>
                  <a:txBody>
                    <a:bodyPr/>
                    <a:lstStyle/>
                    <a:p>
                      <a:r>
                        <a:rPr lang="en-US"/>
                        <a:t>102</a:t>
                      </a:r>
                    </a:p>
                  </a:txBody>
                  <a:tcPr anchor="ctr"/>
                </a:tc>
                <a:tc>
                  <a:txBody>
                    <a:bodyPr/>
                    <a:lstStyle/>
                    <a:p>
                      <a:r>
                        <a:rPr lang="en-US"/>
                        <a:t>Anita</a:t>
                      </a:r>
                    </a:p>
                  </a:txBody>
                  <a:tcPr anchor="ctr"/>
                </a:tc>
                <a:tc>
                  <a:txBody>
                    <a:bodyPr/>
                    <a:lstStyle/>
                    <a:p>
                      <a:r>
                        <a:rPr lang="en-US"/>
                        <a:t>ECE</a:t>
                      </a:r>
                    </a:p>
                  </a:txBody>
                  <a:tcPr anchor="ctr"/>
                </a:tc>
              </a:tr>
              <a:tr h="370840">
                <a:tc>
                  <a:txBody>
                    <a:bodyPr/>
                    <a:lstStyle/>
                    <a:p>
                      <a:r>
                        <a:rPr lang="en-US"/>
                        <a:t>103</a:t>
                      </a:r>
                    </a:p>
                  </a:txBody>
                  <a:tcPr anchor="ctr"/>
                </a:tc>
                <a:tc>
                  <a:txBody>
                    <a:bodyPr/>
                    <a:lstStyle/>
                    <a:p>
                      <a:r>
                        <a:rPr lang="en-US"/>
                        <a:t>Mohit</a:t>
                      </a:r>
                    </a:p>
                  </a:txBody>
                  <a:tcPr anchor="ctr"/>
                </a:tc>
                <a:tc>
                  <a:txBody>
                    <a:bodyPr/>
                    <a:lstStyle/>
                    <a:p>
                      <a:r>
                        <a:rPr lang="en-US" dirty="0"/>
                        <a:t>AI</a:t>
                      </a:r>
                    </a:p>
                  </a:txBody>
                  <a:tcPr anchor="ctr"/>
                </a:tc>
              </a:tr>
            </a:tbl>
          </a:graphicData>
        </a:graphic>
      </p:graphicFrame>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What is a Weak Entity Set?</a:t>
            </a:r>
            <a:endParaRPr lang="en-US" dirty="0"/>
          </a:p>
        </p:txBody>
      </p:sp>
      <p:sp>
        <p:nvSpPr>
          <p:cNvPr id="3" name="Content Placeholder 2"/>
          <p:cNvSpPr>
            <a:spLocks noGrp="1"/>
          </p:cNvSpPr>
          <p:nvPr>
            <p:ph idx="1"/>
          </p:nvPr>
        </p:nvSpPr>
        <p:spPr/>
        <p:txBody>
          <a:bodyPr>
            <a:normAutofit/>
          </a:bodyPr>
          <a:lstStyle/>
          <a:p>
            <a:r>
              <a:rPr lang="en-US" dirty="0" smtClean="0"/>
              <a:t>A Weak Entity Set is an entity that does not have enough attributes to form its own primary key. It depends on another (strong) entity for identification and existence.</a:t>
            </a:r>
          </a:p>
          <a:p>
            <a:endParaRPr lang="en-US" dirty="0" smtClean="0"/>
          </a:p>
          <a:p>
            <a:r>
              <a:rPr lang="en-US" dirty="0" smtClean="0"/>
              <a:t>A weak entity set is an entity that cannot be uniquely identified by its own attributes and depends on a strong entity for its identification.</a:t>
            </a:r>
          </a:p>
          <a:p>
            <a:endParaRPr lang="en-US" dirty="0"/>
          </a:p>
        </p:txBody>
      </p:sp>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Characteristics of a Weak Entity Set</a:t>
            </a:r>
            <a:endParaRPr lang="en-US" dirty="0"/>
          </a:p>
        </p:txBody>
      </p:sp>
      <p:sp>
        <p:nvSpPr>
          <p:cNvPr id="3" name="Content Placeholder 2"/>
          <p:cNvSpPr>
            <a:spLocks noGrp="1"/>
          </p:cNvSpPr>
          <p:nvPr>
            <p:ph idx="1"/>
          </p:nvPr>
        </p:nvSpPr>
        <p:spPr/>
        <p:txBody>
          <a:bodyPr/>
          <a:lstStyle/>
          <a:p>
            <a:r>
              <a:rPr lang="en-US" dirty="0" smtClean="0"/>
              <a:t>Has no complete primary key. </a:t>
            </a:r>
          </a:p>
          <a:p>
            <a:r>
              <a:rPr lang="en-US" dirty="0" smtClean="0"/>
              <a:t>Depends on a strong entity. </a:t>
            </a:r>
          </a:p>
          <a:p>
            <a:r>
              <a:rPr lang="en-US" dirty="0" smtClean="0"/>
              <a:t>Cannot exist independently. </a:t>
            </a:r>
          </a:p>
          <a:p>
            <a:r>
              <a:rPr lang="en-US" dirty="0" smtClean="0"/>
              <a:t>Uses a partial key (discriminator) together with the strong entity's key. </a:t>
            </a:r>
          </a:p>
          <a:p>
            <a:r>
              <a:rPr lang="en-US" dirty="0" smtClean="0"/>
              <a:t>Represented by a double rectangle in an ER diagram.</a:t>
            </a:r>
            <a:endParaRPr lang="en-US" dirty="0"/>
          </a:p>
        </p:txBody>
      </p:sp>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Example : Employee and Dependent</a:t>
            </a:r>
            <a:br>
              <a:rPr lang="en-US" b="1" dirty="0" smtClean="0"/>
            </a:br>
            <a:endParaRPr lang="en-US" dirty="0"/>
          </a:p>
        </p:txBody>
      </p:sp>
      <p:sp>
        <p:nvSpPr>
          <p:cNvPr id="3" name="Content Placeholder 2"/>
          <p:cNvSpPr>
            <a:spLocks noGrp="1"/>
          </p:cNvSpPr>
          <p:nvPr>
            <p:ph idx="1"/>
          </p:nvPr>
        </p:nvSpPr>
        <p:spPr>
          <a:xfrm>
            <a:off x="457200" y="990600"/>
            <a:ext cx="8229600" cy="5135563"/>
          </a:xfrm>
        </p:spPr>
        <p:txBody>
          <a:bodyPr>
            <a:normAutofit/>
          </a:bodyPr>
          <a:lstStyle/>
          <a:p>
            <a:r>
              <a:rPr lang="en-US" sz="2000" dirty="0" smtClean="0"/>
              <a:t>Suppose an employee has family members.</a:t>
            </a:r>
          </a:p>
          <a:p>
            <a:pPr>
              <a:buNone/>
            </a:pPr>
            <a:r>
              <a:rPr lang="en-US" sz="2000" b="1" dirty="0" smtClean="0"/>
              <a:t>Employee (Strong Entity)</a:t>
            </a:r>
          </a:p>
          <a:p>
            <a:pPr lvl="1">
              <a:buNone/>
            </a:pPr>
            <a:r>
              <a:rPr lang="en-US" sz="2000" dirty="0" err="1" smtClean="0"/>
              <a:t>Employee_ID</a:t>
            </a:r>
            <a:r>
              <a:rPr lang="en-US" sz="2000" dirty="0" smtClean="0"/>
              <a:t> (PK)</a:t>
            </a:r>
          </a:p>
          <a:p>
            <a:pPr lvl="1">
              <a:buNone/>
            </a:pPr>
            <a:r>
              <a:rPr lang="en-US" sz="2000" dirty="0" smtClean="0"/>
              <a:t>Name</a:t>
            </a:r>
          </a:p>
          <a:p>
            <a:pPr lvl="1">
              <a:buNone/>
            </a:pPr>
            <a:r>
              <a:rPr lang="en-US" sz="2000" dirty="0" smtClean="0"/>
              <a:t>Department</a:t>
            </a:r>
          </a:p>
          <a:p>
            <a:pPr lvl="1">
              <a:buNone/>
            </a:pPr>
            <a:r>
              <a:rPr lang="en-US" sz="2000" dirty="0" smtClean="0"/>
              <a:t>Salary</a:t>
            </a:r>
          </a:p>
          <a:p>
            <a:pPr>
              <a:buNone/>
            </a:pPr>
            <a:r>
              <a:rPr lang="en-US" sz="2000" b="1" dirty="0" smtClean="0"/>
              <a:t>Dependent (Weak Entity)</a:t>
            </a:r>
          </a:p>
          <a:p>
            <a:pPr lvl="1">
              <a:buNone/>
            </a:pPr>
            <a:r>
              <a:rPr lang="en-US" sz="2000" dirty="0" err="1" smtClean="0"/>
              <a:t>Dependent_Name</a:t>
            </a:r>
            <a:endParaRPr lang="en-US" sz="2000" dirty="0" smtClean="0"/>
          </a:p>
          <a:p>
            <a:pPr lvl="1">
              <a:buNone/>
            </a:pPr>
            <a:r>
              <a:rPr lang="en-US" sz="2000" dirty="0" smtClean="0"/>
              <a:t>Age</a:t>
            </a:r>
          </a:p>
          <a:p>
            <a:pPr lvl="1">
              <a:buNone/>
            </a:pPr>
            <a:r>
              <a:rPr lang="en-US" sz="2000" dirty="0" smtClean="0"/>
              <a:t>Relation</a:t>
            </a:r>
          </a:p>
          <a:p>
            <a:endParaRPr lang="en-US" sz="2000" dirty="0"/>
          </a:p>
        </p:txBody>
      </p:sp>
      <p:graphicFrame>
        <p:nvGraphicFramePr>
          <p:cNvPr id="4" name="Table 3"/>
          <p:cNvGraphicFramePr>
            <a:graphicFrameLocks noGrp="1"/>
          </p:cNvGraphicFramePr>
          <p:nvPr/>
        </p:nvGraphicFramePr>
        <p:xfrm>
          <a:off x="1600200" y="4876800"/>
          <a:ext cx="6172200" cy="1381760"/>
        </p:xfrm>
        <a:graphic>
          <a:graphicData uri="http://schemas.openxmlformats.org/drawingml/2006/table">
            <a:tbl>
              <a:tblPr firstRow="1" bandRow="1">
                <a:tableStyleId>{5C22544A-7EE6-4342-B048-85BDC9FD1C3A}</a:tableStyleId>
              </a:tblPr>
              <a:tblGrid>
                <a:gridCol w="2057400"/>
                <a:gridCol w="2057400"/>
                <a:gridCol w="2057400"/>
              </a:tblGrid>
              <a:tr h="142240">
                <a:tc>
                  <a:txBody>
                    <a:bodyPr/>
                    <a:lstStyle/>
                    <a:p>
                      <a:r>
                        <a:rPr lang="en-US" dirty="0" err="1"/>
                        <a:t>Employee_ID</a:t>
                      </a:r>
                      <a:endParaRPr lang="en-US" dirty="0"/>
                    </a:p>
                  </a:txBody>
                  <a:tcPr anchor="ctr"/>
                </a:tc>
                <a:tc>
                  <a:txBody>
                    <a:bodyPr/>
                    <a:lstStyle/>
                    <a:p>
                      <a:r>
                        <a:rPr lang="en-US" dirty="0"/>
                        <a:t>Employee</a:t>
                      </a:r>
                    </a:p>
                  </a:txBody>
                  <a:tcPr anchor="ctr"/>
                </a:tc>
                <a:tc>
                  <a:txBody>
                    <a:bodyPr/>
                    <a:lstStyle/>
                    <a:p>
                      <a:r>
                        <a:rPr lang="en-US"/>
                        <a:t>Dependent_Name</a:t>
                      </a:r>
                    </a:p>
                  </a:txBody>
                  <a:tcPr anchor="ctr"/>
                </a:tc>
              </a:tr>
              <a:tr h="370840">
                <a:tc>
                  <a:txBody>
                    <a:bodyPr/>
                    <a:lstStyle/>
                    <a:p>
                      <a:r>
                        <a:rPr lang="en-US"/>
                        <a:t>101</a:t>
                      </a:r>
                    </a:p>
                  </a:txBody>
                  <a:tcPr anchor="ctr"/>
                </a:tc>
                <a:tc>
                  <a:txBody>
                    <a:bodyPr/>
                    <a:lstStyle/>
                    <a:p>
                      <a:r>
                        <a:rPr lang="en-US"/>
                        <a:t>Rahul</a:t>
                      </a:r>
                    </a:p>
                  </a:txBody>
                  <a:tcPr anchor="ctr"/>
                </a:tc>
                <a:tc>
                  <a:txBody>
                    <a:bodyPr/>
                    <a:lstStyle/>
                    <a:p>
                      <a:r>
                        <a:rPr lang="en-US"/>
                        <a:t>Riya</a:t>
                      </a:r>
                    </a:p>
                  </a:txBody>
                  <a:tcPr anchor="ctr"/>
                </a:tc>
              </a:tr>
              <a:tr h="370840">
                <a:tc>
                  <a:txBody>
                    <a:bodyPr/>
                    <a:lstStyle/>
                    <a:p>
                      <a:r>
                        <a:rPr lang="en-US"/>
                        <a:t>102</a:t>
                      </a:r>
                    </a:p>
                  </a:txBody>
                  <a:tcPr anchor="ctr"/>
                </a:tc>
                <a:tc>
                  <a:txBody>
                    <a:bodyPr/>
                    <a:lstStyle/>
                    <a:p>
                      <a:r>
                        <a:rPr lang="en-US" dirty="0" err="1"/>
                        <a:t>Amit</a:t>
                      </a:r>
                      <a:endParaRPr lang="en-US" dirty="0"/>
                    </a:p>
                  </a:txBody>
                  <a:tcPr anchor="ctr"/>
                </a:tc>
                <a:tc>
                  <a:txBody>
                    <a:bodyPr/>
                    <a:lstStyle/>
                    <a:p>
                      <a:r>
                        <a:rPr lang="en-US" dirty="0" err="1"/>
                        <a:t>Riya</a:t>
                      </a:r>
                      <a:endParaRPr lang="en-US" dirty="0"/>
                    </a:p>
                  </a:txBody>
                  <a:tcPr anchor="ctr"/>
                </a:tc>
              </a:tr>
            </a:tbl>
          </a:graphicData>
        </a:graphic>
      </p:graphicFrame>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Identifying Relationship</a:t>
            </a:r>
            <a:endParaRPr lang="en-US" dirty="0"/>
          </a:p>
        </p:txBody>
      </p:sp>
      <p:sp>
        <p:nvSpPr>
          <p:cNvPr id="3" name="Content Placeholder 2"/>
          <p:cNvSpPr>
            <a:spLocks noGrp="1"/>
          </p:cNvSpPr>
          <p:nvPr>
            <p:ph idx="1"/>
          </p:nvPr>
        </p:nvSpPr>
        <p:spPr/>
        <p:txBody>
          <a:bodyPr>
            <a:normAutofit/>
          </a:bodyPr>
          <a:lstStyle/>
          <a:p>
            <a:r>
              <a:rPr lang="en-US" sz="2400" dirty="0" smtClean="0"/>
              <a:t>The relationship connecting a weak entity to its owner (strong entity) is called the Identifying Relationship.</a:t>
            </a:r>
          </a:p>
          <a:p>
            <a:endParaRPr lang="en-US" sz="2400" dirty="0" smtClean="0"/>
          </a:p>
          <a:p>
            <a:r>
              <a:rPr lang="en-US" sz="2400" dirty="0" smtClean="0"/>
              <a:t>It is represented by a double diamond.</a:t>
            </a:r>
          </a:p>
          <a:p>
            <a:endParaRPr lang="en-US" sz="2400" dirty="0" smtClean="0"/>
          </a:p>
          <a:p>
            <a:r>
              <a:rPr lang="en-US" sz="2400" dirty="0" smtClean="0"/>
              <a:t>The identifying relationship ensures that every dependent belongs to an employee.</a:t>
            </a:r>
          </a:p>
          <a:p>
            <a:endParaRPr lang="en-US" sz="2400" dirty="0"/>
          </a:p>
        </p:txBody>
      </p:sp>
    </p:spTree>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Partial Key (Discriminator)</a:t>
            </a:r>
            <a:endParaRPr lang="en-US" dirty="0"/>
          </a:p>
        </p:txBody>
      </p:sp>
      <p:sp>
        <p:nvSpPr>
          <p:cNvPr id="3" name="Content Placeholder 2"/>
          <p:cNvSpPr>
            <a:spLocks noGrp="1"/>
          </p:cNvSpPr>
          <p:nvPr>
            <p:ph idx="1"/>
          </p:nvPr>
        </p:nvSpPr>
        <p:spPr/>
        <p:txBody>
          <a:bodyPr>
            <a:normAutofit fontScale="85000" lnSpcReduction="10000"/>
          </a:bodyPr>
          <a:lstStyle/>
          <a:p>
            <a:pPr>
              <a:buNone/>
            </a:pPr>
            <a:r>
              <a:rPr lang="en-US" dirty="0" smtClean="0"/>
              <a:t>	A partial key is an attribute of a weak entity that distinguishes it within the context of its owner, but not globally.</a:t>
            </a:r>
          </a:p>
          <a:p>
            <a:pPr>
              <a:buNone/>
            </a:pPr>
            <a:endParaRPr lang="en-US" dirty="0" smtClean="0"/>
          </a:p>
          <a:p>
            <a:pPr>
              <a:buNone/>
            </a:pPr>
            <a:r>
              <a:rPr lang="en-US" dirty="0" smtClean="0"/>
              <a:t>	In the Dependent example:</a:t>
            </a:r>
          </a:p>
          <a:p>
            <a:pPr lvl="1"/>
            <a:r>
              <a:rPr lang="en-US" dirty="0" err="1" smtClean="0"/>
              <a:t>Dependent_Name</a:t>
            </a:r>
            <a:r>
              <a:rPr lang="en-US" dirty="0" smtClean="0"/>
              <a:t> is a partial key.</a:t>
            </a:r>
          </a:p>
          <a:p>
            <a:pPr>
              <a:buNone/>
            </a:pPr>
            <a:r>
              <a:rPr lang="en-US" dirty="0" smtClean="0"/>
              <a:t>	It is unique only for a particular employee.</a:t>
            </a:r>
          </a:p>
          <a:p>
            <a:pPr>
              <a:buNone/>
            </a:pPr>
            <a:endParaRPr lang="en-US" dirty="0" smtClean="0"/>
          </a:p>
          <a:p>
            <a:pPr>
              <a:buNone/>
            </a:pPr>
            <a:r>
              <a:rPr lang="en-US" dirty="0" smtClean="0"/>
              <a:t>	For example:</a:t>
            </a:r>
          </a:p>
          <a:p>
            <a:pPr lvl="1"/>
            <a:r>
              <a:rPr lang="en-US" dirty="0" smtClean="0"/>
              <a:t>Employee 101</a:t>
            </a:r>
          </a:p>
          <a:p>
            <a:pPr>
              <a:buNone/>
            </a:pPr>
            <a:r>
              <a:rPr lang="en-US" dirty="0" smtClean="0"/>
              <a:t>		</a:t>
            </a:r>
            <a:r>
              <a:rPr lang="en-US" dirty="0" err="1" smtClean="0"/>
              <a:t>Dependent_Name</a:t>
            </a:r>
            <a:endParaRPr lang="en-US" dirty="0" smtClean="0"/>
          </a:p>
          <a:p>
            <a:pPr>
              <a:buNone/>
            </a:pPr>
            <a:r>
              <a:rPr lang="en-US" dirty="0" smtClean="0"/>
              <a:t>			</a:t>
            </a:r>
            <a:r>
              <a:rPr lang="en-US" dirty="0" err="1" smtClean="0"/>
              <a:t>Riya</a:t>
            </a:r>
            <a:endParaRPr lang="en-US" dirty="0" smtClean="0"/>
          </a:p>
          <a:p>
            <a:pPr>
              <a:buNone/>
            </a:pPr>
            <a:r>
              <a:rPr lang="en-US" dirty="0" smtClean="0"/>
              <a:t>			</a:t>
            </a:r>
            <a:r>
              <a:rPr lang="en-US" dirty="0" err="1" smtClean="0"/>
              <a:t>Rohan</a:t>
            </a:r>
            <a:endParaRPr lang="en-US" dirty="0" smtClean="0"/>
          </a:p>
          <a:p>
            <a:endParaRPr lang="en-US" dirty="0"/>
          </a:p>
        </p:txBody>
      </p:sp>
    </p:spTree>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Grp="1" noChangeAspect="1" noChangeArrowheads="1"/>
          </p:cNvPicPr>
          <p:nvPr>
            <p:ph idx="1"/>
          </p:nvPr>
        </p:nvPicPr>
        <p:blipFill>
          <a:blip r:embed="rId2"/>
          <a:srcRect/>
          <a:stretch>
            <a:fillRect/>
          </a:stretch>
        </p:blipFill>
        <p:spPr bwMode="auto">
          <a:xfrm>
            <a:off x="1066800" y="990600"/>
            <a:ext cx="7010399" cy="54102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Grp="1" noChangeAspect="1" noChangeArrowheads="1"/>
          </p:cNvPicPr>
          <p:nvPr>
            <p:ph idx="1"/>
          </p:nvPr>
        </p:nvPicPr>
        <p:blipFill>
          <a:blip r:embed="rId2"/>
          <a:srcRect/>
          <a:stretch>
            <a:fillRect/>
          </a:stretch>
        </p:blipFill>
        <p:spPr bwMode="auto">
          <a:xfrm>
            <a:off x="838200" y="762000"/>
            <a:ext cx="7467600" cy="56388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Grp="1" noChangeAspect="1" noChangeArrowheads="1"/>
          </p:cNvPicPr>
          <p:nvPr>
            <p:ph idx="1"/>
          </p:nvPr>
        </p:nvPicPr>
        <p:blipFill>
          <a:blip r:embed="rId2"/>
          <a:srcRect/>
          <a:stretch>
            <a:fillRect/>
          </a:stretch>
        </p:blipFill>
        <p:spPr bwMode="auto">
          <a:xfrm>
            <a:off x="914400" y="838200"/>
            <a:ext cx="6934200" cy="5344319"/>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077200" cy="715962"/>
          </a:xfrm>
        </p:spPr>
        <p:txBody>
          <a:bodyPr>
            <a:normAutofit fontScale="90000"/>
          </a:bodyPr>
          <a:lstStyle/>
          <a:p>
            <a:r>
              <a:rPr lang="en-US" dirty="0" smtClean="0"/>
              <a:t>Example</a:t>
            </a:r>
            <a:endParaRPr lang="en-US" dirty="0"/>
          </a:p>
        </p:txBody>
      </p:sp>
      <p:pic>
        <p:nvPicPr>
          <p:cNvPr id="1026" name="Picture 2"/>
          <p:cNvPicPr>
            <a:picLocks noGrp="1" noChangeAspect="1" noChangeArrowheads="1"/>
          </p:cNvPicPr>
          <p:nvPr>
            <p:ph idx="1"/>
          </p:nvPr>
        </p:nvPicPr>
        <p:blipFill>
          <a:blip r:embed="rId2"/>
          <a:srcRect/>
          <a:stretch>
            <a:fillRect/>
          </a:stretch>
        </p:blipFill>
        <p:spPr bwMode="auto">
          <a:xfrm>
            <a:off x="576263" y="990600"/>
            <a:ext cx="7729537" cy="56388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Grp="1" noChangeAspect="1" noChangeArrowheads="1"/>
          </p:cNvPicPr>
          <p:nvPr>
            <p:ph idx="1"/>
          </p:nvPr>
        </p:nvPicPr>
        <p:blipFill>
          <a:blip r:embed="rId2"/>
          <a:srcRect/>
          <a:stretch>
            <a:fillRect/>
          </a:stretch>
        </p:blipFill>
        <p:spPr bwMode="auto">
          <a:xfrm>
            <a:off x="148827" y="535782"/>
            <a:ext cx="8385573" cy="5590382"/>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ERD_Symbols_and_Notations.png"/>
          <p:cNvPicPr>
            <a:picLocks noGrp="1" noChangeAspect="1"/>
          </p:cNvPicPr>
          <p:nvPr>
            <p:ph idx="1"/>
          </p:nvPr>
        </p:nvPicPr>
        <p:blipFill>
          <a:blip r:embed="rId2"/>
          <a:stretch>
            <a:fillRect/>
          </a:stretch>
        </p:blipFill>
        <p:spPr>
          <a:xfrm>
            <a:off x="1219200" y="685800"/>
            <a:ext cx="6095999" cy="5867399"/>
          </a:xfrm>
        </p:spPr>
      </p:pic>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Relational Model </a:t>
            </a:r>
            <a:endParaRPr lang="en-US" dirty="0"/>
          </a:p>
        </p:txBody>
      </p:sp>
      <p:sp>
        <p:nvSpPr>
          <p:cNvPr id="3" name="Content Placeholder 2"/>
          <p:cNvSpPr>
            <a:spLocks noGrp="1"/>
          </p:cNvSpPr>
          <p:nvPr>
            <p:ph idx="1"/>
          </p:nvPr>
        </p:nvSpPr>
        <p:spPr/>
        <p:txBody>
          <a:bodyPr>
            <a:normAutofit/>
          </a:bodyPr>
          <a:lstStyle/>
          <a:p>
            <a:r>
              <a:rPr lang="en-US" sz="2400" dirty="0" smtClean="0"/>
              <a:t>The </a:t>
            </a:r>
            <a:r>
              <a:rPr lang="en-US" sz="2400" b="1" dirty="0" smtClean="0"/>
              <a:t>Relational Model</a:t>
            </a:r>
            <a:r>
              <a:rPr lang="en-US" sz="2400" dirty="0" smtClean="0"/>
              <a:t> is a logical data model proposed by </a:t>
            </a:r>
            <a:r>
              <a:rPr lang="en-US" sz="2400" b="1" dirty="0" smtClean="0"/>
              <a:t>Dr. E. F. </a:t>
            </a:r>
            <a:r>
              <a:rPr lang="en-US" sz="2400" b="1" dirty="0" err="1" smtClean="0"/>
              <a:t>Codd</a:t>
            </a:r>
            <a:r>
              <a:rPr lang="en-US" sz="2400" b="1" dirty="0" smtClean="0"/>
              <a:t> in 1970</a:t>
            </a:r>
            <a:r>
              <a:rPr lang="en-US" sz="2400" dirty="0" smtClean="0"/>
              <a:t>. It organizes data into </a:t>
            </a:r>
            <a:r>
              <a:rPr lang="en-US" sz="2400" b="1" dirty="0" smtClean="0"/>
              <a:t>tables (called relations)</a:t>
            </a:r>
            <a:r>
              <a:rPr lang="en-US" sz="2400" dirty="0" smtClean="0"/>
              <a:t> consisting of </a:t>
            </a:r>
            <a:r>
              <a:rPr lang="en-US" sz="2400" b="1" dirty="0" smtClean="0"/>
              <a:t>rows (</a:t>
            </a:r>
            <a:r>
              <a:rPr lang="en-US" sz="2400" b="1" dirty="0" err="1" smtClean="0"/>
              <a:t>tuples</a:t>
            </a:r>
            <a:r>
              <a:rPr lang="en-US" sz="2400" b="1" dirty="0" smtClean="0"/>
              <a:t>)</a:t>
            </a:r>
            <a:r>
              <a:rPr lang="en-US" sz="2400" dirty="0" smtClean="0"/>
              <a:t> and </a:t>
            </a:r>
            <a:r>
              <a:rPr lang="en-US" sz="2400" b="1" dirty="0" smtClean="0"/>
              <a:t>columns (attributes)</a:t>
            </a:r>
            <a:r>
              <a:rPr lang="en-US" sz="2400" dirty="0" smtClean="0"/>
              <a:t>.</a:t>
            </a:r>
          </a:p>
          <a:p>
            <a:r>
              <a:rPr lang="en-US" sz="2400" dirty="0" smtClean="0"/>
              <a:t>Relationships between tables are established using </a:t>
            </a:r>
            <a:r>
              <a:rPr lang="en-US" sz="2400" b="1" dirty="0" smtClean="0"/>
              <a:t>primary keys</a:t>
            </a:r>
            <a:r>
              <a:rPr lang="en-US" sz="2400" dirty="0" smtClean="0"/>
              <a:t> and </a:t>
            </a:r>
            <a:r>
              <a:rPr lang="en-US" sz="2400" b="1" dirty="0" smtClean="0"/>
              <a:t>foreign keys</a:t>
            </a:r>
            <a:r>
              <a:rPr lang="en-US" sz="2400" dirty="0" smtClean="0"/>
              <a:t>.</a:t>
            </a:r>
          </a:p>
          <a:p>
            <a:endParaRPr lang="en-US" sz="2400" dirty="0" smtClean="0"/>
          </a:p>
          <a:p>
            <a:pPr>
              <a:buNone/>
            </a:pPr>
            <a:r>
              <a:rPr lang="en-US" sz="2400" b="1" dirty="0" smtClean="0"/>
              <a:t>** </a:t>
            </a:r>
            <a:r>
              <a:rPr lang="en-US" sz="2400" dirty="0" smtClean="0">
                <a:solidFill>
                  <a:srgbClr val="FFC000"/>
                </a:solidFill>
              </a:rPr>
              <a:t>The relational model is a database model in which data is stored in the form of tables (relations), and relationships among tables are established using keys.</a:t>
            </a:r>
          </a:p>
          <a:p>
            <a:endParaRPr lang="en-US" sz="2400" dirty="0"/>
          </a:p>
        </p:txBody>
      </p:sp>
    </p:spTree>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219200"/>
            <a:ext cx="8229600" cy="5105400"/>
          </a:xfrm>
        </p:spPr>
        <p:txBody>
          <a:bodyPr>
            <a:normAutofit/>
          </a:bodyPr>
          <a:lstStyle/>
          <a:p>
            <a:pPr>
              <a:buNone/>
            </a:pPr>
            <a:r>
              <a:rPr lang="en-US" sz="2800" dirty="0" smtClean="0"/>
              <a:t>1. </a:t>
            </a:r>
            <a:r>
              <a:rPr lang="en-US" sz="2800" b="1" dirty="0" smtClean="0"/>
              <a:t>Relation (Table)</a:t>
            </a:r>
            <a:endParaRPr lang="en-US" sz="2600" dirty="0" smtClean="0"/>
          </a:p>
          <a:p>
            <a:r>
              <a:rPr lang="en-US" sz="2600" dirty="0" smtClean="0"/>
              <a:t>A </a:t>
            </a:r>
            <a:r>
              <a:rPr lang="en-US" sz="2600" b="1" dirty="0" smtClean="0"/>
              <a:t>relation</a:t>
            </a:r>
            <a:r>
              <a:rPr lang="en-US" sz="2600" dirty="0" smtClean="0"/>
              <a:t> is a table that stores data.</a:t>
            </a:r>
          </a:p>
          <a:p>
            <a:pPr>
              <a:buNone/>
            </a:pPr>
            <a:endParaRPr lang="en-US" sz="2600" dirty="0" smtClean="0"/>
          </a:p>
          <a:p>
            <a:pPr>
              <a:buNone/>
            </a:pPr>
            <a:r>
              <a:rPr lang="en-US" sz="2600" dirty="0" smtClean="0"/>
              <a:t>Example: </a:t>
            </a:r>
            <a:r>
              <a:rPr lang="en-US" sz="2600" b="1" dirty="0" smtClean="0"/>
              <a:t>STUDENT</a:t>
            </a:r>
            <a:endParaRPr lang="en-US" sz="2600" dirty="0" smtClean="0"/>
          </a:p>
          <a:p>
            <a:endParaRPr lang="en-US" sz="2600" dirty="0" smtClean="0"/>
          </a:p>
          <a:p>
            <a:endParaRPr lang="en-US" sz="2600" dirty="0" smtClean="0"/>
          </a:p>
          <a:p>
            <a:endParaRPr lang="en-US" sz="2600" dirty="0" smtClean="0"/>
          </a:p>
          <a:p>
            <a:endParaRPr lang="en-US" sz="2600" dirty="0" smtClean="0"/>
          </a:p>
          <a:p>
            <a:r>
              <a:rPr lang="en-US" sz="2600" dirty="0" smtClean="0"/>
              <a:t>Here, </a:t>
            </a:r>
            <a:r>
              <a:rPr lang="en-US" sz="2600" b="1" dirty="0" smtClean="0"/>
              <a:t>STUDENT</a:t>
            </a:r>
            <a:r>
              <a:rPr lang="en-US" sz="2600" dirty="0" smtClean="0"/>
              <a:t> is a relation.</a:t>
            </a:r>
          </a:p>
          <a:p>
            <a:endParaRPr lang="en-US" sz="2600" dirty="0"/>
          </a:p>
        </p:txBody>
      </p:sp>
      <p:graphicFrame>
        <p:nvGraphicFramePr>
          <p:cNvPr id="4" name="Table 3"/>
          <p:cNvGraphicFramePr>
            <a:graphicFrameLocks noGrp="1"/>
          </p:cNvGraphicFramePr>
          <p:nvPr/>
        </p:nvGraphicFramePr>
        <p:xfrm>
          <a:off x="1371600" y="3276600"/>
          <a:ext cx="6096000" cy="1112520"/>
        </p:xfrm>
        <a:graphic>
          <a:graphicData uri="http://schemas.openxmlformats.org/drawingml/2006/table">
            <a:tbl>
              <a:tblPr firstRow="1" bandRow="1">
                <a:tableStyleId>{5C22544A-7EE6-4342-B048-85BDC9FD1C3A}</a:tableStyleId>
              </a:tblPr>
              <a:tblGrid>
                <a:gridCol w="1524000"/>
                <a:gridCol w="1524000"/>
                <a:gridCol w="1524000"/>
                <a:gridCol w="1524000"/>
              </a:tblGrid>
              <a:tr h="370840">
                <a:tc>
                  <a:txBody>
                    <a:bodyPr/>
                    <a:lstStyle/>
                    <a:p>
                      <a:r>
                        <a:rPr lang="en-US" dirty="0" err="1"/>
                        <a:t>Roll_No</a:t>
                      </a:r>
                      <a:endParaRPr lang="en-US" dirty="0"/>
                    </a:p>
                  </a:txBody>
                  <a:tcPr anchor="ctr"/>
                </a:tc>
                <a:tc>
                  <a:txBody>
                    <a:bodyPr/>
                    <a:lstStyle/>
                    <a:p>
                      <a:r>
                        <a:rPr lang="en-US"/>
                        <a:t>Name</a:t>
                      </a:r>
                    </a:p>
                  </a:txBody>
                  <a:tcPr anchor="ctr"/>
                </a:tc>
                <a:tc>
                  <a:txBody>
                    <a:bodyPr/>
                    <a:lstStyle/>
                    <a:p>
                      <a:r>
                        <a:rPr lang="en-US"/>
                        <a:t>Age</a:t>
                      </a:r>
                    </a:p>
                  </a:txBody>
                  <a:tcPr anchor="ctr"/>
                </a:tc>
                <a:tc>
                  <a:txBody>
                    <a:bodyPr/>
                    <a:lstStyle/>
                    <a:p>
                      <a:r>
                        <a:rPr lang="en-US"/>
                        <a:t>Department</a:t>
                      </a:r>
                    </a:p>
                  </a:txBody>
                  <a:tcPr anchor="ctr"/>
                </a:tc>
              </a:tr>
              <a:tr h="370840">
                <a:tc>
                  <a:txBody>
                    <a:bodyPr/>
                    <a:lstStyle/>
                    <a:p>
                      <a:r>
                        <a:rPr lang="en-US"/>
                        <a:t>101</a:t>
                      </a:r>
                    </a:p>
                  </a:txBody>
                  <a:tcPr anchor="ctr"/>
                </a:tc>
                <a:tc>
                  <a:txBody>
                    <a:bodyPr/>
                    <a:lstStyle/>
                    <a:p>
                      <a:r>
                        <a:rPr lang="en-US"/>
                        <a:t>Rahul</a:t>
                      </a:r>
                    </a:p>
                  </a:txBody>
                  <a:tcPr anchor="ctr"/>
                </a:tc>
                <a:tc>
                  <a:txBody>
                    <a:bodyPr/>
                    <a:lstStyle/>
                    <a:p>
                      <a:r>
                        <a:rPr lang="en-US"/>
                        <a:t>20</a:t>
                      </a:r>
                    </a:p>
                  </a:txBody>
                  <a:tcPr anchor="ctr"/>
                </a:tc>
                <a:tc>
                  <a:txBody>
                    <a:bodyPr/>
                    <a:lstStyle/>
                    <a:p>
                      <a:r>
                        <a:rPr lang="en-US"/>
                        <a:t>CSE</a:t>
                      </a:r>
                    </a:p>
                  </a:txBody>
                  <a:tcPr anchor="ctr"/>
                </a:tc>
              </a:tr>
              <a:tr h="370840">
                <a:tc>
                  <a:txBody>
                    <a:bodyPr/>
                    <a:lstStyle/>
                    <a:p>
                      <a:r>
                        <a:rPr lang="en-US"/>
                        <a:t>102</a:t>
                      </a:r>
                    </a:p>
                  </a:txBody>
                  <a:tcPr anchor="ctr"/>
                </a:tc>
                <a:tc>
                  <a:txBody>
                    <a:bodyPr/>
                    <a:lstStyle/>
                    <a:p>
                      <a:r>
                        <a:rPr lang="en-US" dirty="0" err="1"/>
                        <a:t>Priya</a:t>
                      </a:r>
                      <a:endParaRPr lang="en-US" dirty="0"/>
                    </a:p>
                  </a:txBody>
                  <a:tcPr anchor="ctr"/>
                </a:tc>
                <a:tc>
                  <a:txBody>
                    <a:bodyPr/>
                    <a:lstStyle/>
                    <a:p>
                      <a:r>
                        <a:rPr lang="en-US"/>
                        <a:t>21</a:t>
                      </a:r>
                    </a:p>
                  </a:txBody>
                  <a:tcPr anchor="ctr"/>
                </a:tc>
                <a:tc>
                  <a:txBody>
                    <a:bodyPr/>
                    <a:lstStyle/>
                    <a:p>
                      <a:r>
                        <a:rPr lang="en-US" dirty="0"/>
                        <a:t>AI</a:t>
                      </a:r>
                    </a:p>
                  </a:txBody>
                  <a:tcPr anchor="ctr"/>
                </a:tc>
              </a:tr>
            </a:tbl>
          </a:graphicData>
        </a:graphic>
      </p:graphicFrame>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762000"/>
            <a:ext cx="8229600" cy="5364163"/>
          </a:xfrm>
        </p:spPr>
        <p:txBody>
          <a:bodyPr>
            <a:normAutofit fontScale="92500" lnSpcReduction="20000"/>
          </a:bodyPr>
          <a:lstStyle/>
          <a:p>
            <a:pPr>
              <a:buNone/>
            </a:pPr>
            <a:r>
              <a:rPr lang="en-US" b="1" dirty="0" smtClean="0"/>
              <a:t>2. Attribute (Column)</a:t>
            </a:r>
          </a:p>
          <a:p>
            <a:r>
              <a:rPr lang="en-US" dirty="0" smtClean="0"/>
              <a:t>An </a:t>
            </a:r>
            <a:r>
              <a:rPr lang="en-US" b="1" dirty="0" smtClean="0"/>
              <a:t>attribute</a:t>
            </a:r>
            <a:r>
              <a:rPr lang="en-US" dirty="0" smtClean="0"/>
              <a:t> is a column in a table that describes a property of an entity.</a:t>
            </a:r>
          </a:p>
          <a:p>
            <a:pPr>
              <a:buNone/>
            </a:pPr>
            <a:r>
              <a:rPr lang="en-US" dirty="0" smtClean="0"/>
              <a:t>Example: Attributes are:</a:t>
            </a:r>
          </a:p>
          <a:p>
            <a:pPr lvl="1"/>
            <a:r>
              <a:rPr lang="en-US" dirty="0" err="1" smtClean="0"/>
              <a:t>Roll_No</a:t>
            </a:r>
            <a:r>
              <a:rPr lang="en-US" dirty="0" smtClean="0"/>
              <a:t> </a:t>
            </a:r>
          </a:p>
          <a:p>
            <a:pPr lvl="1"/>
            <a:r>
              <a:rPr lang="en-US" dirty="0" smtClean="0"/>
              <a:t>Name </a:t>
            </a:r>
          </a:p>
          <a:p>
            <a:pPr lvl="1"/>
            <a:r>
              <a:rPr lang="en-US" dirty="0" smtClean="0"/>
              <a:t>Age </a:t>
            </a:r>
          </a:p>
          <a:p>
            <a:pPr lvl="1"/>
            <a:endParaRPr lang="en-US" dirty="0" smtClean="0"/>
          </a:p>
          <a:p>
            <a:pPr>
              <a:buNone/>
            </a:pPr>
            <a:r>
              <a:rPr lang="en-US" b="1" dirty="0" smtClean="0"/>
              <a:t>3. </a:t>
            </a:r>
            <a:r>
              <a:rPr lang="en-US" b="1" dirty="0" err="1" smtClean="0"/>
              <a:t>Tuple</a:t>
            </a:r>
            <a:r>
              <a:rPr lang="en-US" b="1" dirty="0" smtClean="0"/>
              <a:t> (Row)</a:t>
            </a:r>
          </a:p>
          <a:p>
            <a:r>
              <a:rPr lang="en-US" dirty="0" smtClean="0"/>
              <a:t>A </a:t>
            </a:r>
            <a:r>
              <a:rPr lang="en-US" b="1" dirty="0" err="1" smtClean="0"/>
              <a:t>tuple</a:t>
            </a:r>
            <a:r>
              <a:rPr lang="en-US" dirty="0" smtClean="0"/>
              <a:t> is a single row (record) in a table.</a:t>
            </a:r>
          </a:p>
          <a:p>
            <a:pPr>
              <a:buNone/>
            </a:pPr>
            <a:r>
              <a:rPr lang="en-US" dirty="0" smtClean="0"/>
              <a:t>Example:</a:t>
            </a:r>
          </a:p>
          <a:p>
            <a:pPr>
              <a:buNone/>
            </a:pPr>
            <a:endParaRPr lang="en-US" dirty="0" smtClean="0"/>
          </a:p>
          <a:p>
            <a:endParaRPr lang="en-US" dirty="0" smtClean="0"/>
          </a:p>
          <a:p>
            <a:endParaRPr lang="en-US" dirty="0" smtClean="0"/>
          </a:p>
          <a:p>
            <a:r>
              <a:rPr lang="en-US" dirty="0" smtClean="0"/>
              <a:t>This row is one </a:t>
            </a:r>
            <a:r>
              <a:rPr lang="en-US" dirty="0" err="1" smtClean="0"/>
              <a:t>tuple</a:t>
            </a:r>
            <a:r>
              <a:rPr lang="en-US" dirty="0" smtClean="0"/>
              <a:t>.</a:t>
            </a:r>
          </a:p>
          <a:p>
            <a:endParaRPr lang="en-US" dirty="0"/>
          </a:p>
        </p:txBody>
      </p:sp>
      <p:graphicFrame>
        <p:nvGraphicFramePr>
          <p:cNvPr id="4" name="Table 3"/>
          <p:cNvGraphicFramePr>
            <a:graphicFrameLocks noGrp="1"/>
          </p:cNvGraphicFramePr>
          <p:nvPr/>
        </p:nvGraphicFramePr>
        <p:xfrm>
          <a:off x="1295400" y="4724400"/>
          <a:ext cx="3657600" cy="741680"/>
        </p:xfrm>
        <a:graphic>
          <a:graphicData uri="http://schemas.openxmlformats.org/drawingml/2006/table">
            <a:tbl>
              <a:tblPr firstRow="1" bandRow="1">
                <a:tableStyleId>{5C22544A-7EE6-4342-B048-85BDC9FD1C3A}</a:tableStyleId>
              </a:tblPr>
              <a:tblGrid>
                <a:gridCol w="1219200"/>
                <a:gridCol w="1219200"/>
                <a:gridCol w="1219200"/>
              </a:tblGrid>
              <a:tr h="370840">
                <a:tc>
                  <a:txBody>
                    <a:bodyPr/>
                    <a:lstStyle/>
                    <a:p>
                      <a:r>
                        <a:rPr lang="en-US" dirty="0" err="1"/>
                        <a:t>Roll_No</a:t>
                      </a:r>
                      <a:endParaRPr lang="en-US" dirty="0"/>
                    </a:p>
                  </a:txBody>
                  <a:tcPr anchor="ctr"/>
                </a:tc>
                <a:tc>
                  <a:txBody>
                    <a:bodyPr/>
                    <a:lstStyle/>
                    <a:p>
                      <a:r>
                        <a:rPr lang="en-US"/>
                        <a:t>Name</a:t>
                      </a:r>
                    </a:p>
                  </a:txBody>
                  <a:tcPr anchor="ctr"/>
                </a:tc>
                <a:tc>
                  <a:txBody>
                    <a:bodyPr/>
                    <a:lstStyle/>
                    <a:p>
                      <a:r>
                        <a:rPr lang="en-US"/>
                        <a:t>Age</a:t>
                      </a:r>
                    </a:p>
                  </a:txBody>
                  <a:tcPr anchor="ctr"/>
                </a:tc>
              </a:tr>
              <a:tr h="370840">
                <a:tc>
                  <a:txBody>
                    <a:bodyPr/>
                    <a:lstStyle/>
                    <a:p>
                      <a:r>
                        <a:rPr lang="en-US" b="1"/>
                        <a:t>101</a:t>
                      </a:r>
                      <a:endParaRPr lang="en-US"/>
                    </a:p>
                  </a:txBody>
                  <a:tcPr anchor="ctr"/>
                </a:tc>
                <a:tc>
                  <a:txBody>
                    <a:bodyPr/>
                    <a:lstStyle/>
                    <a:p>
                      <a:r>
                        <a:rPr lang="en-US" b="1"/>
                        <a:t>Rahul</a:t>
                      </a:r>
                      <a:endParaRPr lang="en-US"/>
                    </a:p>
                  </a:txBody>
                  <a:tcPr anchor="ctr"/>
                </a:tc>
                <a:tc>
                  <a:txBody>
                    <a:bodyPr/>
                    <a:lstStyle/>
                    <a:p>
                      <a:r>
                        <a:rPr lang="en-US" b="1" dirty="0"/>
                        <a:t>20</a:t>
                      </a:r>
                      <a:endParaRPr lang="en-US" dirty="0"/>
                    </a:p>
                  </a:txBody>
                  <a:tcPr anchor="ctr"/>
                </a:tc>
              </a:tr>
            </a:tbl>
          </a:graphicData>
        </a:graphic>
      </p:graphicFrame>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762000"/>
            <a:ext cx="8229600" cy="5364163"/>
          </a:xfrm>
        </p:spPr>
        <p:txBody>
          <a:bodyPr>
            <a:normAutofit lnSpcReduction="10000"/>
          </a:bodyPr>
          <a:lstStyle/>
          <a:p>
            <a:pPr>
              <a:buNone/>
            </a:pPr>
            <a:r>
              <a:rPr lang="en-US" sz="2400" b="1" dirty="0" smtClean="0"/>
              <a:t>4. Domain</a:t>
            </a:r>
          </a:p>
          <a:p>
            <a:r>
              <a:rPr lang="en-US" sz="2400" dirty="0" smtClean="0"/>
              <a:t>A </a:t>
            </a:r>
            <a:r>
              <a:rPr lang="en-US" sz="2400" b="1" dirty="0" smtClean="0"/>
              <a:t>domain</a:t>
            </a:r>
            <a:r>
              <a:rPr lang="en-US" sz="2400" dirty="0" smtClean="0"/>
              <a:t> is the set of all possible valid values that an attribute can have.</a:t>
            </a:r>
          </a:p>
          <a:p>
            <a:pPr>
              <a:buNone/>
            </a:pPr>
            <a:r>
              <a:rPr lang="en-US" sz="2400" dirty="0" smtClean="0"/>
              <a:t>Example:</a:t>
            </a:r>
          </a:p>
          <a:p>
            <a:pPr>
              <a:buNone/>
            </a:pPr>
            <a:endParaRPr lang="en-US" sz="2400" dirty="0" smtClean="0"/>
          </a:p>
          <a:p>
            <a:pPr>
              <a:buNone/>
            </a:pPr>
            <a:endParaRPr lang="en-US" sz="2400" b="1" dirty="0" smtClean="0"/>
          </a:p>
          <a:p>
            <a:pPr>
              <a:buNone/>
            </a:pPr>
            <a:endParaRPr lang="en-US" sz="2400" b="1" dirty="0" smtClean="0"/>
          </a:p>
          <a:p>
            <a:pPr>
              <a:buNone/>
            </a:pPr>
            <a:r>
              <a:rPr lang="en-US" sz="2400" b="1" dirty="0" smtClean="0"/>
              <a:t>5. Degree</a:t>
            </a:r>
          </a:p>
          <a:p>
            <a:r>
              <a:rPr lang="en-US" sz="2400" dirty="0" smtClean="0"/>
              <a:t>The </a:t>
            </a:r>
            <a:r>
              <a:rPr lang="en-US" sz="2400" b="1" dirty="0" smtClean="0"/>
              <a:t>degree</a:t>
            </a:r>
            <a:r>
              <a:rPr lang="en-US" sz="2400" dirty="0" smtClean="0"/>
              <a:t> of a relation is the </a:t>
            </a:r>
            <a:r>
              <a:rPr lang="en-US" sz="2400" b="1" dirty="0" smtClean="0"/>
              <a:t>number of attributes (columns)</a:t>
            </a:r>
            <a:r>
              <a:rPr lang="en-US" sz="2400" dirty="0" smtClean="0"/>
              <a:t>.</a:t>
            </a:r>
          </a:p>
          <a:p>
            <a:pPr>
              <a:buNone/>
            </a:pPr>
            <a:r>
              <a:rPr lang="en-US" sz="2400" dirty="0" smtClean="0"/>
              <a:t>Example:</a:t>
            </a:r>
          </a:p>
          <a:p>
            <a:pPr>
              <a:buNone/>
            </a:pPr>
            <a:r>
              <a:rPr lang="en-US" sz="2400" dirty="0" smtClean="0"/>
              <a:t>		| </a:t>
            </a:r>
            <a:r>
              <a:rPr lang="en-US" sz="2400" dirty="0" err="1" smtClean="0"/>
              <a:t>Roll_No</a:t>
            </a:r>
            <a:r>
              <a:rPr lang="en-US" sz="2400" dirty="0" smtClean="0"/>
              <a:t> | Name | Age | Email |</a:t>
            </a:r>
          </a:p>
          <a:p>
            <a:pPr>
              <a:buNone/>
            </a:pPr>
            <a:r>
              <a:rPr lang="en-US" sz="2400" dirty="0" smtClean="0"/>
              <a:t>		There are </a:t>
            </a:r>
            <a:r>
              <a:rPr lang="en-US" sz="2400" b="1" dirty="0" smtClean="0"/>
              <a:t>4 columns</a:t>
            </a:r>
            <a:r>
              <a:rPr lang="en-US" sz="2400" dirty="0" smtClean="0"/>
              <a:t>, so the </a:t>
            </a:r>
            <a:r>
              <a:rPr lang="en-US" sz="2400" b="1" dirty="0" smtClean="0"/>
              <a:t>degree = 4</a:t>
            </a:r>
            <a:r>
              <a:rPr lang="en-US" sz="2400" dirty="0" smtClean="0"/>
              <a:t>.</a:t>
            </a:r>
          </a:p>
          <a:p>
            <a:endParaRPr lang="en-US" sz="2400" dirty="0"/>
          </a:p>
        </p:txBody>
      </p:sp>
      <p:graphicFrame>
        <p:nvGraphicFramePr>
          <p:cNvPr id="4" name="Table 3"/>
          <p:cNvGraphicFramePr>
            <a:graphicFrameLocks noGrp="1"/>
          </p:cNvGraphicFramePr>
          <p:nvPr/>
        </p:nvGraphicFramePr>
        <p:xfrm>
          <a:off x="1905000" y="2057400"/>
          <a:ext cx="5715000" cy="1483360"/>
        </p:xfrm>
        <a:graphic>
          <a:graphicData uri="http://schemas.openxmlformats.org/drawingml/2006/table">
            <a:tbl>
              <a:tblPr firstRow="1" bandRow="1">
                <a:tableStyleId>{5C22544A-7EE6-4342-B048-85BDC9FD1C3A}</a:tableStyleId>
              </a:tblPr>
              <a:tblGrid>
                <a:gridCol w="2857500"/>
                <a:gridCol w="2857500"/>
              </a:tblGrid>
              <a:tr h="370840">
                <a:tc>
                  <a:txBody>
                    <a:bodyPr/>
                    <a:lstStyle/>
                    <a:p>
                      <a:r>
                        <a:rPr lang="en-US" dirty="0"/>
                        <a:t>Attribute</a:t>
                      </a:r>
                    </a:p>
                  </a:txBody>
                  <a:tcPr anchor="ctr"/>
                </a:tc>
                <a:tc>
                  <a:txBody>
                    <a:bodyPr/>
                    <a:lstStyle/>
                    <a:p>
                      <a:r>
                        <a:rPr lang="en-US"/>
                        <a:t>Domain</a:t>
                      </a:r>
                    </a:p>
                  </a:txBody>
                  <a:tcPr anchor="ctr"/>
                </a:tc>
              </a:tr>
              <a:tr h="370840">
                <a:tc>
                  <a:txBody>
                    <a:bodyPr/>
                    <a:lstStyle/>
                    <a:p>
                      <a:r>
                        <a:rPr lang="en-US"/>
                        <a:t>Age</a:t>
                      </a:r>
                    </a:p>
                  </a:txBody>
                  <a:tcPr anchor="ctr"/>
                </a:tc>
                <a:tc>
                  <a:txBody>
                    <a:bodyPr/>
                    <a:lstStyle/>
                    <a:p>
                      <a:r>
                        <a:rPr lang="en-US"/>
                        <a:t>0–120</a:t>
                      </a:r>
                    </a:p>
                  </a:txBody>
                  <a:tcPr anchor="ctr"/>
                </a:tc>
              </a:tr>
              <a:tr h="370840">
                <a:tc>
                  <a:txBody>
                    <a:bodyPr/>
                    <a:lstStyle/>
                    <a:p>
                      <a:r>
                        <a:rPr lang="en-US"/>
                        <a:t>Gender</a:t>
                      </a:r>
                    </a:p>
                  </a:txBody>
                  <a:tcPr anchor="ctr"/>
                </a:tc>
                <a:tc>
                  <a:txBody>
                    <a:bodyPr/>
                    <a:lstStyle/>
                    <a:p>
                      <a:r>
                        <a:rPr lang="en-US"/>
                        <a:t>Male, Female, Other</a:t>
                      </a:r>
                    </a:p>
                  </a:txBody>
                  <a:tcPr anchor="ctr"/>
                </a:tc>
              </a:tr>
              <a:tr h="370840">
                <a:tc>
                  <a:txBody>
                    <a:bodyPr/>
                    <a:lstStyle/>
                    <a:p>
                      <a:r>
                        <a:rPr lang="en-US"/>
                        <a:t>Credits</a:t>
                      </a:r>
                    </a:p>
                  </a:txBody>
                  <a:tcPr anchor="ctr"/>
                </a:tc>
                <a:tc>
                  <a:txBody>
                    <a:bodyPr/>
                    <a:lstStyle/>
                    <a:p>
                      <a:r>
                        <a:rPr lang="en-US" dirty="0"/>
                        <a:t>1–6</a:t>
                      </a:r>
                    </a:p>
                  </a:txBody>
                  <a:tcPr anchor="ctr"/>
                </a:tc>
              </a:tr>
            </a:tbl>
          </a:graphicData>
        </a:graphic>
      </p:graphicFrame>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buNone/>
            </a:pPr>
            <a:r>
              <a:rPr lang="en-US" sz="2400" b="1" dirty="0" smtClean="0"/>
              <a:t>6. Cardinality</a:t>
            </a:r>
          </a:p>
          <a:p>
            <a:r>
              <a:rPr lang="en-US" sz="2400" dirty="0" smtClean="0"/>
              <a:t>The </a:t>
            </a:r>
            <a:r>
              <a:rPr lang="en-US" sz="2400" b="1" dirty="0" smtClean="0"/>
              <a:t>cardinality</a:t>
            </a:r>
            <a:r>
              <a:rPr lang="en-US" sz="2400" dirty="0" smtClean="0"/>
              <a:t> of a relation is the </a:t>
            </a:r>
            <a:r>
              <a:rPr lang="en-US" sz="2400" b="1" dirty="0" smtClean="0"/>
              <a:t>number of </a:t>
            </a:r>
            <a:r>
              <a:rPr lang="en-US" sz="2400" b="1" dirty="0" err="1" smtClean="0"/>
              <a:t>tuples</a:t>
            </a:r>
            <a:r>
              <a:rPr lang="en-US" sz="2400" b="1" dirty="0" smtClean="0"/>
              <a:t> (rows)</a:t>
            </a:r>
            <a:r>
              <a:rPr lang="en-US" sz="2400" dirty="0" smtClean="0"/>
              <a:t>.</a:t>
            </a:r>
          </a:p>
          <a:p>
            <a:pPr>
              <a:buNone/>
            </a:pPr>
            <a:r>
              <a:rPr lang="en-US" sz="2400" dirty="0" smtClean="0"/>
              <a:t>Example:</a:t>
            </a:r>
          </a:p>
          <a:p>
            <a:endParaRPr lang="en-US" sz="2400" dirty="0" smtClean="0"/>
          </a:p>
          <a:p>
            <a:endParaRPr lang="en-US" sz="2400" dirty="0" smtClean="0"/>
          </a:p>
          <a:p>
            <a:endParaRPr lang="en-US" sz="2400" dirty="0" smtClean="0"/>
          </a:p>
          <a:p>
            <a:endParaRPr lang="en-US" sz="2400" dirty="0" smtClean="0"/>
          </a:p>
          <a:p>
            <a:r>
              <a:rPr lang="en-US" sz="2400" dirty="0" smtClean="0"/>
              <a:t>There are </a:t>
            </a:r>
            <a:r>
              <a:rPr lang="en-US" sz="2400" b="1" dirty="0" smtClean="0"/>
              <a:t>3 rows</a:t>
            </a:r>
            <a:r>
              <a:rPr lang="en-US" sz="2400" dirty="0" smtClean="0"/>
              <a:t>, so the </a:t>
            </a:r>
            <a:r>
              <a:rPr lang="en-US" sz="2400" b="1" dirty="0" smtClean="0"/>
              <a:t>cardinality = 3</a:t>
            </a:r>
            <a:r>
              <a:rPr lang="en-US" sz="2400" dirty="0" smtClean="0"/>
              <a:t>.</a:t>
            </a:r>
          </a:p>
          <a:p>
            <a:endParaRPr lang="en-US" sz="2400" dirty="0"/>
          </a:p>
        </p:txBody>
      </p:sp>
      <p:graphicFrame>
        <p:nvGraphicFramePr>
          <p:cNvPr id="4" name="Table 3"/>
          <p:cNvGraphicFramePr>
            <a:graphicFrameLocks noGrp="1"/>
          </p:cNvGraphicFramePr>
          <p:nvPr/>
        </p:nvGraphicFramePr>
        <p:xfrm>
          <a:off x="1600200" y="3733800"/>
          <a:ext cx="6096000" cy="1483360"/>
        </p:xfrm>
        <a:graphic>
          <a:graphicData uri="http://schemas.openxmlformats.org/drawingml/2006/table">
            <a:tbl>
              <a:tblPr firstRow="1" bandRow="1">
                <a:tableStyleId>{5C22544A-7EE6-4342-B048-85BDC9FD1C3A}</a:tableStyleId>
              </a:tblPr>
              <a:tblGrid>
                <a:gridCol w="3048000"/>
                <a:gridCol w="3048000"/>
              </a:tblGrid>
              <a:tr h="370840">
                <a:tc>
                  <a:txBody>
                    <a:bodyPr/>
                    <a:lstStyle/>
                    <a:p>
                      <a:r>
                        <a:rPr lang="en-US" dirty="0" err="1"/>
                        <a:t>Roll_No</a:t>
                      </a:r>
                      <a:endParaRPr lang="en-US" dirty="0"/>
                    </a:p>
                  </a:txBody>
                  <a:tcPr anchor="ctr"/>
                </a:tc>
                <a:tc>
                  <a:txBody>
                    <a:bodyPr/>
                    <a:lstStyle/>
                    <a:p>
                      <a:r>
                        <a:rPr lang="en-US"/>
                        <a:t>Name</a:t>
                      </a:r>
                    </a:p>
                  </a:txBody>
                  <a:tcPr anchor="ctr"/>
                </a:tc>
              </a:tr>
              <a:tr h="370840">
                <a:tc>
                  <a:txBody>
                    <a:bodyPr/>
                    <a:lstStyle/>
                    <a:p>
                      <a:r>
                        <a:rPr lang="en-US"/>
                        <a:t>101</a:t>
                      </a:r>
                    </a:p>
                  </a:txBody>
                  <a:tcPr anchor="ctr"/>
                </a:tc>
                <a:tc>
                  <a:txBody>
                    <a:bodyPr/>
                    <a:lstStyle/>
                    <a:p>
                      <a:r>
                        <a:rPr lang="en-US"/>
                        <a:t>Rahul</a:t>
                      </a:r>
                    </a:p>
                  </a:txBody>
                  <a:tcPr anchor="ctr"/>
                </a:tc>
              </a:tr>
              <a:tr h="370840">
                <a:tc>
                  <a:txBody>
                    <a:bodyPr/>
                    <a:lstStyle/>
                    <a:p>
                      <a:r>
                        <a:rPr lang="en-US"/>
                        <a:t>102</a:t>
                      </a:r>
                    </a:p>
                  </a:txBody>
                  <a:tcPr anchor="ctr"/>
                </a:tc>
                <a:tc>
                  <a:txBody>
                    <a:bodyPr/>
                    <a:lstStyle/>
                    <a:p>
                      <a:r>
                        <a:rPr lang="en-US"/>
                        <a:t>Priya</a:t>
                      </a:r>
                    </a:p>
                  </a:txBody>
                  <a:tcPr anchor="ctr"/>
                </a:tc>
              </a:tr>
              <a:tr h="370840">
                <a:tc>
                  <a:txBody>
                    <a:bodyPr/>
                    <a:lstStyle/>
                    <a:p>
                      <a:r>
                        <a:rPr lang="en-US"/>
                        <a:t>103</a:t>
                      </a:r>
                    </a:p>
                  </a:txBody>
                  <a:tcPr anchor="ctr"/>
                </a:tc>
                <a:tc>
                  <a:txBody>
                    <a:bodyPr/>
                    <a:lstStyle/>
                    <a:p>
                      <a:r>
                        <a:rPr lang="en-US" dirty="0" err="1"/>
                        <a:t>Aman</a:t>
                      </a:r>
                      <a:endParaRPr lang="en-US" dirty="0"/>
                    </a:p>
                  </a:txBody>
                  <a:tcPr anchor="ctr"/>
                </a:tc>
              </a:tr>
            </a:tbl>
          </a:graphicData>
        </a:graphic>
      </p:graphicFrame>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533400"/>
          </a:xfrm>
        </p:spPr>
        <p:txBody>
          <a:bodyPr>
            <a:normAutofit fontScale="90000"/>
          </a:bodyPr>
          <a:lstStyle/>
          <a:p>
            <a:r>
              <a:rPr lang="en-US" dirty="0" smtClean="0"/>
              <a:t>Example</a:t>
            </a:r>
            <a:endParaRPr lang="en-US" dirty="0"/>
          </a:p>
        </p:txBody>
      </p:sp>
      <p:pic>
        <p:nvPicPr>
          <p:cNvPr id="1026" name="Picture 2"/>
          <p:cNvPicPr>
            <a:picLocks noGrp="1" noChangeAspect="1" noChangeArrowheads="1"/>
          </p:cNvPicPr>
          <p:nvPr>
            <p:ph idx="1"/>
          </p:nvPr>
        </p:nvPicPr>
        <p:blipFill>
          <a:blip r:embed="rId2"/>
          <a:srcRect/>
          <a:stretch>
            <a:fillRect/>
          </a:stretch>
        </p:blipFill>
        <p:spPr bwMode="auto">
          <a:xfrm>
            <a:off x="533400" y="609600"/>
            <a:ext cx="7772400" cy="2152372"/>
          </a:xfrm>
          <a:prstGeom prst="rect">
            <a:avLst/>
          </a:prstGeom>
          <a:noFill/>
          <a:ln w="9525">
            <a:noFill/>
            <a:miter lim="800000"/>
            <a:headEnd/>
            <a:tailEnd/>
          </a:ln>
          <a:effectLst/>
        </p:spPr>
      </p:pic>
      <p:pic>
        <p:nvPicPr>
          <p:cNvPr id="1027" name="Picture 3"/>
          <p:cNvPicPr>
            <a:picLocks noChangeAspect="1" noChangeArrowheads="1"/>
          </p:cNvPicPr>
          <p:nvPr/>
        </p:nvPicPr>
        <p:blipFill>
          <a:blip r:embed="rId3"/>
          <a:srcRect/>
          <a:stretch>
            <a:fillRect/>
          </a:stretch>
        </p:blipFill>
        <p:spPr bwMode="auto">
          <a:xfrm>
            <a:off x="457200" y="2667000"/>
            <a:ext cx="7772400" cy="2105025"/>
          </a:xfrm>
          <a:prstGeom prst="rect">
            <a:avLst/>
          </a:prstGeom>
          <a:noFill/>
          <a:ln w="9525">
            <a:noFill/>
            <a:miter lim="800000"/>
            <a:headEnd/>
            <a:tailEnd/>
          </a:ln>
          <a:effectLst/>
        </p:spPr>
      </p:pic>
      <p:pic>
        <p:nvPicPr>
          <p:cNvPr id="1028" name="Picture 4"/>
          <p:cNvPicPr>
            <a:picLocks noChangeAspect="1" noChangeArrowheads="1"/>
          </p:cNvPicPr>
          <p:nvPr/>
        </p:nvPicPr>
        <p:blipFill>
          <a:blip r:embed="rId4"/>
          <a:srcRect/>
          <a:stretch>
            <a:fillRect/>
          </a:stretch>
        </p:blipFill>
        <p:spPr bwMode="auto">
          <a:xfrm>
            <a:off x="0" y="4724400"/>
            <a:ext cx="8229600" cy="1981200"/>
          </a:xfrm>
          <a:prstGeom prst="rect">
            <a:avLst/>
          </a:prstGeom>
          <a:noFill/>
          <a:ln w="9525">
            <a:noFill/>
            <a:miter lim="800000"/>
            <a:headEnd/>
            <a:tailEnd/>
          </a:ln>
          <a:effectLst/>
        </p:spPr>
      </p:pic>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Grp="1" noChangeAspect="1" noChangeArrowheads="1"/>
          </p:cNvPicPr>
          <p:nvPr>
            <p:ph idx="1"/>
          </p:nvPr>
        </p:nvPicPr>
        <p:blipFill>
          <a:blip r:embed="rId2"/>
          <a:srcRect/>
          <a:stretch>
            <a:fillRect/>
          </a:stretch>
        </p:blipFill>
        <p:spPr bwMode="auto">
          <a:xfrm>
            <a:off x="685800" y="990600"/>
            <a:ext cx="7010400" cy="2076191"/>
          </a:xfrm>
          <a:prstGeom prst="rect">
            <a:avLst/>
          </a:prstGeom>
          <a:noFill/>
          <a:ln w="9525">
            <a:noFill/>
            <a:miter lim="800000"/>
            <a:headEnd/>
            <a:tailEnd/>
          </a:ln>
          <a:effectLst/>
        </p:spPr>
      </p:pic>
      <p:pic>
        <p:nvPicPr>
          <p:cNvPr id="2051" name="Picture 3"/>
          <p:cNvPicPr>
            <a:picLocks noChangeAspect="1" noChangeArrowheads="1"/>
          </p:cNvPicPr>
          <p:nvPr/>
        </p:nvPicPr>
        <p:blipFill>
          <a:blip r:embed="rId3"/>
          <a:srcRect/>
          <a:stretch>
            <a:fillRect/>
          </a:stretch>
        </p:blipFill>
        <p:spPr bwMode="auto">
          <a:xfrm>
            <a:off x="838200" y="3200400"/>
            <a:ext cx="6858000" cy="2114550"/>
          </a:xfrm>
          <a:prstGeom prst="rect">
            <a:avLst/>
          </a:prstGeom>
          <a:noFill/>
          <a:ln w="9525">
            <a:noFill/>
            <a:miter lim="800000"/>
            <a:headEnd/>
            <a:tailEnd/>
          </a:ln>
          <a:effectLst/>
        </p:spPr>
      </p:pic>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normAutofit/>
          </a:bodyPr>
          <a:lstStyle/>
          <a:p>
            <a:r>
              <a:rPr lang="en-US" b="1" dirty="0" smtClean="0"/>
              <a:t>Concept of Keys in DBMS</a:t>
            </a:r>
            <a:endParaRPr lang="en-US" dirty="0"/>
          </a:p>
        </p:txBody>
      </p:sp>
      <p:sp>
        <p:nvSpPr>
          <p:cNvPr id="3" name="Content Placeholder 2"/>
          <p:cNvSpPr>
            <a:spLocks noGrp="1"/>
          </p:cNvSpPr>
          <p:nvPr>
            <p:ph idx="1"/>
          </p:nvPr>
        </p:nvSpPr>
        <p:spPr>
          <a:xfrm>
            <a:off x="457200" y="1219200"/>
            <a:ext cx="8229600" cy="4906963"/>
          </a:xfrm>
        </p:spPr>
        <p:txBody>
          <a:bodyPr>
            <a:normAutofit/>
          </a:bodyPr>
          <a:lstStyle/>
          <a:p>
            <a:r>
              <a:rPr lang="en-US" dirty="0" smtClean="0"/>
              <a:t>A key in DBMS is an attribute (column) or a set of attributes that is used to uniquely identify a record (row) in a table and to establish relationships between tables.</a:t>
            </a:r>
          </a:p>
          <a:p>
            <a:endParaRPr lang="en-US" dirty="0" smtClean="0"/>
          </a:p>
          <a:p>
            <a:r>
              <a:rPr lang="en-US" dirty="0" smtClean="0"/>
              <a:t>Keys help maintain:</a:t>
            </a:r>
          </a:p>
          <a:p>
            <a:pPr lvl="1"/>
            <a:r>
              <a:rPr lang="en-US" dirty="0" smtClean="0"/>
              <a:t>Uniqueness of records </a:t>
            </a:r>
          </a:p>
          <a:p>
            <a:pPr lvl="1"/>
            <a:r>
              <a:rPr lang="en-US" dirty="0" smtClean="0"/>
              <a:t>Data integrity </a:t>
            </a:r>
          </a:p>
          <a:p>
            <a:pPr lvl="1"/>
            <a:r>
              <a:rPr lang="en-US" dirty="0" smtClean="0"/>
              <a:t>Relationships among tables </a:t>
            </a:r>
          </a:p>
          <a:p>
            <a:pPr lvl="1"/>
            <a:r>
              <a:rPr lang="en-US" dirty="0" smtClean="0"/>
              <a:t>Efficient searching and indexing</a:t>
            </a:r>
          </a:p>
          <a:p>
            <a:endParaRPr lang="en-US"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r>
              <a:rPr lang="en-US" b="1" dirty="0" smtClean="0"/>
              <a:t>Example Database</a:t>
            </a:r>
            <a:endParaRPr lang="en-US" dirty="0"/>
          </a:p>
        </p:txBody>
      </p:sp>
      <p:sp>
        <p:nvSpPr>
          <p:cNvPr id="3" name="Content Placeholder 2"/>
          <p:cNvSpPr>
            <a:spLocks noGrp="1"/>
          </p:cNvSpPr>
          <p:nvPr>
            <p:ph idx="1"/>
          </p:nvPr>
        </p:nvSpPr>
        <p:spPr>
          <a:xfrm>
            <a:off x="457200" y="1143000"/>
            <a:ext cx="8229600" cy="4983163"/>
          </a:xfrm>
        </p:spPr>
        <p:txBody>
          <a:bodyPr/>
          <a:lstStyle/>
          <a:p>
            <a:r>
              <a:rPr lang="en-US" b="1" dirty="0" smtClean="0"/>
              <a:t>STUDENT Table</a:t>
            </a:r>
          </a:p>
          <a:p>
            <a:endParaRPr lang="en-US" b="1" dirty="0" smtClean="0"/>
          </a:p>
          <a:p>
            <a:endParaRPr lang="en-US" dirty="0"/>
          </a:p>
        </p:txBody>
      </p:sp>
      <p:graphicFrame>
        <p:nvGraphicFramePr>
          <p:cNvPr id="4" name="Table 3"/>
          <p:cNvGraphicFramePr>
            <a:graphicFrameLocks noGrp="1"/>
          </p:cNvGraphicFramePr>
          <p:nvPr/>
        </p:nvGraphicFramePr>
        <p:xfrm>
          <a:off x="381000" y="1905000"/>
          <a:ext cx="8229600" cy="2931160"/>
        </p:xfrm>
        <a:graphic>
          <a:graphicData uri="http://schemas.openxmlformats.org/drawingml/2006/table">
            <a:tbl>
              <a:tblPr firstRow="1" bandRow="1">
                <a:tableStyleId>{5C22544A-7EE6-4342-B048-85BDC9FD1C3A}</a:tableStyleId>
              </a:tblPr>
              <a:tblGrid>
                <a:gridCol w="1524000"/>
                <a:gridCol w="1219200"/>
                <a:gridCol w="940526"/>
                <a:gridCol w="1802674"/>
                <a:gridCol w="1645920"/>
                <a:gridCol w="1097280"/>
              </a:tblGrid>
              <a:tr h="370840">
                <a:tc>
                  <a:txBody>
                    <a:bodyPr/>
                    <a:lstStyle/>
                    <a:p>
                      <a:r>
                        <a:rPr lang="en-US" dirty="0" err="1"/>
                        <a:t>Student_ID</a:t>
                      </a:r>
                      <a:endParaRPr lang="en-US" dirty="0"/>
                    </a:p>
                  </a:txBody>
                  <a:tcPr anchor="ctr"/>
                </a:tc>
                <a:tc>
                  <a:txBody>
                    <a:bodyPr/>
                    <a:lstStyle/>
                    <a:p>
                      <a:r>
                        <a:rPr lang="en-US"/>
                        <a:t>Roll_No</a:t>
                      </a:r>
                    </a:p>
                  </a:txBody>
                  <a:tcPr anchor="ctr"/>
                </a:tc>
                <a:tc>
                  <a:txBody>
                    <a:bodyPr/>
                    <a:lstStyle/>
                    <a:p>
                      <a:r>
                        <a:rPr lang="en-US"/>
                        <a:t>Name</a:t>
                      </a:r>
                    </a:p>
                  </a:txBody>
                  <a:tcPr anchor="ctr"/>
                </a:tc>
                <a:tc>
                  <a:txBody>
                    <a:bodyPr/>
                    <a:lstStyle/>
                    <a:p>
                      <a:r>
                        <a:rPr lang="en-US"/>
                        <a:t>Email</a:t>
                      </a:r>
                    </a:p>
                  </a:txBody>
                  <a:tcPr anchor="ctr"/>
                </a:tc>
                <a:tc>
                  <a:txBody>
                    <a:bodyPr/>
                    <a:lstStyle/>
                    <a:p>
                      <a:r>
                        <a:rPr lang="en-US"/>
                        <a:t>Phone</a:t>
                      </a:r>
                    </a:p>
                  </a:txBody>
                  <a:tcPr anchor="ctr"/>
                </a:tc>
                <a:tc>
                  <a:txBody>
                    <a:bodyPr/>
                    <a:lstStyle/>
                    <a:p>
                      <a:r>
                        <a:rPr lang="en-US"/>
                        <a:t>Branch</a:t>
                      </a:r>
                    </a:p>
                  </a:txBody>
                  <a:tcPr anchor="ctr"/>
                </a:tc>
              </a:tr>
              <a:tr h="370840">
                <a:tc>
                  <a:txBody>
                    <a:bodyPr/>
                    <a:lstStyle/>
                    <a:p>
                      <a:r>
                        <a:rPr lang="en-US" dirty="0"/>
                        <a:t>101</a:t>
                      </a:r>
                    </a:p>
                  </a:txBody>
                  <a:tcPr anchor="ctr"/>
                </a:tc>
                <a:tc>
                  <a:txBody>
                    <a:bodyPr/>
                    <a:lstStyle/>
                    <a:p>
                      <a:r>
                        <a:rPr lang="en-US"/>
                        <a:t>CS001</a:t>
                      </a:r>
                    </a:p>
                  </a:txBody>
                  <a:tcPr anchor="ctr"/>
                </a:tc>
                <a:tc>
                  <a:txBody>
                    <a:bodyPr/>
                    <a:lstStyle/>
                    <a:p>
                      <a:r>
                        <a:rPr lang="en-US"/>
                        <a:t>Amit</a:t>
                      </a:r>
                    </a:p>
                  </a:txBody>
                  <a:tcPr anchor="ctr"/>
                </a:tc>
                <a:tc>
                  <a:txBody>
                    <a:bodyPr/>
                    <a:lstStyle/>
                    <a:p>
                      <a:r>
                        <a:rPr lang="en-US">
                          <a:hlinkClick r:id="rId2"/>
                        </a:rPr>
                        <a:t>amit@gmail.com</a:t>
                      </a:r>
                      <a:endParaRPr lang="en-US"/>
                    </a:p>
                  </a:txBody>
                  <a:tcPr anchor="ctr"/>
                </a:tc>
                <a:tc>
                  <a:txBody>
                    <a:bodyPr/>
                    <a:lstStyle/>
                    <a:p>
                      <a:r>
                        <a:rPr lang="en-US"/>
                        <a:t>9876543210</a:t>
                      </a:r>
                    </a:p>
                  </a:txBody>
                  <a:tcPr anchor="ctr"/>
                </a:tc>
                <a:tc>
                  <a:txBody>
                    <a:bodyPr/>
                    <a:lstStyle/>
                    <a:p>
                      <a:r>
                        <a:rPr lang="en-US"/>
                        <a:t>CSE</a:t>
                      </a:r>
                    </a:p>
                  </a:txBody>
                  <a:tcPr anchor="ctr"/>
                </a:tc>
              </a:tr>
              <a:tr h="370840">
                <a:tc>
                  <a:txBody>
                    <a:bodyPr/>
                    <a:lstStyle/>
                    <a:p>
                      <a:r>
                        <a:rPr lang="en-US" dirty="0"/>
                        <a:t>102</a:t>
                      </a:r>
                    </a:p>
                  </a:txBody>
                  <a:tcPr anchor="ctr"/>
                </a:tc>
                <a:tc>
                  <a:txBody>
                    <a:bodyPr/>
                    <a:lstStyle/>
                    <a:p>
                      <a:r>
                        <a:rPr lang="en-US"/>
                        <a:t>CS002</a:t>
                      </a:r>
                    </a:p>
                  </a:txBody>
                  <a:tcPr anchor="ctr"/>
                </a:tc>
                <a:tc>
                  <a:txBody>
                    <a:bodyPr/>
                    <a:lstStyle/>
                    <a:p>
                      <a:r>
                        <a:rPr lang="en-US"/>
                        <a:t>Priya</a:t>
                      </a:r>
                    </a:p>
                  </a:txBody>
                  <a:tcPr anchor="ctr"/>
                </a:tc>
                <a:tc>
                  <a:txBody>
                    <a:bodyPr/>
                    <a:lstStyle/>
                    <a:p>
                      <a:r>
                        <a:rPr lang="en-US">
                          <a:hlinkClick r:id="rId3"/>
                        </a:rPr>
                        <a:t>priya@gmail.com</a:t>
                      </a:r>
                      <a:endParaRPr lang="en-US"/>
                    </a:p>
                  </a:txBody>
                  <a:tcPr anchor="ctr"/>
                </a:tc>
                <a:tc>
                  <a:txBody>
                    <a:bodyPr/>
                    <a:lstStyle/>
                    <a:p>
                      <a:r>
                        <a:rPr lang="en-US"/>
                        <a:t>9876543211</a:t>
                      </a:r>
                    </a:p>
                  </a:txBody>
                  <a:tcPr anchor="ctr"/>
                </a:tc>
                <a:tc>
                  <a:txBody>
                    <a:bodyPr/>
                    <a:lstStyle/>
                    <a:p>
                      <a:r>
                        <a:rPr lang="en-US"/>
                        <a:t>CSE</a:t>
                      </a:r>
                    </a:p>
                  </a:txBody>
                  <a:tcPr anchor="ctr"/>
                </a:tc>
              </a:tr>
              <a:tr h="370840">
                <a:tc>
                  <a:txBody>
                    <a:bodyPr/>
                    <a:lstStyle/>
                    <a:p>
                      <a:r>
                        <a:rPr lang="en-US"/>
                        <a:t>103</a:t>
                      </a:r>
                    </a:p>
                  </a:txBody>
                  <a:tcPr anchor="ctr"/>
                </a:tc>
                <a:tc>
                  <a:txBody>
                    <a:bodyPr/>
                    <a:lstStyle/>
                    <a:p>
                      <a:r>
                        <a:rPr lang="en-US"/>
                        <a:t>EC001</a:t>
                      </a:r>
                    </a:p>
                  </a:txBody>
                  <a:tcPr anchor="ctr"/>
                </a:tc>
                <a:tc>
                  <a:txBody>
                    <a:bodyPr/>
                    <a:lstStyle/>
                    <a:p>
                      <a:r>
                        <a:rPr lang="en-US"/>
                        <a:t>Rahul</a:t>
                      </a:r>
                    </a:p>
                  </a:txBody>
                  <a:tcPr anchor="ctr"/>
                </a:tc>
                <a:tc>
                  <a:txBody>
                    <a:bodyPr/>
                    <a:lstStyle/>
                    <a:p>
                      <a:r>
                        <a:rPr lang="en-US">
                          <a:hlinkClick r:id="rId4"/>
                        </a:rPr>
                        <a:t>rahul@gmail.com</a:t>
                      </a:r>
                      <a:endParaRPr lang="en-US"/>
                    </a:p>
                  </a:txBody>
                  <a:tcPr anchor="ctr"/>
                </a:tc>
                <a:tc>
                  <a:txBody>
                    <a:bodyPr/>
                    <a:lstStyle/>
                    <a:p>
                      <a:r>
                        <a:rPr lang="en-US"/>
                        <a:t>9876543212</a:t>
                      </a:r>
                    </a:p>
                  </a:txBody>
                  <a:tcPr anchor="ctr"/>
                </a:tc>
                <a:tc>
                  <a:txBody>
                    <a:bodyPr/>
                    <a:lstStyle/>
                    <a:p>
                      <a:r>
                        <a:rPr lang="en-US"/>
                        <a:t>ECE</a:t>
                      </a:r>
                    </a:p>
                  </a:txBody>
                  <a:tcPr anchor="ctr"/>
                </a:tc>
              </a:tr>
              <a:tr h="370840">
                <a:tc>
                  <a:txBody>
                    <a:bodyPr/>
                    <a:lstStyle/>
                    <a:p>
                      <a:r>
                        <a:rPr lang="en-US"/>
                        <a:t>104</a:t>
                      </a:r>
                    </a:p>
                  </a:txBody>
                  <a:tcPr anchor="ctr"/>
                </a:tc>
                <a:tc>
                  <a:txBody>
                    <a:bodyPr/>
                    <a:lstStyle/>
                    <a:p>
                      <a:r>
                        <a:rPr lang="en-US"/>
                        <a:t>ME001</a:t>
                      </a:r>
                    </a:p>
                  </a:txBody>
                  <a:tcPr anchor="ctr"/>
                </a:tc>
                <a:tc>
                  <a:txBody>
                    <a:bodyPr/>
                    <a:lstStyle/>
                    <a:p>
                      <a:r>
                        <a:rPr lang="en-US"/>
                        <a:t>Neha</a:t>
                      </a:r>
                    </a:p>
                  </a:txBody>
                  <a:tcPr anchor="ctr"/>
                </a:tc>
                <a:tc>
                  <a:txBody>
                    <a:bodyPr/>
                    <a:lstStyle/>
                    <a:p>
                      <a:r>
                        <a:rPr lang="en-US">
                          <a:hlinkClick r:id="rId5"/>
                        </a:rPr>
                        <a:t>neha@gmail.com</a:t>
                      </a:r>
                      <a:endParaRPr lang="en-US"/>
                    </a:p>
                  </a:txBody>
                  <a:tcPr anchor="ctr"/>
                </a:tc>
                <a:tc>
                  <a:txBody>
                    <a:bodyPr/>
                    <a:lstStyle/>
                    <a:p>
                      <a:r>
                        <a:rPr lang="en-US"/>
                        <a:t>9876543213</a:t>
                      </a:r>
                    </a:p>
                  </a:txBody>
                  <a:tcPr anchor="ctr"/>
                </a:tc>
                <a:tc>
                  <a:txBody>
                    <a:bodyPr/>
                    <a:lstStyle/>
                    <a:p>
                      <a:r>
                        <a:rPr lang="en-US" dirty="0"/>
                        <a:t>ME</a:t>
                      </a:r>
                    </a:p>
                  </a:txBody>
                  <a:tcPr anchor="ctr"/>
                </a:tc>
              </a:tr>
            </a:tbl>
          </a:graphicData>
        </a:graphic>
      </p:graphicFrame>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r>
              <a:rPr lang="en-US" b="1" dirty="0" smtClean="0"/>
              <a:t>1. Super Key</a:t>
            </a:r>
            <a:endParaRPr lang="en-US" dirty="0"/>
          </a:p>
        </p:txBody>
      </p:sp>
      <p:sp>
        <p:nvSpPr>
          <p:cNvPr id="3" name="Content Placeholder 2"/>
          <p:cNvSpPr>
            <a:spLocks noGrp="1"/>
          </p:cNvSpPr>
          <p:nvPr>
            <p:ph idx="1"/>
          </p:nvPr>
        </p:nvSpPr>
        <p:spPr>
          <a:xfrm>
            <a:off x="457200" y="1066800"/>
            <a:ext cx="8229600" cy="5059363"/>
          </a:xfrm>
        </p:spPr>
        <p:txBody>
          <a:bodyPr>
            <a:normAutofit fontScale="92500" lnSpcReduction="20000"/>
          </a:bodyPr>
          <a:lstStyle/>
          <a:p>
            <a:pPr>
              <a:buNone/>
            </a:pPr>
            <a:r>
              <a:rPr lang="en-US" dirty="0" smtClean="0"/>
              <a:t>	A </a:t>
            </a:r>
            <a:r>
              <a:rPr lang="en-US" b="1" dirty="0" smtClean="0"/>
              <a:t>Super Key</a:t>
            </a:r>
            <a:r>
              <a:rPr lang="en-US" dirty="0" smtClean="0"/>
              <a:t> is any attribute or combination of attributes that can uniquely identify each record in a table.</a:t>
            </a:r>
          </a:p>
          <a:p>
            <a:pPr>
              <a:buNone/>
            </a:pPr>
            <a:r>
              <a:rPr lang="en-US" dirty="0" smtClean="0"/>
              <a:t>	A super key </a:t>
            </a:r>
            <a:r>
              <a:rPr lang="en-US" b="1" dirty="0" smtClean="0"/>
              <a:t>may contain extra attributes</a:t>
            </a:r>
            <a:r>
              <a:rPr lang="en-US" dirty="0" smtClean="0"/>
              <a:t> that are not necessary for uniqueness.</a:t>
            </a:r>
          </a:p>
          <a:p>
            <a:pPr>
              <a:buNone/>
            </a:pPr>
            <a:r>
              <a:rPr lang="en-US" b="1" dirty="0" smtClean="0"/>
              <a:t>Example</a:t>
            </a:r>
          </a:p>
          <a:p>
            <a:pPr>
              <a:buNone/>
            </a:pPr>
            <a:r>
              <a:rPr lang="en-US" dirty="0" smtClean="0"/>
              <a:t>In the STUDENT table, Possible Super Keys are:</a:t>
            </a:r>
          </a:p>
          <a:p>
            <a:pPr lvl="1"/>
            <a:r>
              <a:rPr lang="en-US" dirty="0" err="1" smtClean="0"/>
              <a:t>Student_ID</a:t>
            </a:r>
            <a:r>
              <a:rPr lang="en-US" dirty="0" smtClean="0"/>
              <a:t> </a:t>
            </a:r>
          </a:p>
          <a:p>
            <a:pPr lvl="1"/>
            <a:r>
              <a:rPr lang="en-US" dirty="0" err="1" smtClean="0"/>
              <a:t>Roll_No</a:t>
            </a:r>
            <a:r>
              <a:rPr lang="en-US" dirty="0" smtClean="0"/>
              <a:t> </a:t>
            </a:r>
          </a:p>
          <a:p>
            <a:pPr lvl="1"/>
            <a:r>
              <a:rPr lang="en-US" dirty="0" smtClean="0"/>
              <a:t>Email </a:t>
            </a:r>
          </a:p>
          <a:p>
            <a:pPr lvl="1"/>
            <a:r>
              <a:rPr lang="en-US" dirty="0" err="1" smtClean="0"/>
              <a:t>Student_ID</a:t>
            </a:r>
            <a:r>
              <a:rPr lang="en-US" dirty="0" smtClean="0"/>
              <a:t> + Name </a:t>
            </a:r>
          </a:p>
          <a:p>
            <a:pPr lvl="1"/>
            <a:r>
              <a:rPr lang="en-US" dirty="0" err="1" smtClean="0"/>
              <a:t>Student_ID</a:t>
            </a:r>
            <a:r>
              <a:rPr lang="en-US" dirty="0" smtClean="0"/>
              <a:t> + Phone </a:t>
            </a:r>
          </a:p>
          <a:p>
            <a:pPr lvl="1"/>
            <a:r>
              <a:rPr lang="en-US" dirty="0" err="1" smtClean="0"/>
              <a:t>Roll_No</a:t>
            </a:r>
            <a:r>
              <a:rPr lang="en-US" dirty="0" smtClean="0"/>
              <a:t> + Branch </a:t>
            </a:r>
          </a:p>
          <a:p>
            <a:pPr lvl="1"/>
            <a:r>
              <a:rPr lang="en-US" dirty="0" smtClean="0"/>
              <a:t>Email + Name </a:t>
            </a:r>
          </a:p>
          <a:p>
            <a:r>
              <a:rPr lang="en-US" dirty="0" smtClean="0"/>
              <a:t>All these combinations uniquely identify each student.</a:t>
            </a:r>
          </a:p>
          <a:p>
            <a:endParaRPr lang="en-US"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2. Candidate Key</a:t>
            </a:r>
            <a:endParaRPr lang="en-US" dirty="0"/>
          </a:p>
        </p:txBody>
      </p:sp>
      <p:sp>
        <p:nvSpPr>
          <p:cNvPr id="3" name="Content Placeholder 2"/>
          <p:cNvSpPr>
            <a:spLocks noGrp="1"/>
          </p:cNvSpPr>
          <p:nvPr>
            <p:ph idx="1"/>
          </p:nvPr>
        </p:nvSpPr>
        <p:spPr/>
        <p:txBody>
          <a:bodyPr>
            <a:normAutofit fontScale="92500" lnSpcReduction="10000"/>
          </a:bodyPr>
          <a:lstStyle/>
          <a:p>
            <a:pPr>
              <a:buNone/>
            </a:pPr>
            <a:r>
              <a:rPr lang="en-US" dirty="0" smtClean="0"/>
              <a:t>A </a:t>
            </a:r>
            <a:r>
              <a:rPr lang="en-US" b="1" dirty="0" smtClean="0"/>
              <a:t>Candidate Key</a:t>
            </a:r>
            <a:r>
              <a:rPr lang="en-US" dirty="0" smtClean="0"/>
              <a:t> is the </a:t>
            </a:r>
            <a:r>
              <a:rPr lang="en-US" b="1" dirty="0" smtClean="0"/>
              <a:t>smallest possible Super Key</a:t>
            </a:r>
            <a:r>
              <a:rPr lang="en-US" dirty="0" smtClean="0"/>
              <a:t>.</a:t>
            </a:r>
          </a:p>
          <a:p>
            <a:pPr>
              <a:buNone/>
            </a:pPr>
            <a:r>
              <a:rPr lang="en-US" dirty="0" smtClean="0"/>
              <a:t>It contains </a:t>
            </a:r>
            <a:r>
              <a:rPr lang="en-US" b="1" dirty="0" smtClean="0"/>
              <a:t>no unnecessary attribute</a:t>
            </a:r>
            <a:r>
              <a:rPr lang="en-US" dirty="0" smtClean="0"/>
              <a:t>.</a:t>
            </a:r>
          </a:p>
          <a:p>
            <a:pPr>
              <a:buNone/>
            </a:pPr>
            <a:endParaRPr lang="en-US" b="1" dirty="0" smtClean="0"/>
          </a:p>
          <a:p>
            <a:pPr>
              <a:buNone/>
            </a:pPr>
            <a:r>
              <a:rPr lang="en-US" b="1" dirty="0" smtClean="0"/>
              <a:t>Example</a:t>
            </a:r>
          </a:p>
          <a:p>
            <a:pPr>
              <a:buNone/>
            </a:pPr>
            <a:r>
              <a:rPr lang="en-US" dirty="0" smtClean="0"/>
              <a:t>Possible Candidate Keys:</a:t>
            </a:r>
          </a:p>
          <a:p>
            <a:pPr lvl="1"/>
            <a:r>
              <a:rPr lang="en-US" dirty="0" err="1" smtClean="0"/>
              <a:t>Student_ID</a:t>
            </a:r>
            <a:r>
              <a:rPr lang="en-US" dirty="0" smtClean="0"/>
              <a:t> </a:t>
            </a:r>
          </a:p>
          <a:p>
            <a:pPr lvl="1"/>
            <a:r>
              <a:rPr lang="en-US" dirty="0" err="1" smtClean="0"/>
              <a:t>Roll_No</a:t>
            </a:r>
            <a:r>
              <a:rPr lang="en-US" dirty="0" smtClean="0"/>
              <a:t> </a:t>
            </a:r>
          </a:p>
          <a:p>
            <a:pPr lvl="1"/>
            <a:r>
              <a:rPr lang="en-US" dirty="0" smtClean="0"/>
              <a:t>Email </a:t>
            </a:r>
          </a:p>
          <a:p>
            <a:r>
              <a:rPr lang="en-US" dirty="0" smtClean="0"/>
              <a:t>Each one uniquely identifies students without extra columns.</a:t>
            </a:r>
          </a:p>
          <a:p>
            <a:r>
              <a:rPr lang="en-US" dirty="0" smtClean="0"/>
              <a:t>These are minimal.</a:t>
            </a:r>
          </a:p>
          <a:p>
            <a:endParaRPr lang="en-US"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3. Primary Key</a:t>
            </a:r>
            <a:endParaRPr lang="en-US" dirty="0"/>
          </a:p>
        </p:txBody>
      </p:sp>
      <p:sp>
        <p:nvSpPr>
          <p:cNvPr id="3" name="Content Placeholder 2"/>
          <p:cNvSpPr>
            <a:spLocks noGrp="1"/>
          </p:cNvSpPr>
          <p:nvPr>
            <p:ph idx="1"/>
          </p:nvPr>
        </p:nvSpPr>
        <p:spPr/>
        <p:txBody>
          <a:bodyPr>
            <a:normAutofit fontScale="62500" lnSpcReduction="20000"/>
          </a:bodyPr>
          <a:lstStyle/>
          <a:p>
            <a:pPr>
              <a:buNone/>
            </a:pPr>
            <a:r>
              <a:rPr lang="en-US" dirty="0" smtClean="0"/>
              <a:t>	The Candidate Key chosen by the database designer to identify records uniquely is called the </a:t>
            </a:r>
            <a:r>
              <a:rPr lang="en-US" b="1" dirty="0" smtClean="0"/>
              <a:t>Primary Key</a:t>
            </a:r>
            <a:r>
              <a:rPr lang="en-US" dirty="0" smtClean="0"/>
              <a:t>.</a:t>
            </a:r>
          </a:p>
          <a:p>
            <a:pPr>
              <a:buNone/>
            </a:pPr>
            <a:r>
              <a:rPr lang="en-US" dirty="0" smtClean="0"/>
              <a:t>Properties:</a:t>
            </a:r>
          </a:p>
          <a:p>
            <a:pPr lvl="1"/>
            <a:r>
              <a:rPr lang="en-US" dirty="0" smtClean="0"/>
              <a:t>Unique </a:t>
            </a:r>
          </a:p>
          <a:p>
            <a:pPr lvl="1"/>
            <a:r>
              <a:rPr lang="en-US" dirty="0" smtClean="0"/>
              <a:t>Cannot be NULL </a:t>
            </a:r>
          </a:p>
          <a:p>
            <a:pPr lvl="1"/>
            <a:r>
              <a:rPr lang="en-US" dirty="0" smtClean="0"/>
              <a:t>Only one Primary Key per table </a:t>
            </a:r>
          </a:p>
          <a:p>
            <a:pPr>
              <a:buNone/>
            </a:pPr>
            <a:endParaRPr lang="en-US" b="1" dirty="0" smtClean="0"/>
          </a:p>
          <a:p>
            <a:pPr>
              <a:buNone/>
            </a:pPr>
            <a:r>
              <a:rPr lang="en-US" b="1" dirty="0" smtClean="0"/>
              <a:t>Example</a:t>
            </a:r>
          </a:p>
          <a:p>
            <a:pPr>
              <a:buNone/>
            </a:pPr>
            <a:r>
              <a:rPr lang="en-US" dirty="0" err="1" smtClean="0"/>
              <a:t>Student_ID</a:t>
            </a:r>
            <a:r>
              <a:rPr lang="en-US" dirty="0" smtClean="0"/>
              <a:t> is selected as Primary Key.</a:t>
            </a:r>
          </a:p>
          <a:p>
            <a:pPr>
              <a:buNone/>
            </a:pPr>
            <a:endParaRPr lang="en-US" dirty="0" smtClean="0"/>
          </a:p>
          <a:p>
            <a:pPr>
              <a:buNone/>
            </a:pPr>
            <a:r>
              <a:rPr lang="en-US" dirty="0" smtClean="0"/>
              <a:t> </a:t>
            </a:r>
            <a:r>
              <a:rPr lang="en-US" b="1" dirty="0" smtClean="0"/>
              <a:t>Syntax</a:t>
            </a:r>
          </a:p>
          <a:p>
            <a:pPr>
              <a:buNone/>
            </a:pPr>
            <a:r>
              <a:rPr lang="en-US" b="1" dirty="0" smtClean="0"/>
              <a:t>CREATE TABLE STUDENT</a:t>
            </a:r>
          </a:p>
          <a:p>
            <a:pPr>
              <a:buNone/>
            </a:pPr>
            <a:r>
              <a:rPr lang="en-US" b="1" dirty="0" smtClean="0"/>
              <a:t>(</a:t>
            </a:r>
          </a:p>
          <a:p>
            <a:pPr>
              <a:buNone/>
            </a:pPr>
            <a:r>
              <a:rPr lang="en-US" b="1" dirty="0" err="1" smtClean="0"/>
              <a:t>Student_ID</a:t>
            </a:r>
            <a:r>
              <a:rPr lang="en-US" b="1" dirty="0" smtClean="0"/>
              <a:t> INT PRIMARY KEY,</a:t>
            </a:r>
          </a:p>
          <a:p>
            <a:pPr>
              <a:buNone/>
            </a:pPr>
            <a:r>
              <a:rPr lang="en-US" b="1" dirty="0" smtClean="0"/>
              <a:t>Name VARCHAR(30),</a:t>
            </a:r>
          </a:p>
          <a:p>
            <a:pPr>
              <a:buNone/>
            </a:pPr>
            <a:r>
              <a:rPr lang="en-US" b="1" dirty="0" smtClean="0"/>
              <a:t>Branch VARCHAR(20)</a:t>
            </a:r>
          </a:p>
          <a:p>
            <a:pPr>
              <a:buNone/>
            </a:pPr>
            <a:r>
              <a:rPr lang="en-US" b="1" dirty="0" smtClean="0"/>
              <a:t>);</a:t>
            </a:r>
          </a:p>
          <a:p>
            <a:endParaRPr lang="en-US"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4. Alternate Key</a:t>
            </a:r>
            <a:endParaRPr lang="en-US" dirty="0"/>
          </a:p>
        </p:txBody>
      </p:sp>
      <p:sp>
        <p:nvSpPr>
          <p:cNvPr id="3" name="Content Placeholder 2"/>
          <p:cNvSpPr>
            <a:spLocks noGrp="1"/>
          </p:cNvSpPr>
          <p:nvPr>
            <p:ph idx="1"/>
          </p:nvPr>
        </p:nvSpPr>
        <p:spPr/>
        <p:txBody>
          <a:bodyPr>
            <a:normAutofit fontScale="77500" lnSpcReduction="20000"/>
          </a:bodyPr>
          <a:lstStyle/>
          <a:p>
            <a:pPr>
              <a:buNone/>
            </a:pPr>
            <a:r>
              <a:rPr lang="en-US" dirty="0" smtClean="0"/>
              <a:t>	Candidate Keys that are </a:t>
            </a:r>
            <a:r>
              <a:rPr lang="en-US" b="1" dirty="0" smtClean="0"/>
              <a:t>not selected</a:t>
            </a:r>
            <a:r>
              <a:rPr lang="en-US" dirty="0" smtClean="0"/>
              <a:t> as the Primary Key are called </a:t>
            </a:r>
            <a:r>
              <a:rPr lang="en-US" b="1" dirty="0" smtClean="0"/>
              <a:t>Alternate Keys</a:t>
            </a:r>
            <a:r>
              <a:rPr lang="en-US" dirty="0" smtClean="0"/>
              <a:t>.</a:t>
            </a:r>
          </a:p>
          <a:p>
            <a:pPr>
              <a:buNone/>
            </a:pPr>
            <a:endParaRPr lang="en-US" b="1" dirty="0" smtClean="0"/>
          </a:p>
          <a:p>
            <a:pPr>
              <a:buNone/>
            </a:pPr>
            <a:r>
              <a:rPr lang="en-US" b="1" dirty="0" smtClean="0"/>
              <a:t>Example</a:t>
            </a:r>
          </a:p>
          <a:p>
            <a:pPr>
              <a:buNone/>
            </a:pPr>
            <a:r>
              <a:rPr lang="en-US" dirty="0" smtClean="0"/>
              <a:t>Candidate Keys:</a:t>
            </a:r>
          </a:p>
          <a:p>
            <a:pPr lvl="1">
              <a:buNone/>
            </a:pPr>
            <a:r>
              <a:rPr lang="en-US" dirty="0" err="1" smtClean="0"/>
              <a:t>Student_ID</a:t>
            </a:r>
            <a:r>
              <a:rPr lang="en-US" dirty="0" smtClean="0"/>
              <a:t> </a:t>
            </a:r>
          </a:p>
          <a:p>
            <a:pPr lvl="1">
              <a:buNone/>
            </a:pPr>
            <a:r>
              <a:rPr lang="en-US" dirty="0" err="1" smtClean="0"/>
              <a:t>Roll_No</a:t>
            </a:r>
            <a:r>
              <a:rPr lang="en-US" dirty="0" smtClean="0"/>
              <a:t> </a:t>
            </a:r>
          </a:p>
          <a:p>
            <a:pPr lvl="1">
              <a:buNone/>
            </a:pPr>
            <a:r>
              <a:rPr lang="en-US" dirty="0" smtClean="0"/>
              <a:t>Email </a:t>
            </a:r>
          </a:p>
          <a:p>
            <a:pPr>
              <a:buNone/>
            </a:pPr>
            <a:r>
              <a:rPr lang="en-US" dirty="0" smtClean="0"/>
              <a:t>Suppose </a:t>
            </a:r>
            <a:r>
              <a:rPr lang="en-US" dirty="0" err="1" smtClean="0"/>
              <a:t>Student_ID</a:t>
            </a:r>
            <a:r>
              <a:rPr lang="en-US" dirty="0" smtClean="0"/>
              <a:t> is selected as Primary Key.</a:t>
            </a:r>
          </a:p>
          <a:p>
            <a:pPr>
              <a:buNone/>
            </a:pPr>
            <a:r>
              <a:rPr lang="en-US" dirty="0" smtClean="0"/>
              <a:t>	</a:t>
            </a:r>
          </a:p>
          <a:p>
            <a:pPr>
              <a:buNone/>
            </a:pPr>
            <a:r>
              <a:rPr lang="en-US" dirty="0" smtClean="0"/>
              <a:t>Then</a:t>
            </a:r>
          </a:p>
          <a:p>
            <a:pPr>
              <a:buNone/>
            </a:pPr>
            <a:r>
              <a:rPr lang="en-US" dirty="0" smtClean="0"/>
              <a:t>Alternate Keys are</a:t>
            </a:r>
          </a:p>
          <a:p>
            <a:pPr lvl="1">
              <a:buNone/>
            </a:pPr>
            <a:r>
              <a:rPr lang="en-US" dirty="0" err="1" smtClean="0"/>
              <a:t>Roll_No</a:t>
            </a:r>
            <a:r>
              <a:rPr lang="en-US" dirty="0" smtClean="0"/>
              <a:t> </a:t>
            </a:r>
          </a:p>
          <a:p>
            <a:pPr lvl="1">
              <a:buNone/>
            </a:pPr>
            <a:r>
              <a:rPr lang="en-US" dirty="0" smtClean="0"/>
              <a:t>Email </a:t>
            </a:r>
          </a:p>
          <a:p>
            <a:pPr>
              <a:buNone/>
            </a:pPr>
            <a:endParaRPr lang="en-US"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5. Composite Key (Compound Key)</a:t>
            </a:r>
            <a:endParaRPr lang="en-US" dirty="0"/>
          </a:p>
        </p:txBody>
      </p:sp>
      <p:sp>
        <p:nvSpPr>
          <p:cNvPr id="3" name="Content Placeholder 2"/>
          <p:cNvSpPr>
            <a:spLocks noGrp="1"/>
          </p:cNvSpPr>
          <p:nvPr>
            <p:ph idx="1"/>
          </p:nvPr>
        </p:nvSpPr>
        <p:spPr/>
        <p:txBody>
          <a:bodyPr/>
          <a:lstStyle/>
          <a:p>
            <a:pPr>
              <a:buNone/>
            </a:pPr>
            <a:r>
              <a:rPr lang="en-US" b="1" dirty="0" smtClean="0"/>
              <a:t>	</a:t>
            </a:r>
            <a:r>
              <a:rPr lang="en-US" dirty="0" smtClean="0"/>
              <a:t>A key made up of </a:t>
            </a:r>
            <a:r>
              <a:rPr lang="en-US" b="1" dirty="0" smtClean="0"/>
              <a:t>two or more attributes</a:t>
            </a:r>
            <a:r>
              <a:rPr lang="en-US" dirty="0" smtClean="0"/>
              <a:t> together is called a Composite Key.</a:t>
            </a:r>
          </a:p>
          <a:p>
            <a:pPr>
              <a:buNone/>
            </a:pPr>
            <a:r>
              <a:rPr lang="en-US" dirty="0" smtClean="0"/>
              <a:t>	Neither attribute alone is sufficient.</a:t>
            </a:r>
          </a:p>
          <a:p>
            <a:pPr>
              <a:buNone/>
            </a:pPr>
            <a:r>
              <a:rPr lang="en-US" b="1" dirty="0" smtClean="0"/>
              <a:t>Example</a:t>
            </a:r>
          </a:p>
          <a:p>
            <a:r>
              <a:rPr lang="en-US" b="1" dirty="0" smtClean="0"/>
              <a:t>ENROLLMENT Table</a:t>
            </a:r>
          </a:p>
          <a:p>
            <a:endParaRPr lang="en-US" b="1" dirty="0" smtClean="0"/>
          </a:p>
          <a:p>
            <a:endParaRPr lang="en-US" dirty="0"/>
          </a:p>
        </p:txBody>
      </p:sp>
      <p:graphicFrame>
        <p:nvGraphicFramePr>
          <p:cNvPr id="4" name="Table 3"/>
          <p:cNvGraphicFramePr>
            <a:graphicFrameLocks noGrp="1"/>
          </p:cNvGraphicFramePr>
          <p:nvPr/>
        </p:nvGraphicFramePr>
        <p:xfrm>
          <a:off x="1295400" y="4572000"/>
          <a:ext cx="6096000" cy="1483360"/>
        </p:xfrm>
        <a:graphic>
          <a:graphicData uri="http://schemas.openxmlformats.org/drawingml/2006/table">
            <a:tbl>
              <a:tblPr firstRow="1" bandRow="1">
                <a:tableStyleId>{5C22544A-7EE6-4342-B048-85BDC9FD1C3A}</a:tableStyleId>
              </a:tblPr>
              <a:tblGrid>
                <a:gridCol w="2032000"/>
                <a:gridCol w="2032000"/>
                <a:gridCol w="2032000"/>
              </a:tblGrid>
              <a:tr h="370840">
                <a:tc>
                  <a:txBody>
                    <a:bodyPr/>
                    <a:lstStyle/>
                    <a:p>
                      <a:r>
                        <a:rPr lang="en-US" dirty="0" err="1"/>
                        <a:t>Student_ID</a:t>
                      </a:r>
                      <a:endParaRPr lang="en-US" dirty="0"/>
                    </a:p>
                  </a:txBody>
                  <a:tcPr anchor="ctr"/>
                </a:tc>
                <a:tc>
                  <a:txBody>
                    <a:bodyPr/>
                    <a:lstStyle/>
                    <a:p>
                      <a:r>
                        <a:rPr lang="en-US"/>
                        <a:t>Course_ID</a:t>
                      </a:r>
                    </a:p>
                  </a:txBody>
                  <a:tcPr anchor="ctr"/>
                </a:tc>
                <a:tc>
                  <a:txBody>
                    <a:bodyPr/>
                    <a:lstStyle/>
                    <a:p>
                      <a:r>
                        <a:rPr lang="en-US"/>
                        <a:t>Marks</a:t>
                      </a:r>
                    </a:p>
                  </a:txBody>
                  <a:tcPr anchor="ctr"/>
                </a:tc>
              </a:tr>
              <a:tr h="370840">
                <a:tc>
                  <a:txBody>
                    <a:bodyPr/>
                    <a:lstStyle/>
                    <a:p>
                      <a:r>
                        <a:rPr lang="en-US"/>
                        <a:t>101</a:t>
                      </a:r>
                    </a:p>
                  </a:txBody>
                  <a:tcPr anchor="ctr"/>
                </a:tc>
                <a:tc>
                  <a:txBody>
                    <a:bodyPr/>
                    <a:lstStyle/>
                    <a:p>
                      <a:r>
                        <a:rPr lang="en-US"/>
                        <a:t>C101</a:t>
                      </a:r>
                    </a:p>
                  </a:txBody>
                  <a:tcPr anchor="ctr"/>
                </a:tc>
                <a:tc>
                  <a:txBody>
                    <a:bodyPr/>
                    <a:lstStyle/>
                    <a:p>
                      <a:r>
                        <a:rPr lang="en-US"/>
                        <a:t>88</a:t>
                      </a:r>
                    </a:p>
                  </a:txBody>
                  <a:tcPr anchor="ctr"/>
                </a:tc>
              </a:tr>
              <a:tr h="370840">
                <a:tc>
                  <a:txBody>
                    <a:bodyPr/>
                    <a:lstStyle/>
                    <a:p>
                      <a:r>
                        <a:rPr lang="en-US"/>
                        <a:t>101</a:t>
                      </a:r>
                    </a:p>
                  </a:txBody>
                  <a:tcPr anchor="ctr"/>
                </a:tc>
                <a:tc>
                  <a:txBody>
                    <a:bodyPr/>
                    <a:lstStyle/>
                    <a:p>
                      <a:r>
                        <a:rPr lang="en-US"/>
                        <a:t>C102</a:t>
                      </a:r>
                    </a:p>
                  </a:txBody>
                  <a:tcPr anchor="ctr"/>
                </a:tc>
                <a:tc>
                  <a:txBody>
                    <a:bodyPr/>
                    <a:lstStyle/>
                    <a:p>
                      <a:r>
                        <a:rPr lang="en-US"/>
                        <a:t>92</a:t>
                      </a:r>
                    </a:p>
                  </a:txBody>
                  <a:tcPr anchor="ctr"/>
                </a:tc>
              </a:tr>
              <a:tr h="370840">
                <a:tc>
                  <a:txBody>
                    <a:bodyPr/>
                    <a:lstStyle/>
                    <a:p>
                      <a:r>
                        <a:rPr lang="en-US"/>
                        <a:t>102</a:t>
                      </a:r>
                    </a:p>
                  </a:txBody>
                  <a:tcPr anchor="ctr"/>
                </a:tc>
                <a:tc>
                  <a:txBody>
                    <a:bodyPr/>
                    <a:lstStyle/>
                    <a:p>
                      <a:r>
                        <a:rPr lang="en-US"/>
                        <a:t>C101</a:t>
                      </a:r>
                    </a:p>
                  </a:txBody>
                  <a:tcPr anchor="ctr"/>
                </a:tc>
                <a:tc>
                  <a:txBody>
                    <a:bodyPr/>
                    <a:lstStyle/>
                    <a:p>
                      <a:r>
                        <a:rPr lang="en-US" dirty="0"/>
                        <a:t>76</a:t>
                      </a:r>
                    </a:p>
                  </a:txBody>
                  <a:tcPr anchor="ctr"/>
                </a:tc>
              </a:tr>
            </a:tbl>
          </a:graphicData>
        </a:graphic>
      </p:graphicFrame>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buNone/>
            </a:pPr>
            <a:r>
              <a:rPr lang="en-US" b="1" dirty="0" smtClean="0"/>
              <a:t>Syntax:</a:t>
            </a:r>
          </a:p>
          <a:p>
            <a:pPr>
              <a:buNone/>
            </a:pPr>
            <a:endParaRPr lang="en-US" b="1" dirty="0" smtClean="0"/>
          </a:p>
          <a:p>
            <a:pPr>
              <a:buNone/>
            </a:pPr>
            <a:r>
              <a:rPr lang="en-US" b="1" dirty="0" smtClean="0"/>
              <a:t>CREATE TABLE ENROLLMENT</a:t>
            </a:r>
          </a:p>
          <a:p>
            <a:pPr>
              <a:buNone/>
            </a:pPr>
            <a:r>
              <a:rPr lang="en-US" b="1" dirty="0" smtClean="0"/>
              <a:t>(</a:t>
            </a:r>
          </a:p>
          <a:p>
            <a:pPr>
              <a:buNone/>
            </a:pPr>
            <a:r>
              <a:rPr lang="en-US" b="1" dirty="0" err="1" smtClean="0"/>
              <a:t>Student_ID</a:t>
            </a:r>
            <a:r>
              <a:rPr lang="en-US" b="1" dirty="0" smtClean="0"/>
              <a:t> INT,</a:t>
            </a:r>
          </a:p>
          <a:p>
            <a:pPr>
              <a:buNone/>
            </a:pPr>
            <a:r>
              <a:rPr lang="en-US" b="1" dirty="0" err="1" smtClean="0"/>
              <a:t>Course_ID</a:t>
            </a:r>
            <a:r>
              <a:rPr lang="en-US" b="1" dirty="0" smtClean="0"/>
              <a:t> VARCHAR(10),</a:t>
            </a:r>
          </a:p>
          <a:p>
            <a:pPr>
              <a:buNone/>
            </a:pPr>
            <a:r>
              <a:rPr lang="en-US" b="1" dirty="0" smtClean="0"/>
              <a:t>Marks INT,</a:t>
            </a:r>
          </a:p>
          <a:p>
            <a:pPr>
              <a:buNone/>
            </a:pPr>
            <a:r>
              <a:rPr lang="en-US" b="1" dirty="0" smtClean="0"/>
              <a:t>PRIMARY KEY(</a:t>
            </a:r>
            <a:r>
              <a:rPr lang="en-US" b="1" dirty="0" err="1" smtClean="0"/>
              <a:t>Student_ID</a:t>
            </a:r>
            <a:r>
              <a:rPr lang="en-US" b="1" dirty="0" smtClean="0"/>
              <a:t>, </a:t>
            </a:r>
            <a:r>
              <a:rPr lang="en-US" b="1" dirty="0" err="1" smtClean="0"/>
              <a:t>Course_ID</a:t>
            </a:r>
            <a:r>
              <a:rPr lang="en-US" b="1" dirty="0" smtClean="0"/>
              <a:t>)</a:t>
            </a:r>
          </a:p>
          <a:p>
            <a:pPr>
              <a:buNone/>
            </a:pPr>
            <a:r>
              <a:rPr lang="en-US" b="1" dirty="0" smtClean="0"/>
              <a:t>);</a:t>
            </a:r>
            <a:endParaRPr lang="en-US" b="1"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r>
              <a:rPr lang="en-US" b="1" dirty="0" smtClean="0"/>
              <a:t>6. Foreign Key</a:t>
            </a:r>
            <a:endParaRPr lang="en-US" dirty="0"/>
          </a:p>
        </p:txBody>
      </p:sp>
      <p:sp>
        <p:nvSpPr>
          <p:cNvPr id="3" name="Content Placeholder 2"/>
          <p:cNvSpPr>
            <a:spLocks noGrp="1"/>
          </p:cNvSpPr>
          <p:nvPr>
            <p:ph idx="1"/>
          </p:nvPr>
        </p:nvSpPr>
        <p:spPr>
          <a:xfrm>
            <a:off x="304800" y="990600"/>
            <a:ext cx="8382000" cy="5135563"/>
          </a:xfrm>
        </p:spPr>
        <p:txBody>
          <a:bodyPr>
            <a:normAutofit/>
          </a:bodyPr>
          <a:lstStyle/>
          <a:p>
            <a:pPr>
              <a:buNone/>
            </a:pPr>
            <a:r>
              <a:rPr lang="en-US" sz="2200" dirty="0" smtClean="0"/>
              <a:t>	Foreign Key is an attribute in one table that refers to the Primary Key of another table.</a:t>
            </a:r>
          </a:p>
          <a:p>
            <a:pPr>
              <a:buNone/>
            </a:pPr>
            <a:r>
              <a:rPr lang="en-US" sz="2200" dirty="0" smtClean="0"/>
              <a:t>	It creates relationships between tables.</a:t>
            </a:r>
          </a:p>
          <a:p>
            <a:pPr>
              <a:buNone/>
            </a:pPr>
            <a:r>
              <a:rPr lang="en-US" sz="2200" b="1" dirty="0" smtClean="0"/>
              <a:t>Example</a:t>
            </a:r>
          </a:p>
          <a:p>
            <a:r>
              <a:rPr lang="en-US" sz="2200" b="1" dirty="0" smtClean="0"/>
              <a:t>DEPARTMENT Table</a:t>
            </a:r>
          </a:p>
          <a:p>
            <a:endParaRPr lang="en-US" sz="2200" b="1" dirty="0" smtClean="0"/>
          </a:p>
          <a:p>
            <a:endParaRPr lang="en-US" sz="2200" b="1" dirty="0" smtClean="0"/>
          </a:p>
          <a:p>
            <a:endParaRPr lang="en-US" sz="2200" b="1" dirty="0" smtClean="0"/>
          </a:p>
          <a:p>
            <a:r>
              <a:rPr lang="en-US" sz="2200" b="1" dirty="0" smtClean="0"/>
              <a:t>STUDENT Table</a:t>
            </a:r>
          </a:p>
          <a:p>
            <a:endParaRPr lang="en-US" sz="2200" b="1" dirty="0" smtClean="0"/>
          </a:p>
          <a:p>
            <a:endParaRPr lang="en-US" sz="2200" dirty="0"/>
          </a:p>
        </p:txBody>
      </p:sp>
      <p:graphicFrame>
        <p:nvGraphicFramePr>
          <p:cNvPr id="4" name="Table 3"/>
          <p:cNvGraphicFramePr>
            <a:graphicFrameLocks noGrp="1"/>
          </p:cNvGraphicFramePr>
          <p:nvPr/>
        </p:nvGraphicFramePr>
        <p:xfrm>
          <a:off x="3657600" y="2895600"/>
          <a:ext cx="4876800" cy="1483360"/>
        </p:xfrm>
        <a:graphic>
          <a:graphicData uri="http://schemas.openxmlformats.org/drawingml/2006/table">
            <a:tbl>
              <a:tblPr firstRow="1" bandRow="1">
                <a:tableStyleId>{5C22544A-7EE6-4342-B048-85BDC9FD1C3A}</a:tableStyleId>
              </a:tblPr>
              <a:tblGrid>
                <a:gridCol w="2438400"/>
                <a:gridCol w="2438400"/>
              </a:tblGrid>
              <a:tr h="370840">
                <a:tc>
                  <a:txBody>
                    <a:bodyPr/>
                    <a:lstStyle/>
                    <a:p>
                      <a:r>
                        <a:rPr lang="en-US" dirty="0" err="1"/>
                        <a:t>Dept_ID</a:t>
                      </a:r>
                      <a:endParaRPr lang="en-US" dirty="0"/>
                    </a:p>
                  </a:txBody>
                  <a:tcPr anchor="ctr"/>
                </a:tc>
                <a:tc>
                  <a:txBody>
                    <a:bodyPr/>
                    <a:lstStyle/>
                    <a:p>
                      <a:r>
                        <a:rPr lang="en-US"/>
                        <a:t>Dept_Name</a:t>
                      </a:r>
                    </a:p>
                  </a:txBody>
                  <a:tcPr anchor="ctr"/>
                </a:tc>
              </a:tr>
              <a:tr h="370840">
                <a:tc>
                  <a:txBody>
                    <a:bodyPr/>
                    <a:lstStyle/>
                    <a:p>
                      <a:r>
                        <a:rPr lang="en-US" dirty="0"/>
                        <a:t>10</a:t>
                      </a:r>
                    </a:p>
                  </a:txBody>
                  <a:tcPr anchor="ctr"/>
                </a:tc>
                <a:tc>
                  <a:txBody>
                    <a:bodyPr/>
                    <a:lstStyle/>
                    <a:p>
                      <a:r>
                        <a:rPr lang="en-US"/>
                        <a:t>CSE</a:t>
                      </a:r>
                    </a:p>
                  </a:txBody>
                  <a:tcPr anchor="ctr"/>
                </a:tc>
              </a:tr>
              <a:tr h="370840">
                <a:tc>
                  <a:txBody>
                    <a:bodyPr/>
                    <a:lstStyle/>
                    <a:p>
                      <a:r>
                        <a:rPr lang="en-US"/>
                        <a:t>20</a:t>
                      </a:r>
                    </a:p>
                  </a:txBody>
                  <a:tcPr anchor="ctr"/>
                </a:tc>
                <a:tc>
                  <a:txBody>
                    <a:bodyPr/>
                    <a:lstStyle/>
                    <a:p>
                      <a:r>
                        <a:rPr lang="en-US"/>
                        <a:t>ECE</a:t>
                      </a:r>
                    </a:p>
                  </a:txBody>
                  <a:tcPr anchor="ctr"/>
                </a:tc>
              </a:tr>
              <a:tr h="370840">
                <a:tc>
                  <a:txBody>
                    <a:bodyPr/>
                    <a:lstStyle/>
                    <a:p>
                      <a:r>
                        <a:rPr lang="en-US" dirty="0"/>
                        <a:t>30</a:t>
                      </a:r>
                    </a:p>
                  </a:txBody>
                  <a:tcPr anchor="ctr"/>
                </a:tc>
                <a:tc>
                  <a:txBody>
                    <a:bodyPr/>
                    <a:lstStyle/>
                    <a:p>
                      <a:r>
                        <a:rPr lang="en-US" dirty="0"/>
                        <a:t>ME</a:t>
                      </a:r>
                    </a:p>
                  </a:txBody>
                  <a:tcPr anchor="ctr"/>
                </a:tc>
              </a:tr>
            </a:tbl>
          </a:graphicData>
        </a:graphic>
      </p:graphicFrame>
      <p:graphicFrame>
        <p:nvGraphicFramePr>
          <p:cNvPr id="5" name="Table 4"/>
          <p:cNvGraphicFramePr>
            <a:graphicFrameLocks noGrp="1"/>
          </p:cNvGraphicFramePr>
          <p:nvPr/>
        </p:nvGraphicFramePr>
        <p:xfrm>
          <a:off x="2514600" y="5029200"/>
          <a:ext cx="6096000" cy="1483360"/>
        </p:xfrm>
        <a:graphic>
          <a:graphicData uri="http://schemas.openxmlformats.org/drawingml/2006/table">
            <a:tbl>
              <a:tblPr firstRow="1" bandRow="1">
                <a:tableStyleId>{5C22544A-7EE6-4342-B048-85BDC9FD1C3A}</a:tableStyleId>
              </a:tblPr>
              <a:tblGrid>
                <a:gridCol w="2032000"/>
                <a:gridCol w="2032000"/>
                <a:gridCol w="2032000"/>
              </a:tblGrid>
              <a:tr h="370840">
                <a:tc>
                  <a:txBody>
                    <a:bodyPr/>
                    <a:lstStyle/>
                    <a:p>
                      <a:r>
                        <a:rPr lang="en-US" dirty="0" err="1"/>
                        <a:t>Student_ID</a:t>
                      </a:r>
                      <a:endParaRPr lang="en-US" dirty="0"/>
                    </a:p>
                  </a:txBody>
                  <a:tcPr anchor="ctr"/>
                </a:tc>
                <a:tc>
                  <a:txBody>
                    <a:bodyPr/>
                    <a:lstStyle/>
                    <a:p>
                      <a:r>
                        <a:rPr lang="en-US" dirty="0"/>
                        <a:t>Name</a:t>
                      </a:r>
                    </a:p>
                  </a:txBody>
                  <a:tcPr anchor="ctr"/>
                </a:tc>
                <a:tc>
                  <a:txBody>
                    <a:bodyPr/>
                    <a:lstStyle/>
                    <a:p>
                      <a:r>
                        <a:rPr lang="en-US" dirty="0" err="1">
                          <a:solidFill>
                            <a:srgbClr val="FF0000"/>
                          </a:solidFill>
                        </a:rPr>
                        <a:t>Dept_ID</a:t>
                      </a:r>
                      <a:endParaRPr lang="en-US" dirty="0">
                        <a:solidFill>
                          <a:srgbClr val="FF0000"/>
                        </a:solidFill>
                      </a:endParaRPr>
                    </a:p>
                  </a:txBody>
                  <a:tcPr anchor="ctr"/>
                </a:tc>
              </a:tr>
              <a:tr h="370840">
                <a:tc>
                  <a:txBody>
                    <a:bodyPr/>
                    <a:lstStyle/>
                    <a:p>
                      <a:r>
                        <a:rPr lang="en-US"/>
                        <a:t>101</a:t>
                      </a:r>
                    </a:p>
                  </a:txBody>
                  <a:tcPr anchor="ctr"/>
                </a:tc>
                <a:tc>
                  <a:txBody>
                    <a:bodyPr/>
                    <a:lstStyle/>
                    <a:p>
                      <a:r>
                        <a:rPr lang="en-US"/>
                        <a:t>Amit</a:t>
                      </a:r>
                    </a:p>
                  </a:txBody>
                  <a:tcPr anchor="ctr"/>
                </a:tc>
                <a:tc>
                  <a:txBody>
                    <a:bodyPr/>
                    <a:lstStyle/>
                    <a:p>
                      <a:r>
                        <a:rPr lang="en-US" dirty="0">
                          <a:solidFill>
                            <a:srgbClr val="FF0000"/>
                          </a:solidFill>
                        </a:rPr>
                        <a:t>10</a:t>
                      </a:r>
                    </a:p>
                  </a:txBody>
                  <a:tcPr anchor="ctr"/>
                </a:tc>
              </a:tr>
              <a:tr h="370840">
                <a:tc>
                  <a:txBody>
                    <a:bodyPr/>
                    <a:lstStyle/>
                    <a:p>
                      <a:r>
                        <a:rPr lang="en-US"/>
                        <a:t>102</a:t>
                      </a:r>
                    </a:p>
                  </a:txBody>
                  <a:tcPr anchor="ctr"/>
                </a:tc>
                <a:tc>
                  <a:txBody>
                    <a:bodyPr/>
                    <a:lstStyle/>
                    <a:p>
                      <a:r>
                        <a:rPr lang="en-US"/>
                        <a:t>Priya</a:t>
                      </a:r>
                    </a:p>
                  </a:txBody>
                  <a:tcPr anchor="ctr"/>
                </a:tc>
                <a:tc>
                  <a:txBody>
                    <a:bodyPr/>
                    <a:lstStyle/>
                    <a:p>
                      <a:r>
                        <a:rPr lang="en-US" dirty="0">
                          <a:solidFill>
                            <a:srgbClr val="FF0000"/>
                          </a:solidFill>
                        </a:rPr>
                        <a:t>10</a:t>
                      </a:r>
                    </a:p>
                  </a:txBody>
                  <a:tcPr anchor="ctr"/>
                </a:tc>
              </a:tr>
              <a:tr h="370840">
                <a:tc>
                  <a:txBody>
                    <a:bodyPr/>
                    <a:lstStyle/>
                    <a:p>
                      <a:r>
                        <a:rPr lang="en-US"/>
                        <a:t>103</a:t>
                      </a:r>
                    </a:p>
                  </a:txBody>
                  <a:tcPr anchor="ctr"/>
                </a:tc>
                <a:tc>
                  <a:txBody>
                    <a:bodyPr/>
                    <a:lstStyle/>
                    <a:p>
                      <a:r>
                        <a:rPr lang="en-US"/>
                        <a:t>Rahul</a:t>
                      </a:r>
                    </a:p>
                  </a:txBody>
                  <a:tcPr anchor="ctr"/>
                </a:tc>
                <a:tc>
                  <a:txBody>
                    <a:bodyPr/>
                    <a:lstStyle/>
                    <a:p>
                      <a:r>
                        <a:rPr lang="en-US" dirty="0">
                          <a:solidFill>
                            <a:srgbClr val="FF0000"/>
                          </a:solidFill>
                        </a:rPr>
                        <a:t>20</a:t>
                      </a:r>
                    </a:p>
                  </a:txBody>
                  <a:tcPr anchor="ctr"/>
                </a:tc>
              </a:tr>
            </a:tbl>
          </a:graphicData>
        </a:graphic>
      </p:graphicFrame>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62500" lnSpcReduction="20000"/>
          </a:bodyPr>
          <a:lstStyle/>
          <a:p>
            <a:pPr>
              <a:buNone/>
            </a:pPr>
            <a:r>
              <a:rPr lang="en-US" b="1" dirty="0" smtClean="0"/>
              <a:t>Syntax:</a:t>
            </a:r>
          </a:p>
          <a:p>
            <a:pPr>
              <a:buNone/>
            </a:pPr>
            <a:endParaRPr lang="en-US" b="1" dirty="0" smtClean="0"/>
          </a:p>
          <a:p>
            <a:pPr>
              <a:buNone/>
            </a:pPr>
            <a:r>
              <a:rPr lang="en-US" b="1" dirty="0" smtClean="0"/>
              <a:t>CREATE TABLE DEPARTMENT</a:t>
            </a:r>
          </a:p>
          <a:p>
            <a:pPr>
              <a:buNone/>
            </a:pPr>
            <a:r>
              <a:rPr lang="en-US" b="1" dirty="0" smtClean="0"/>
              <a:t>(</a:t>
            </a:r>
          </a:p>
          <a:p>
            <a:pPr>
              <a:buNone/>
            </a:pPr>
            <a:r>
              <a:rPr lang="en-US" b="1" dirty="0" err="1" smtClean="0"/>
              <a:t>Dept_ID</a:t>
            </a:r>
            <a:r>
              <a:rPr lang="en-US" b="1" dirty="0" smtClean="0"/>
              <a:t> INT PRIMARY KEY,</a:t>
            </a:r>
          </a:p>
          <a:p>
            <a:pPr>
              <a:buNone/>
            </a:pPr>
            <a:r>
              <a:rPr lang="en-US" b="1" dirty="0" err="1" smtClean="0"/>
              <a:t>Dept_Name</a:t>
            </a:r>
            <a:r>
              <a:rPr lang="en-US" b="1" dirty="0" smtClean="0"/>
              <a:t> VARCHAR(30)</a:t>
            </a:r>
          </a:p>
          <a:p>
            <a:pPr>
              <a:buNone/>
            </a:pPr>
            <a:r>
              <a:rPr lang="en-US" b="1" dirty="0" smtClean="0"/>
              <a:t>);</a:t>
            </a:r>
          </a:p>
          <a:p>
            <a:pPr>
              <a:buNone/>
            </a:pPr>
            <a:endParaRPr lang="en-US" b="1" dirty="0" smtClean="0"/>
          </a:p>
          <a:p>
            <a:pPr>
              <a:buNone/>
            </a:pPr>
            <a:r>
              <a:rPr lang="en-US" b="1" dirty="0" smtClean="0"/>
              <a:t>CREATE TABLE STUDENT</a:t>
            </a:r>
          </a:p>
          <a:p>
            <a:pPr>
              <a:buNone/>
            </a:pPr>
            <a:r>
              <a:rPr lang="en-US" b="1" dirty="0" smtClean="0"/>
              <a:t>(</a:t>
            </a:r>
          </a:p>
          <a:p>
            <a:pPr>
              <a:buNone/>
            </a:pPr>
            <a:r>
              <a:rPr lang="en-US" b="1" dirty="0" err="1" smtClean="0"/>
              <a:t>Student_ID</a:t>
            </a:r>
            <a:r>
              <a:rPr lang="en-US" b="1" dirty="0" smtClean="0"/>
              <a:t> INT PRIMARY KEY,</a:t>
            </a:r>
          </a:p>
          <a:p>
            <a:pPr>
              <a:buNone/>
            </a:pPr>
            <a:r>
              <a:rPr lang="en-US" b="1" dirty="0" smtClean="0"/>
              <a:t>Name VARCHAR(30),</a:t>
            </a:r>
          </a:p>
          <a:p>
            <a:pPr>
              <a:buNone/>
            </a:pPr>
            <a:r>
              <a:rPr lang="en-US" b="1" dirty="0" err="1" smtClean="0"/>
              <a:t>Dept_ID</a:t>
            </a:r>
            <a:r>
              <a:rPr lang="en-US" b="1" dirty="0" smtClean="0"/>
              <a:t> INT,</a:t>
            </a:r>
          </a:p>
          <a:p>
            <a:pPr>
              <a:buNone/>
            </a:pPr>
            <a:r>
              <a:rPr lang="en-US" b="1" dirty="0" smtClean="0"/>
              <a:t>FOREIGN KEY(</a:t>
            </a:r>
            <a:r>
              <a:rPr lang="en-US" b="1" dirty="0" err="1" smtClean="0"/>
              <a:t>Dept_ID</a:t>
            </a:r>
            <a:r>
              <a:rPr lang="en-US" b="1" dirty="0" smtClean="0"/>
              <a:t>)</a:t>
            </a:r>
          </a:p>
          <a:p>
            <a:pPr>
              <a:buNone/>
            </a:pPr>
            <a:r>
              <a:rPr lang="en-US" b="1" dirty="0" smtClean="0"/>
              <a:t>REFERENCES DEPARTMENT(</a:t>
            </a:r>
            <a:r>
              <a:rPr lang="en-US" b="1" dirty="0" err="1" smtClean="0"/>
              <a:t>Dept_ID</a:t>
            </a:r>
            <a:r>
              <a:rPr lang="en-US" b="1" dirty="0" smtClean="0"/>
              <a:t>)</a:t>
            </a:r>
          </a:p>
          <a:p>
            <a:pPr>
              <a:buNone/>
            </a:pPr>
            <a:r>
              <a:rPr lang="en-US" b="1" dirty="0" smtClean="0"/>
              <a:t>);</a:t>
            </a:r>
            <a:endParaRPr lang="en-US" b="1"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Hierarchical Database Model (DBMS)</a:t>
            </a:r>
            <a:endParaRPr lang="en-US" dirty="0"/>
          </a:p>
        </p:txBody>
      </p:sp>
      <p:sp>
        <p:nvSpPr>
          <p:cNvPr id="3" name="Content Placeholder 2"/>
          <p:cNvSpPr>
            <a:spLocks noGrp="1"/>
          </p:cNvSpPr>
          <p:nvPr>
            <p:ph idx="1"/>
          </p:nvPr>
        </p:nvSpPr>
        <p:spPr/>
        <p:txBody>
          <a:bodyPr>
            <a:normAutofit fontScale="92500" lnSpcReduction="20000"/>
          </a:bodyPr>
          <a:lstStyle/>
          <a:p>
            <a:pPr>
              <a:buFont typeface="Wingdings" pitchFamily="2" charset="2"/>
              <a:buChar char="Ø"/>
            </a:pPr>
            <a:r>
              <a:rPr lang="en-US" dirty="0" smtClean="0"/>
              <a:t>The Hierarchical Database Model is one of the earliest database models in which data is organized in the form of a tree structure.</a:t>
            </a:r>
          </a:p>
          <a:p>
            <a:pPr>
              <a:buFont typeface="Wingdings" pitchFamily="2" charset="2"/>
              <a:buChar char="Ø"/>
            </a:pPr>
            <a:r>
              <a:rPr lang="en-US" dirty="0" smtClean="0"/>
              <a:t>It consists of Parent and Child nodes. </a:t>
            </a:r>
          </a:p>
          <a:p>
            <a:pPr>
              <a:buFont typeface="Wingdings" pitchFamily="2" charset="2"/>
              <a:buChar char="Ø"/>
            </a:pPr>
            <a:r>
              <a:rPr lang="en-US" dirty="0" smtClean="0"/>
              <a:t>Each parent can have multiple children. </a:t>
            </a:r>
          </a:p>
          <a:p>
            <a:pPr>
              <a:buFont typeface="Wingdings" pitchFamily="2" charset="2"/>
              <a:buChar char="Ø"/>
            </a:pPr>
            <a:r>
              <a:rPr lang="en-US" dirty="0" smtClean="0"/>
              <a:t>Each child can have only one parent. </a:t>
            </a:r>
          </a:p>
          <a:p>
            <a:pPr>
              <a:buFont typeface="Wingdings" pitchFamily="2" charset="2"/>
              <a:buChar char="Ø"/>
            </a:pPr>
            <a:r>
              <a:rPr lang="en-US" dirty="0" smtClean="0"/>
              <a:t>The topmost node is called the Root. </a:t>
            </a:r>
          </a:p>
          <a:p>
            <a:pPr>
              <a:buFont typeface="Wingdings" pitchFamily="2" charset="2"/>
              <a:buChar char="Ø"/>
            </a:pPr>
            <a:endParaRPr lang="en-US" b="1" dirty="0" smtClean="0"/>
          </a:p>
          <a:p>
            <a:pPr>
              <a:buFont typeface="Wingdings" pitchFamily="2" charset="2"/>
              <a:buChar char="Ø"/>
            </a:pPr>
            <a:r>
              <a:rPr lang="en-US" dirty="0" smtClean="0"/>
              <a:t>In Simple terms, </a:t>
            </a:r>
            <a:r>
              <a:rPr lang="en-US" b="1" dirty="0" smtClean="0">
                <a:solidFill>
                  <a:srgbClr val="7030A0"/>
                </a:solidFill>
              </a:rPr>
              <a:t>The Hierarchical Database Model is a database model in which data is organized in a tree-like structure where each parent record can have many child records, but each child record has only one parent.</a:t>
            </a:r>
            <a:endParaRPr lang="en-US" dirty="0" smtClean="0">
              <a:solidFill>
                <a:srgbClr val="7030A0"/>
              </a:solidFill>
            </a:endParaRPr>
          </a:p>
          <a:p>
            <a:pPr>
              <a:buFont typeface="Wingdings" pitchFamily="2" charset="2"/>
              <a:buChar char="Ø"/>
            </a:pPr>
            <a:endParaRPr lang="en-US" dirty="0"/>
          </a:p>
        </p:txBody>
      </p:sp>
    </p:spTree>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896112"/>
          </a:xfrm>
        </p:spPr>
        <p:txBody>
          <a:bodyPr>
            <a:normAutofit/>
          </a:bodyPr>
          <a:lstStyle/>
          <a:p>
            <a:r>
              <a:rPr lang="en-US" sz="3200" dirty="0" smtClean="0"/>
              <a:t>Real Life Example</a:t>
            </a:r>
            <a:endParaRPr lang="en-US" sz="3200" dirty="0"/>
          </a:p>
        </p:txBody>
      </p:sp>
      <p:sp>
        <p:nvSpPr>
          <p:cNvPr id="3" name="Content Placeholder 2"/>
          <p:cNvSpPr>
            <a:spLocks noGrp="1"/>
          </p:cNvSpPr>
          <p:nvPr>
            <p:ph idx="1"/>
          </p:nvPr>
        </p:nvSpPr>
        <p:spPr/>
        <p:txBody>
          <a:bodyPr>
            <a:normAutofit lnSpcReduction="10000"/>
          </a:bodyPr>
          <a:lstStyle/>
          <a:p>
            <a:pPr>
              <a:buNone/>
            </a:pPr>
            <a:r>
              <a:rPr lang="en-US" dirty="0" smtClean="0"/>
              <a:t>Think of a Family Tree</a:t>
            </a:r>
          </a:p>
          <a:p>
            <a:pPr>
              <a:buNone/>
            </a:pPr>
            <a:r>
              <a:rPr lang="en-US" dirty="0" smtClean="0"/>
              <a:t>				Grandfather</a:t>
            </a:r>
          </a:p>
          <a:p>
            <a:pPr>
              <a:buNone/>
            </a:pPr>
            <a:r>
              <a:rPr lang="en-US" dirty="0" smtClean="0"/>
              <a:t>    				          |</a:t>
            </a:r>
          </a:p>
          <a:p>
            <a:pPr>
              <a:buNone/>
            </a:pPr>
            <a:r>
              <a:rPr lang="en-US" dirty="0" smtClean="0"/>
              <a:t>			          -------------------</a:t>
            </a:r>
          </a:p>
          <a:p>
            <a:pPr>
              <a:buNone/>
            </a:pPr>
            <a:r>
              <a:rPr lang="en-US" dirty="0" smtClean="0"/>
              <a:t>                                 |                        |</a:t>
            </a:r>
          </a:p>
          <a:p>
            <a:pPr>
              <a:buNone/>
            </a:pPr>
            <a:r>
              <a:rPr lang="en-US" dirty="0" smtClean="0"/>
              <a:t>                              Father             Uncle</a:t>
            </a:r>
          </a:p>
          <a:p>
            <a:pPr>
              <a:buNone/>
            </a:pPr>
            <a:r>
              <a:rPr lang="en-US" dirty="0" smtClean="0"/>
              <a:t>                                 |</a:t>
            </a:r>
          </a:p>
          <a:p>
            <a:pPr>
              <a:buNone/>
            </a:pPr>
            <a:r>
              <a:rPr lang="en-US" dirty="0" smtClean="0"/>
              <a:t>                      -----------------</a:t>
            </a:r>
          </a:p>
          <a:p>
            <a:pPr>
              <a:buNone/>
            </a:pPr>
            <a:r>
              <a:rPr lang="en-US" dirty="0" smtClean="0"/>
              <a:t>                      |                     |</a:t>
            </a:r>
          </a:p>
          <a:p>
            <a:pPr>
              <a:buNone/>
            </a:pPr>
            <a:r>
              <a:rPr lang="en-US" dirty="0" smtClean="0"/>
              <a:t>                   Son          Daughter</a:t>
            </a:r>
            <a:endParaRPr lang="en-US" dirty="0"/>
          </a:p>
        </p:txBody>
      </p:sp>
    </p:spTree>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743712"/>
          </a:xfrm>
        </p:spPr>
        <p:txBody>
          <a:bodyPr>
            <a:normAutofit/>
          </a:bodyPr>
          <a:lstStyle/>
          <a:p>
            <a:r>
              <a:rPr lang="en-US" sz="3200" dirty="0" smtClean="0"/>
              <a:t>Database Example</a:t>
            </a:r>
            <a:endParaRPr lang="en-US" sz="3200" dirty="0"/>
          </a:p>
        </p:txBody>
      </p:sp>
      <p:sp>
        <p:nvSpPr>
          <p:cNvPr id="3" name="Content Placeholder 2"/>
          <p:cNvSpPr>
            <a:spLocks noGrp="1"/>
          </p:cNvSpPr>
          <p:nvPr>
            <p:ph idx="1"/>
          </p:nvPr>
        </p:nvSpPr>
        <p:spPr>
          <a:xfrm>
            <a:off x="457200" y="1524000"/>
            <a:ext cx="8229600" cy="4800600"/>
          </a:xfrm>
        </p:spPr>
        <p:txBody>
          <a:bodyPr>
            <a:normAutofit/>
          </a:bodyPr>
          <a:lstStyle/>
          <a:p>
            <a:pPr>
              <a:buNone/>
            </a:pPr>
            <a:r>
              <a:rPr lang="en-US" sz="2400" dirty="0" smtClean="0"/>
              <a:t>	Suppose a university stores information about Departments and Students.</a:t>
            </a:r>
          </a:p>
          <a:p>
            <a:r>
              <a:rPr lang="en-US" sz="2400" b="1" dirty="0" smtClean="0"/>
              <a:t>DEPARTMENT</a:t>
            </a:r>
          </a:p>
          <a:p>
            <a:endParaRPr lang="en-US" sz="2400" b="1" dirty="0" smtClean="0"/>
          </a:p>
          <a:p>
            <a:endParaRPr lang="en-US" sz="2400" b="1" dirty="0" smtClean="0"/>
          </a:p>
          <a:p>
            <a:r>
              <a:rPr lang="en-US" sz="2400" b="1" dirty="0" smtClean="0"/>
              <a:t>STUDENT</a:t>
            </a:r>
            <a:endParaRPr lang="en-US" sz="2400" b="1" dirty="0"/>
          </a:p>
        </p:txBody>
      </p:sp>
      <p:graphicFrame>
        <p:nvGraphicFramePr>
          <p:cNvPr id="4" name="Table 3"/>
          <p:cNvGraphicFramePr>
            <a:graphicFrameLocks noGrp="1"/>
          </p:cNvGraphicFramePr>
          <p:nvPr/>
        </p:nvGraphicFramePr>
        <p:xfrm>
          <a:off x="2743200" y="2819400"/>
          <a:ext cx="5715000" cy="1112520"/>
        </p:xfrm>
        <a:graphic>
          <a:graphicData uri="http://schemas.openxmlformats.org/drawingml/2006/table">
            <a:tbl>
              <a:tblPr firstRow="1" bandRow="1">
                <a:tableStyleId>{5C22544A-7EE6-4342-B048-85BDC9FD1C3A}</a:tableStyleId>
              </a:tblPr>
              <a:tblGrid>
                <a:gridCol w="2857500"/>
                <a:gridCol w="2857500"/>
              </a:tblGrid>
              <a:tr h="370840">
                <a:tc>
                  <a:txBody>
                    <a:bodyPr/>
                    <a:lstStyle/>
                    <a:p>
                      <a:r>
                        <a:rPr lang="en-US" dirty="0" err="1"/>
                        <a:t>Dept_ID</a:t>
                      </a:r>
                      <a:endParaRPr lang="en-US" dirty="0"/>
                    </a:p>
                  </a:txBody>
                  <a:tcPr anchor="ctr"/>
                </a:tc>
                <a:tc>
                  <a:txBody>
                    <a:bodyPr/>
                    <a:lstStyle/>
                    <a:p>
                      <a:r>
                        <a:rPr lang="en-US"/>
                        <a:t>Department</a:t>
                      </a:r>
                    </a:p>
                  </a:txBody>
                  <a:tcPr anchor="ctr"/>
                </a:tc>
              </a:tr>
              <a:tr h="370840">
                <a:tc>
                  <a:txBody>
                    <a:bodyPr/>
                    <a:lstStyle/>
                    <a:p>
                      <a:r>
                        <a:rPr lang="en-US" dirty="0"/>
                        <a:t>10</a:t>
                      </a:r>
                    </a:p>
                  </a:txBody>
                  <a:tcPr anchor="ctr"/>
                </a:tc>
                <a:tc>
                  <a:txBody>
                    <a:bodyPr/>
                    <a:lstStyle/>
                    <a:p>
                      <a:r>
                        <a:rPr lang="en-US" dirty="0"/>
                        <a:t>Computer Science</a:t>
                      </a:r>
                    </a:p>
                  </a:txBody>
                  <a:tcPr anchor="ctr"/>
                </a:tc>
              </a:tr>
              <a:tr h="370840">
                <a:tc>
                  <a:txBody>
                    <a:bodyPr/>
                    <a:lstStyle/>
                    <a:p>
                      <a:r>
                        <a:rPr lang="en-US"/>
                        <a:t>20</a:t>
                      </a:r>
                    </a:p>
                  </a:txBody>
                  <a:tcPr anchor="ctr"/>
                </a:tc>
                <a:tc>
                  <a:txBody>
                    <a:bodyPr/>
                    <a:lstStyle/>
                    <a:p>
                      <a:r>
                        <a:rPr lang="en-US" dirty="0"/>
                        <a:t>Electronics</a:t>
                      </a:r>
                    </a:p>
                  </a:txBody>
                  <a:tcPr anchor="ctr"/>
                </a:tc>
              </a:tr>
            </a:tbl>
          </a:graphicData>
        </a:graphic>
      </p:graphicFrame>
      <p:graphicFrame>
        <p:nvGraphicFramePr>
          <p:cNvPr id="5" name="Table 4"/>
          <p:cNvGraphicFramePr>
            <a:graphicFrameLocks noGrp="1"/>
          </p:cNvGraphicFramePr>
          <p:nvPr/>
        </p:nvGraphicFramePr>
        <p:xfrm>
          <a:off x="2209800" y="4267200"/>
          <a:ext cx="5181600" cy="1854200"/>
        </p:xfrm>
        <a:graphic>
          <a:graphicData uri="http://schemas.openxmlformats.org/drawingml/2006/table">
            <a:tbl>
              <a:tblPr firstRow="1" bandRow="1">
                <a:tableStyleId>{5C22544A-7EE6-4342-B048-85BDC9FD1C3A}</a:tableStyleId>
              </a:tblPr>
              <a:tblGrid>
                <a:gridCol w="1727200"/>
                <a:gridCol w="1727200"/>
                <a:gridCol w="1727200"/>
              </a:tblGrid>
              <a:tr h="370840">
                <a:tc>
                  <a:txBody>
                    <a:bodyPr/>
                    <a:lstStyle/>
                    <a:p>
                      <a:r>
                        <a:rPr lang="en-US" dirty="0" err="1"/>
                        <a:t>Student_ID</a:t>
                      </a:r>
                      <a:endParaRPr lang="en-US" dirty="0"/>
                    </a:p>
                  </a:txBody>
                  <a:tcPr anchor="ctr"/>
                </a:tc>
                <a:tc>
                  <a:txBody>
                    <a:bodyPr/>
                    <a:lstStyle/>
                    <a:p>
                      <a:r>
                        <a:rPr lang="en-US"/>
                        <a:t>Name</a:t>
                      </a:r>
                    </a:p>
                  </a:txBody>
                  <a:tcPr anchor="ctr"/>
                </a:tc>
                <a:tc>
                  <a:txBody>
                    <a:bodyPr/>
                    <a:lstStyle/>
                    <a:p>
                      <a:r>
                        <a:rPr lang="en-US"/>
                        <a:t>Dept_ID</a:t>
                      </a:r>
                    </a:p>
                  </a:txBody>
                  <a:tcPr anchor="ctr"/>
                </a:tc>
              </a:tr>
              <a:tr h="370840">
                <a:tc>
                  <a:txBody>
                    <a:bodyPr/>
                    <a:lstStyle/>
                    <a:p>
                      <a:r>
                        <a:rPr lang="en-US"/>
                        <a:t>101</a:t>
                      </a:r>
                    </a:p>
                  </a:txBody>
                  <a:tcPr anchor="ctr"/>
                </a:tc>
                <a:tc>
                  <a:txBody>
                    <a:bodyPr/>
                    <a:lstStyle/>
                    <a:p>
                      <a:r>
                        <a:rPr lang="en-US" dirty="0" err="1"/>
                        <a:t>Amit</a:t>
                      </a:r>
                      <a:endParaRPr lang="en-US" dirty="0"/>
                    </a:p>
                  </a:txBody>
                  <a:tcPr anchor="ctr"/>
                </a:tc>
                <a:tc>
                  <a:txBody>
                    <a:bodyPr/>
                    <a:lstStyle/>
                    <a:p>
                      <a:r>
                        <a:rPr lang="en-US"/>
                        <a:t>10</a:t>
                      </a:r>
                    </a:p>
                  </a:txBody>
                  <a:tcPr anchor="ctr"/>
                </a:tc>
              </a:tr>
              <a:tr h="370840">
                <a:tc>
                  <a:txBody>
                    <a:bodyPr/>
                    <a:lstStyle/>
                    <a:p>
                      <a:r>
                        <a:rPr lang="en-US"/>
                        <a:t>102</a:t>
                      </a:r>
                    </a:p>
                  </a:txBody>
                  <a:tcPr anchor="ctr"/>
                </a:tc>
                <a:tc>
                  <a:txBody>
                    <a:bodyPr/>
                    <a:lstStyle/>
                    <a:p>
                      <a:r>
                        <a:rPr lang="en-US"/>
                        <a:t>Priya</a:t>
                      </a:r>
                    </a:p>
                  </a:txBody>
                  <a:tcPr anchor="ctr"/>
                </a:tc>
                <a:tc>
                  <a:txBody>
                    <a:bodyPr/>
                    <a:lstStyle/>
                    <a:p>
                      <a:r>
                        <a:rPr lang="en-US"/>
                        <a:t>10</a:t>
                      </a:r>
                    </a:p>
                  </a:txBody>
                  <a:tcPr anchor="ctr"/>
                </a:tc>
              </a:tr>
              <a:tr h="370840">
                <a:tc>
                  <a:txBody>
                    <a:bodyPr/>
                    <a:lstStyle/>
                    <a:p>
                      <a:r>
                        <a:rPr lang="en-US"/>
                        <a:t>103</a:t>
                      </a:r>
                    </a:p>
                  </a:txBody>
                  <a:tcPr anchor="ctr"/>
                </a:tc>
                <a:tc>
                  <a:txBody>
                    <a:bodyPr/>
                    <a:lstStyle/>
                    <a:p>
                      <a:r>
                        <a:rPr lang="en-US"/>
                        <a:t>Rahul</a:t>
                      </a:r>
                    </a:p>
                  </a:txBody>
                  <a:tcPr anchor="ctr"/>
                </a:tc>
                <a:tc>
                  <a:txBody>
                    <a:bodyPr/>
                    <a:lstStyle/>
                    <a:p>
                      <a:r>
                        <a:rPr lang="en-US"/>
                        <a:t>20</a:t>
                      </a:r>
                    </a:p>
                  </a:txBody>
                  <a:tcPr anchor="ctr"/>
                </a:tc>
              </a:tr>
              <a:tr h="370840">
                <a:tc>
                  <a:txBody>
                    <a:bodyPr/>
                    <a:lstStyle/>
                    <a:p>
                      <a:r>
                        <a:rPr lang="en-US"/>
                        <a:t>104</a:t>
                      </a:r>
                    </a:p>
                  </a:txBody>
                  <a:tcPr anchor="ctr"/>
                </a:tc>
                <a:tc>
                  <a:txBody>
                    <a:bodyPr/>
                    <a:lstStyle/>
                    <a:p>
                      <a:r>
                        <a:rPr lang="en-US"/>
                        <a:t>Neha</a:t>
                      </a:r>
                    </a:p>
                  </a:txBody>
                  <a:tcPr anchor="ctr"/>
                </a:tc>
                <a:tc>
                  <a:txBody>
                    <a:bodyPr/>
                    <a:lstStyle/>
                    <a:p>
                      <a:r>
                        <a:rPr lang="en-US" dirty="0"/>
                        <a:t>20</a:t>
                      </a:r>
                    </a:p>
                  </a:txBody>
                  <a:tcPr anchor="ctr"/>
                </a:tc>
              </a:tr>
            </a:tbl>
          </a:graphicData>
        </a:graphic>
      </p:graphicFrame>
    </p:spTree>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5592763"/>
          </a:xfrm>
        </p:spPr>
        <p:txBody>
          <a:bodyPr>
            <a:normAutofit fontScale="92500" lnSpcReduction="10000"/>
          </a:bodyPr>
          <a:lstStyle/>
          <a:p>
            <a:pPr>
              <a:buNone/>
            </a:pPr>
            <a:r>
              <a:rPr lang="en-US" sz="2200" dirty="0" smtClean="0"/>
              <a:t>				University</a:t>
            </a:r>
          </a:p>
          <a:p>
            <a:pPr>
              <a:buNone/>
            </a:pPr>
            <a:r>
              <a:rPr lang="en-US" sz="2200" dirty="0" smtClean="0"/>
              <a:t> 				       |</a:t>
            </a:r>
          </a:p>
          <a:p>
            <a:pPr>
              <a:buNone/>
            </a:pPr>
            <a:r>
              <a:rPr lang="en-US" sz="2200" dirty="0" smtClean="0"/>
              <a:t>                              --------------------------------</a:t>
            </a:r>
          </a:p>
          <a:p>
            <a:pPr>
              <a:buNone/>
            </a:pPr>
            <a:r>
              <a:rPr lang="en-US" sz="2200" dirty="0" smtClean="0"/>
              <a:t>                              |                                        |</a:t>
            </a:r>
          </a:p>
          <a:p>
            <a:pPr>
              <a:buNone/>
            </a:pPr>
            <a:r>
              <a:rPr lang="en-US" sz="2200" dirty="0" smtClean="0"/>
              <a:t>                  Computer Science           Electronics</a:t>
            </a:r>
          </a:p>
          <a:p>
            <a:pPr>
              <a:buNone/>
            </a:pPr>
            <a:r>
              <a:rPr lang="en-US" sz="2200" dirty="0" smtClean="0"/>
              <a:t>                              |                                      |</a:t>
            </a:r>
          </a:p>
          <a:p>
            <a:pPr>
              <a:buNone/>
            </a:pPr>
            <a:r>
              <a:rPr lang="en-US" sz="2200" dirty="0" smtClean="0"/>
              <a:t>                    ------------------                 ----------------</a:t>
            </a:r>
          </a:p>
          <a:p>
            <a:pPr>
              <a:buNone/>
            </a:pPr>
            <a:r>
              <a:rPr lang="en-US" sz="2200" dirty="0" smtClean="0"/>
              <a:t>                    |                     |               |                    |</a:t>
            </a:r>
          </a:p>
          <a:p>
            <a:pPr>
              <a:buNone/>
            </a:pPr>
            <a:r>
              <a:rPr lang="en-US" sz="2200" dirty="0" smtClean="0"/>
              <a:t>                 </a:t>
            </a:r>
            <a:r>
              <a:rPr lang="en-US" sz="2200" dirty="0" err="1" smtClean="0"/>
              <a:t>Amit</a:t>
            </a:r>
            <a:r>
              <a:rPr lang="en-US" sz="2200" dirty="0" smtClean="0"/>
              <a:t>             </a:t>
            </a:r>
            <a:r>
              <a:rPr lang="en-US" sz="2200" dirty="0" err="1" smtClean="0"/>
              <a:t>Priya</a:t>
            </a:r>
            <a:r>
              <a:rPr lang="en-US" sz="2200" dirty="0" smtClean="0"/>
              <a:t>        </a:t>
            </a:r>
            <a:r>
              <a:rPr lang="en-US" sz="2200" dirty="0" err="1" smtClean="0"/>
              <a:t>Rahul</a:t>
            </a:r>
            <a:r>
              <a:rPr lang="en-US" sz="2200" dirty="0" smtClean="0"/>
              <a:t>             </a:t>
            </a:r>
            <a:r>
              <a:rPr lang="en-US" sz="2200" dirty="0" err="1" smtClean="0"/>
              <a:t>Neha</a:t>
            </a:r>
            <a:endParaRPr lang="en-US" sz="2200" dirty="0" smtClean="0"/>
          </a:p>
          <a:p>
            <a:pPr>
              <a:buNone/>
            </a:pPr>
            <a:endParaRPr lang="en-US" sz="2200" dirty="0" smtClean="0"/>
          </a:p>
          <a:p>
            <a:pPr>
              <a:buNone/>
            </a:pPr>
            <a:r>
              <a:rPr lang="en-US" sz="2400" dirty="0" smtClean="0"/>
              <a:t>Here,</a:t>
            </a:r>
          </a:p>
          <a:p>
            <a:r>
              <a:rPr lang="en-US" sz="2400" dirty="0" smtClean="0"/>
              <a:t>University is the Root. </a:t>
            </a:r>
          </a:p>
          <a:p>
            <a:r>
              <a:rPr lang="en-US" sz="2400" dirty="0" smtClean="0"/>
              <a:t>Departments are Parent nodes. </a:t>
            </a:r>
          </a:p>
          <a:p>
            <a:r>
              <a:rPr lang="en-US" sz="2400" dirty="0" smtClean="0"/>
              <a:t>Students are Child nodes. </a:t>
            </a:r>
          </a:p>
          <a:p>
            <a:r>
              <a:rPr lang="en-US" sz="2400" dirty="0" smtClean="0"/>
              <a:t>Each student belongs to only </a:t>
            </a:r>
            <a:r>
              <a:rPr lang="en-US" sz="2400" b="1" dirty="0" smtClean="0"/>
              <a:t>one department</a:t>
            </a:r>
            <a:r>
              <a:rPr lang="en-US" sz="2400" dirty="0" smtClean="0"/>
              <a:t>.</a:t>
            </a:r>
          </a:p>
          <a:p>
            <a:pPr>
              <a:buNone/>
            </a:pPr>
            <a:endParaRPr lang="en-US" sz="2200" dirty="0"/>
          </a:p>
        </p:txBody>
      </p:sp>
    </p:spTree>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667512"/>
          </a:xfrm>
        </p:spPr>
        <p:txBody>
          <a:bodyPr>
            <a:normAutofit fontScale="90000"/>
          </a:bodyPr>
          <a:lstStyle/>
          <a:p>
            <a:r>
              <a:rPr lang="en-US" dirty="0" smtClean="0"/>
              <a:t>Components of Hierarchical Model</a:t>
            </a:r>
            <a:endParaRPr lang="en-US" dirty="0"/>
          </a:p>
        </p:txBody>
      </p:sp>
      <p:sp>
        <p:nvSpPr>
          <p:cNvPr id="3" name="Content Placeholder 2"/>
          <p:cNvSpPr>
            <a:spLocks noGrp="1"/>
          </p:cNvSpPr>
          <p:nvPr>
            <p:ph idx="1"/>
          </p:nvPr>
        </p:nvSpPr>
        <p:spPr/>
        <p:txBody>
          <a:bodyPr>
            <a:normAutofit fontScale="62500" lnSpcReduction="20000"/>
          </a:bodyPr>
          <a:lstStyle/>
          <a:p>
            <a:pPr>
              <a:buNone/>
            </a:pPr>
            <a:r>
              <a:rPr lang="en-US" b="1" dirty="0" smtClean="0"/>
              <a:t>1. Root Node</a:t>
            </a:r>
          </a:p>
          <a:p>
            <a:pPr>
              <a:buNone/>
            </a:pPr>
            <a:r>
              <a:rPr lang="en-US" dirty="0" smtClean="0"/>
              <a:t>	The topmost node.</a:t>
            </a:r>
          </a:p>
          <a:p>
            <a:pPr>
              <a:buNone/>
            </a:pPr>
            <a:r>
              <a:rPr lang="en-US" dirty="0" smtClean="0"/>
              <a:t>	Example:</a:t>
            </a:r>
          </a:p>
          <a:p>
            <a:pPr>
              <a:buNone/>
            </a:pPr>
            <a:r>
              <a:rPr lang="en-US" dirty="0" smtClean="0"/>
              <a:t>			University</a:t>
            </a:r>
          </a:p>
          <a:p>
            <a:pPr>
              <a:buNone/>
            </a:pPr>
            <a:r>
              <a:rPr lang="en-US" b="1" dirty="0" smtClean="0"/>
              <a:t>2. Parent Node</a:t>
            </a:r>
          </a:p>
          <a:p>
            <a:pPr>
              <a:buNone/>
            </a:pPr>
            <a:r>
              <a:rPr lang="en-US" dirty="0" smtClean="0"/>
              <a:t>	A node that has one or more child nodes.</a:t>
            </a:r>
          </a:p>
          <a:p>
            <a:pPr>
              <a:buNone/>
            </a:pPr>
            <a:r>
              <a:rPr lang="en-US" dirty="0" smtClean="0"/>
              <a:t>	Example:</a:t>
            </a:r>
          </a:p>
          <a:p>
            <a:pPr>
              <a:buNone/>
            </a:pPr>
            <a:r>
              <a:rPr lang="en-US" dirty="0" smtClean="0"/>
              <a:t>			Computer Science</a:t>
            </a:r>
          </a:p>
          <a:p>
            <a:pPr>
              <a:buNone/>
            </a:pPr>
            <a:r>
              <a:rPr lang="en-US" b="1" dirty="0" smtClean="0"/>
              <a:t>3. Child Node</a:t>
            </a:r>
          </a:p>
          <a:p>
            <a:pPr>
              <a:buNone/>
            </a:pPr>
            <a:r>
              <a:rPr lang="en-US" dirty="0" smtClean="0"/>
              <a:t>	A node that is connected below a parent.</a:t>
            </a:r>
          </a:p>
          <a:p>
            <a:pPr>
              <a:buNone/>
            </a:pPr>
            <a:r>
              <a:rPr lang="en-US" dirty="0" smtClean="0"/>
              <a:t>	Example:</a:t>
            </a:r>
          </a:p>
          <a:p>
            <a:pPr>
              <a:buNone/>
            </a:pPr>
            <a:r>
              <a:rPr lang="en-US" dirty="0" smtClean="0"/>
              <a:t>			</a:t>
            </a:r>
            <a:r>
              <a:rPr lang="en-US" dirty="0" err="1" smtClean="0"/>
              <a:t>Amit</a:t>
            </a:r>
            <a:endParaRPr lang="en-US" dirty="0" smtClean="0"/>
          </a:p>
          <a:p>
            <a:pPr>
              <a:buNone/>
            </a:pPr>
            <a:r>
              <a:rPr lang="en-US" b="1" dirty="0" smtClean="0"/>
              <a:t>4. Leaf Node</a:t>
            </a:r>
          </a:p>
          <a:p>
            <a:pPr>
              <a:buNone/>
            </a:pPr>
            <a:r>
              <a:rPr lang="en-US" dirty="0" smtClean="0"/>
              <a:t>	A node that has no children.</a:t>
            </a:r>
          </a:p>
          <a:p>
            <a:pPr>
              <a:buNone/>
            </a:pPr>
            <a:r>
              <a:rPr lang="en-US" dirty="0" smtClean="0"/>
              <a:t>	Example:</a:t>
            </a:r>
          </a:p>
          <a:p>
            <a:pPr>
              <a:buNone/>
            </a:pPr>
            <a:r>
              <a:rPr lang="en-US" dirty="0" smtClean="0"/>
              <a:t>			</a:t>
            </a:r>
            <a:r>
              <a:rPr lang="en-US" dirty="0" err="1" smtClean="0"/>
              <a:t>Amit</a:t>
            </a:r>
            <a:r>
              <a:rPr lang="en-US" dirty="0" smtClean="0"/>
              <a:t> </a:t>
            </a:r>
            <a:r>
              <a:rPr lang="en-US" dirty="0" err="1" smtClean="0"/>
              <a:t>Priya</a:t>
            </a:r>
            <a:r>
              <a:rPr lang="en-US" dirty="0" smtClean="0"/>
              <a:t> </a:t>
            </a:r>
            <a:r>
              <a:rPr lang="en-US" dirty="0" err="1" smtClean="0"/>
              <a:t>Rahul</a:t>
            </a:r>
            <a:r>
              <a:rPr lang="en-US" dirty="0" smtClean="0"/>
              <a:t> </a:t>
            </a:r>
            <a:r>
              <a:rPr lang="en-US" dirty="0" err="1" smtClean="0"/>
              <a:t>Neha</a:t>
            </a:r>
            <a:endParaRPr lang="en-US" dirty="0" smtClean="0"/>
          </a:p>
          <a:p>
            <a:endParaRPr lang="en-US" dirty="0"/>
          </a:p>
        </p:txBody>
      </p:sp>
    </p:spTree>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743712"/>
          </a:xfrm>
        </p:spPr>
        <p:txBody>
          <a:bodyPr>
            <a:normAutofit/>
          </a:bodyPr>
          <a:lstStyle/>
          <a:p>
            <a:r>
              <a:rPr lang="en-US" sz="3200" b="1" dirty="0" smtClean="0"/>
              <a:t>Characteristics</a:t>
            </a:r>
            <a:endParaRPr lang="en-US" sz="3200" b="1" dirty="0"/>
          </a:p>
        </p:txBody>
      </p:sp>
      <p:sp>
        <p:nvSpPr>
          <p:cNvPr id="3" name="Content Placeholder 2"/>
          <p:cNvSpPr>
            <a:spLocks noGrp="1"/>
          </p:cNvSpPr>
          <p:nvPr>
            <p:ph idx="1"/>
          </p:nvPr>
        </p:nvSpPr>
        <p:spPr/>
        <p:txBody>
          <a:bodyPr/>
          <a:lstStyle/>
          <a:p>
            <a:r>
              <a:rPr lang="en-US" dirty="0" smtClean="0"/>
              <a:t>Data is stored in a </a:t>
            </a:r>
            <a:r>
              <a:rPr lang="en-US" b="1" dirty="0" smtClean="0"/>
              <a:t>tree structure</a:t>
            </a:r>
            <a:r>
              <a:rPr lang="en-US" dirty="0" smtClean="0"/>
              <a:t>. </a:t>
            </a:r>
          </a:p>
          <a:p>
            <a:r>
              <a:rPr lang="en-US" dirty="0" smtClean="0"/>
              <a:t>Supports </a:t>
            </a:r>
            <a:r>
              <a:rPr lang="en-US" b="1" dirty="0" smtClean="0"/>
              <a:t>one-to-many relationships</a:t>
            </a:r>
            <a:r>
              <a:rPr lang="en-US" dirty="0" smtClean="0"/>
              <a:t>. </a:t>
            </a:r>
          </a:p>
          <a:p>
            <a:r>
              <a:rPr lang="en-US" dirty="0" smtClean="0"/>
              <a:t>Every child has only one parent. </a:t>
            </a:r>
          </a:p>
          <a:p>
            <a:r>
              <a:rPr lang="en-US" dirty="0" smtClean="0"/>
              <a:t>Navigation starts from the root. </a:t>
            </a:r>
          </a:p>
          <a:p>
            <a:r>
              <a:rPr lang="en-US" dirty="0" smtClean="0"/>
              <a:t>Parent must exist before adding a child. </a:t>
            </a:r>
          </a:p>
          <a:p>
            <a:endParaRPr lang="en-US" dirty="0"/>
          </a:p>
        </p:txBody>
      </p:sp>
    </p:spTree>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667512"/>
          </a:xfrm>
        </p:spPr>
        <p:txBody>
          <a:bodyPr>
            <a:normAutofit/>
          </a:bodyPr>
          <a:lstStyle/>
          <a:p>
            <a:r>
              <a:rPr lang="en-US" sz="3200" b="1" dirty="0" smtClean="0"/>
              <a:t>Advantages</a:t>
            </a:r>
            <a:endParaRPr lang="en-US" sz="3200" dirty="0"/>
          </a:p>
        </p:txBody>
      </p:sp>
      <p:sp>
        <p:nvSpPr>
          <p:cNvPr id="3" name="Content Placeholder 2"/>
          <p:cNvSpPr>
            <a:spLocks noGrp="1"/>
          </p:cNvSpPr>
          <p:nvPr>
            <p:ph idx="1"/>
          </p:nvPr>
        </p:nvSpPr>
        <p:spPr/>
        <p:txBody>
          <a:bodyPr>
            <a:normAutofit/>
          </a:bodyPr>
          <a:lstStyle/>
          <a:p>
            <a:pPr>
              <a:buNone/>
            </a:pPr>
            <a:r>
              <a:rPr lang="en-US" sz="2400" b="1" dirty="0" smtClean="0"/>
              <a:t>1. Simple Structure</a:t>
            </a:r>
          </a:p>
          <a:p>
            <a:r>
              <a:rPr lang="en-US" sz="2400" dirty="0" smtClean="0"/>
              <a:t>Easy to understand because it resembles a tree.</a:t>
            </a:r>
          </a:p>
          <a:p>
            <a:pPr>
              <a:buNone/>
            </a:pPr>
            <a:r>
              <a:rPr lang="en-US" sz="2400" b="1" dirty="0" smtClean="0"/>
              <a:t>2. Fast Data Retrieval</a:t>
            </a:r>
          </a:p>
          <a:p>
            <a:r>
              <a:rPr lang="en-US" sz="2400" dirty="0" smtClean="0"/>
              <a:t>Data can be accessed quickly by following the tree path.</a:t>
            </a:r>
          </a:p>
          <a:p>
            <a:pPr>
              <a:buNone/>
            </a:pPr>
            <a:r>
              <a:rPr lang="en-US" sz="2400" b="1" dirty="0" smtClean="0"/>
              <a:t>3. Good Data Integrity</a:t>
            </a:r>
          </a:p>
          <a:p>
            <a:r>
              <a:rPr lang="en-US" sz="2400" dirty="0" smtClean="0"/>
              <a:t>Every child is connected to exactly one parent.</a:t>
            </a:r>
          </a:p>
          <a:p>
            <a:pPr>
              <a:buNone/>
            </a:pPr>
            <a:r>
              <a:rPr lang="en-US" sz="2400" b="1" dirty="0" smtClean="0"/>
              <a:t>4. Efficient for One-to-Many Relationships</a:t>
            </a:r>
          </a:p>
          <a:p>
            <a:pPr>
              <a:buNone/>
            </a:pPr>
            <a:r>
              <a:rPr lang="en-US" sz="2400" dirty="0" smtClean="0"/>
              <a:t>Example:</a:t>
            </a:r>
          </a:p>
          <a:p>
            <a:r>
              <a:rPr lang="en-US" sz="2400" dirty="0" smtClean="0"/>
              <a:t>One Department → Many Students</a:t>
            </a:r>
          </a:p>
          <a:p>
            <a:endParaRPr lang="en-US" sz="2400" dirty="0"/>
          </a:p>
        </p:txBody>
      </p:sp>
    </p:spTree>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743712"/>
          </a:xfrm>
        </p:spPr>
        <p:txBody>
          <a:bodyPr>
            <a:normAutofit/>
          </a:bodyPr>
          <a:lstStyle/>
          <a:p>
            <a:r>
              <a:rPr lang="en-US" sz="3200" b="1" dirty="0" smtClean="0"/>
              <a:t>Disadvantages</a:t>
            </a:r>
            <a:endParaRPr lang="en-US" sz="3200" dirty="0"/>
          </a:p>
        </p:txBody>
      </p:sp>
      <p:sp>
        <p:nvSpPr>
          <p:cNvPr id="3" name="Content Placeholder 2"/>
          <p:cNvSpPr>
            <a:spLocks noGrp="1"/>
          </p:cNvSpPr>
          <p:nvPr>
            <p:ph idx="1"/>
          </p:nvPr>
        </p:nvSpPr>
        <p:spPr/>
        <p:txBody>
          <a:bodyPr>
            <a:normAutofit/>
          </a:bodyPr>
          <a:lstStyle/>
          <a:p>
            <a:pPr marL="514350" indent="-514350">
              <a:buNone/>
            </a:pPr>
            <a:r>
              <a:rPr lang="en-US" b="1" dirty="0" smtClean="0"/>
              <a:t>1. No </a:t>
            </a:r>
            <a:r>
              <a:rPr lang="en-US" b="1" dirty="0" smtClean="0"/>
              <a:t>Many-to-Many Relationship</a:t>
            </a:r>
          </a:p>
          <a:p>
            <a:pPr marL="514350" indent="-514350">
              <a:buNone/>
            </a:pPr>
            <a:r>
              <a:rPr lang="en-US" b="1" dirty="0" smtClean="0"/>
              <a:t>2. Difficult </a:t>
            </a:r>
            <a:r>
              <a:rPr lang="en-US" b="1" dirty="0" smtClean="0"/>
              <a:t>to Modify</a:t>
            </a:r>
          </a:p>
          <a:p>
            <a:pPr>
              <a:buNone/>
            </a:pPr>
            <a:r>
              <a:rPr lang="en-US" dirty="0" smtClean="0"/>
              <a:t>	Changing the hierarchy often requires restructuring the database.</a:t>
            </a:r>
          </a:p>
          <a:p>
            <a:pPr>
              <a:buNone/>
            </a:pPr>
            <a:r>
              <a:rPr lang="en-US" b="1" dirty="0" smtClean="0"/>
              <a:t>3. Data Redundancy</a:t>
            </a:r>
          </a:p>
          <a:p>
            <a:pPr>
              <a:buNone/>
            </a:pPr>
            <a:r>
              <a:rPr lang="en-US" dirty="0" smtClean="0"/>
              <a:t>	If the same child belongs under multiple parents, the child's information may need to be duplicated.</a:t>
            </a:r>
          </a:p>
          <a:p>
            <a:pPr>
              <a:buNone/>
            </a:pPr>
            <a:r>
              <a:rPr lang="en-US" b="1" dirty="0" smtClean="0"/>
              <a:t>4. Navigation is Path-Dependent</a:t>
            </a:r>
          </a:p>
          <a:p>
            <a:pPr>
              <a:buNone/>
            </a:pPr>
            <a:r>
              <a:rPr lang="en-US" dirty="0" smtClean="0"/>
              <a:t>To reach a child, you must follow the path from the root.</a:t>
            </a:r>
          </a:p>
        </p:txBody>
      </p:sp>
    </p:spTree>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743712"/>
          </a:xfrm>
        </p:spPr>
        <p:txBody>
          <a:bodyPr>
            <a:normAutofit fontScale="90000"/>
          </a:bodyPr>
          <a:lstStyle/>
          <a:p>
            <a:r>
              <a:rPr lang="en-US" dirty="0" smtClean="0"/>
              <a:t>Real-World Applications</a:t>
            </a:r>
            <a:endParaRPr lang="en-US" dirty="0"/>
          </a:p>
        </p:txBody>
      </p:sp>
      <p:sp>
        <p:nvSpPr>
          <p:cNvPr id="3" name="Content Placeholder 2"/>
          <p:cNvSpPr>
            <a:spLocks noGrp="1"/>
          </p:cNvSpPr>
          <p:nvPr>
            <p:ph idx="1"/>
          </p:nvPr>
        </p:nvSpPr>
        <p:spPr/>
        <p:txBody>
          <a:bodyPr/>
          <a:lstStyle/>
          <a:p>
            <a:r>
              <a:rPr lang="en-US" dirty="0" smtClean="0"/>
              <a:t>Organization charts (CEO → Managers → Employees) </a:t>
            </a:r>
          </a:p>
          <a:p>
            <a:r>
              <a:rPr lang="en-US" dirty="0" smtClean="0"/>
              <a:t>File systems (Folders → Subfolders → Files) </a:t>
            </a:r>
          </a:p>
          <a:p>
            <a:r>
              <a:rPr lang="en-US" dirty="0" smtClean="0"/>
              <a:t>XML documents </a:t>
            </a:r>
          </a:p>
          <a:p>
            <a:r>
              <a:rPr lang="en-US" dirty="0" smtClean="0"/>
              <a:t>DNS (Domain Name System) </a:t>
            </a:r>
          </a:p>
          <a:p>
            <a:r>
              <a:rPr lang="en-US" dirty="0" smtClean="0"/>
              <a:t>Library classification systems</a:t>
            </a:r>
          </a:p>
          <a:p>
            <a:endParaRPr lang="en-US" dirty="0"/>
          </a:p>
        </p:txBody>
      </p:sp>
    </p:spTree>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r>
              <a:rPr lang="en-US" b="1" dirty="0" smtClean="0"/>
              <a:t>Network Database Model</a:t>
            </a:r>
            <a:endParaRPr lang="en-US" dirty="0"/>
          </a:p>
        </p:txBody>
      </p:sp>
      <p:sp>
        <p:nvSpPr>
          <p:cNvPr id="3" name="Content Placeholder 2"/>
          <p:cNvSpPr>
            <a:spLocks noGrp="1"/>
          </p:cNvSpPr>
          <p:nvPr>
            <p:ph idx="1"/>
          </p:nvPr>
        </p:nvSpPr>
        <p:spPr>
          <a:xfrm>
            <a:off x="457200" y="1143000"/>
            <a:ext cx="8229600" cy="4983163"/>
          </a:xfrm>
        </p:spPr>
        <p:txBody>
          <a:bodyPr/>
          <a:lstStyle/>
          <a:p>
            <a:r>
              <a:rPr lang="en-US" dirty="0" smtClean="0"/>
              <a:t>The Network Database Model is a database model in which data is organized as a network (graph) rather than a tree. </a:t>
            </a:r>
          </a:p>
          <a:p>
            <a:endParaRPr lang="en-US" dirty="0" smtClean="0"/>
          </a:p>
          <a:p>
            <a:r>
              <a:rPr lang="en-US" dirty="0" smtClean="0"/>
              <a:t>In this model, a child record can have multiple parent records, making it more flexible than the Hierarchical Model.</a:t>
            </a:r>
          </a:p>
          <a:p>
            <a:endParaRPr lang="en-US" dirty="0" smtClean="0"/>
          </a:p>
          <a:p>
            <a:endParaRPr lang="en-US" dirty="0"/>
          </a:p>
        </p:txBody>
      </p:sp>
    </p:spTree>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819912"/>
          </a:xfrm>
        </p:spPr>
        <p:txBody>
          <a:bodyPr>
            <a:normAutofit/>
          </a:bodyPr>
          <a:lstStyle/>
          <a:p>
            <a:r>
              <a:rPr lang="en-US" sz="3200" dirty="0" smtClean="0"/>
              <a:t>Why was the Network Model introduced?</a:t>
            </a:r>
            <a:endParaRPr lang="en-US" sz="3200" dirty="0"/>
          </a:p>
        </p:txBody>
      </p:sp>
      <p:sp>
        <p:nvSpPr>
          <p:cNvPr id="3" name="Content Placeholder 2"/>
          <p:cNvSpPr>
            <a:spLocks noGrp="1"/>
          </p:cNvSpPr>
          <p:nvPr>
            <p:ph idx="1"/>
          </p:nvPr>
        </p:nvSpPr>
        <p:spPr/>
        <p:txBody>
          <a:bodyPr>
            <a:normAutofit/>
          </a:bodyPr>
          <a:lstStyle/>
          <a:p>
            <a:r>
              <a:rPr lang="en-US" dirty="0" smtClean="0"/>
              <a:t>The Hierarchical Model has one major limitation:</a:t>
            </a:r>
          </a:p>
          <a:p>
            <a:pPr lvl="1"/>
            <a:r>
              <a:rPr lang="en-US" dirty="0" smtClean="0"/>
              <a:t>A child can have only one parent.</a:t>
            </a:r>
          </a:p>
          <a:p>
            <a:r>
              <a:rPr lang="en-US" dirty="0" smtClean="0"/>
              <a:t>The Network Model solves this problem by allowing child to be connected to multiple parents.</a:t>
            </a:r>
          </a:p>
          <a:p>
            <a:endParaRPr lang="en-US" dirty="0"/>
          </a:p>
        </p:txBody>
      </p:sp>
    </p:spTree>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667512"/>
          </a:xfrm>
        </p:spPr>
        <p:txBody>
          <a:bodyPr>
            <a:normAutofit/>
          </a:bodyPr>
          <a:lstStyle/>
          <a:p>
            <a:r>
              <a:rPr lang="en-US" sz="3200" b="1" dirty="0" smtClean="0"/>
              <a:t>Online Shopping System</a:t>
            </a:r>
            <a:endParaRPr lang="en-US" sz="3200" b="1" dirty="0"/>
          </a:p>
        </p:txBody>
      </p:sp>
      <p:sp>
        <p:nvSpPr>
          <p:cNvPr id="3" name="Content Placeholder 2"/>
          <p:cNvSpPr>
            <a:spLocks noGrp="1"/>
          </p:cNvSpPr>
          <p:nvPr>
            <p:ph idx="1"/>
          </p:nvPr>
        </p:nvSpPr>
        <p:spPr/>
        <p:txBody>
          <a:bodyPr>
            <a:normAutofit/>
          </a:bodyPr>
          <a:lstStyle/>
          <a:p>
            <a:r>
              <a:rPr lang="en-US" sz="2400" dirty="0" smtClean="0"/>
              <a:t>Suppose:</a:t>
            </a:r>
          </a:p>
          <a:p>
            <a:pPr lvl="1"/>
            <a:r>
              <a:rPr lang="en-US" sz="2000" dirty="0" smtClean="0"/>
              <a:t>Customers purchase multiple products.</a:t>
            </a:r>
          </a:p>
          <a:p>
            <a:pPr lvl="1"/>
            <a:r>
              <a:rPr lang="en-US" sz="2000" dirty="0" smtClean="0"/>
              <a:t>Products are purchased by multiple customers.</a:t>
            </a:r>
          </a:p>
          <a:p>
            <a:r>
              <a:rPr lang="en-US" sz="2400" b="1" dirty="0" smtClean="0"/>
              <a:t>CUSTOMER Table</a:t>
            </a:r>
          </a:p>
          <a:p>
            <a:endParaRPr lang="en-US" sz="2400" b="1" dirty="0" smtClean="0"/>
          </a:p>
          <a:p>
            <a:endParaRPr lang="en-US" sz="2400" b="1" dirty="0" smtClean="0"/>
          </a:p>
          <a:p>
            <a:endParaRPr lang="en-US" sz="2400" b="1" dirty="0" smtClean="0"/>
          </a:p>
          <a:p>
            <a:r>
              <a:rPr lang="en-US" sz="2400" b="1" dirty="0" smtClean="0"/>
              <a:t>PRODUCT Table</a:t>
            </a:r>
          </a:p>
          <a:p>
            <a:endParaRPr lang="en-US" sz="2400" b="1" dirty="0" smtClean="0"/>
          </a:p>
          <a:p>
            <a:endParaRPr lang="en-US" sz="2400" dirty="0"/>
          </a:p>
        </p:txBody>
      </p:sp>
      <p:graphicFrame>
        <p:nvGraphicFramePr>
          <p:cNvPr id="4" name="Table 3"/>
          <p:cNvGraphicFramePr>
            <a:graphicFrameLocks noGrp="1"/>
          </p:cNvGraphicFramePr>
          <p:nvPr/>
        </p:nvGraphicFramePr>
        <p:xfrm>
          <a:off x="2819400" y="3276600"/>
          <a:ext cx="6096000" cy="1112520"/>
        </p:xfrm>
        <a:graphic>
          <a:graphicData uri="http://schemas.openxmlformats.org/drawingml/2006/table">
            <a:tbl>
              <a:tblPr firstRow="1" bandRow="1">
                <a:tableStyleId>{5C22544A-7EE6-4342-B048-85BDC9FD1C3A}</a:tableStyleId>
              </a:tblPr>
              <a:tblGrid>
                <a:gridCol w="3048000"/>
                <a:gridCol w="3048000"/>
              </a:tblGrid>
              <a:tr h="370840">
                <a:tc>
                  <a:txBody>
                    <a:bodyPr/>
                    <a:lstStyle/>
                    <a:p>
                      <a:r>
                        <a:rPr lang="en-US" dirty="0" err="1"/>
                        <a:t>Customer_ID</a:t>
                      </a:r>
                      <a:endParaRPr lang="en-US" dirty="0"/>
                    </a:p>
                  </a:txBody>
                  <a:tcPr anchor="ctr"/>
                </a:tc>
                <a:tc>
                  <a:txBody>
                    <a:bodyPr/>
                    <a:lstStyle/>
                    <a:p>
                      <a:r>
                        <a:rPr lang="en-US"/>
                        <a:t>Name</a:t>
                      </a:r>
                    </a:p>
                  </a:txBody>
                  <a:tcPr anchor="ctr"/>
                </a:tc>
              </a:tr>
              <a:tr h="370840">
                <a:tc>
                  <a:txBody>
                    <a:bodyPr/>
                    <a:lstStyle/>
                    <a:p>
                      <a:r>
                        <a:rPr lang="en-US"/>
                        <a:t>C101</a:t>
                      </a:r>
                    </a:p>
                  </a:txBody>
                  <a:tcPr anchor="ctr"/>
                </a:tc>
                <a:tc>
                  <a:txBody>
                    <a:bodyPr/>
                    <a:lstStyle/>
                    <a:p>
                      <a:r>
                        <a:rPr lang="en-US"/>
                        <a:t>Amit</a:t>
                      </a:r>
                    </a:p>
                  </a:txBody>
                  <a:tcPr anchor="ctr"/>
                </a:tc>
              </a:tr>
              <a:tr h="370840">
                <a:tc>
                  <a:txBody>
                    <a:bodyPr/>
                    <a:lstStyle/>
                    <a:p>
                      <a:r>
                        <a:rPr lang="en-US"/>
                        <a:t>C102</a:t>
                      </a:r>
                    </a:p>
                  </a:txBody>
                  <a:tcPr anchor="ctr"/>
                </a:tc>
                <a:tc>
                  <a:txBody>
                    <a:bodyPr/>
                    <a:lstStyle/>
                    <a:p>
                      <a:r>
                        <a:rPr lang="en-US" dirty="0" err="1"/>
                        <a:t>Priya</a:t>
                      </a:r>
                      <a:endParaRPr lang="en-US" dirty="0"/>
                    </a:p>
                  </a:txBody>
                  <a:tcPr anchor="ctr"/>
                </a:tc>
              </a:tr>
            </a:tbl>
          </a:graphicData>
        </a:graphic>
      </p:graphicFrame>
      <p:graphicFrame>
        <p:nvGraphicFramePr>
          <p:cNvPr id="5" name="Table 4"/>
          <p:cNvGraphicFramePr>
            <a:graphicFrameLocks noGrp="1"/>
          </p:cNvGraphicFramePr>
          <p:nvPr/>
        </p:nvGraphicFramePr>
        <p:xfrm>
          <a:off x="2438400" y="4953000"/>
          <a:ext cx="6096000" cy="1112520"/>
        </p:xfrm>
        <a:graphic>
          <a:graphicData uri="http://schemas.openxmlformats.org/drawingml/2006/table">
            <a:tbl>
              <a:tblPr firstRow="1" bandRow="1">
                <a:tableStyleId>{5C22544A-7EE6-4342-B048-85BDC9FD1C3A}</a:tableStyleId>
              </a:tblPr>
              <a:tblGrid>
                <a:gridCol w="3048000"/>
                <a:gridCol w="3048000"/>
              </a:tblGrid>
              <a:tr h="370840">
                <a:tc>
                  <a:txBody>
                    <a:bodyPr/>
                    <a:lstStyle/>
                    <a:p>
                      <a:r>
                        <a:rPr lang="en-US" dirty="0" err="1"/>
                        <a:t>Product_ID</a:t>
                      </a:r>
                      <a:endParaRPr lang="en-US" dirty="0"/>
                    </a:p>
                  </a:txBody>
                  <a:tcPr anchor="ctr"/>
                </a:tc>
                <a:tc>
                  <a:txBody>
                    <a:bodyPr/>
                    <a:lstStyle/>
                    <a:p>
                      <a:r>
                        <a:rPr lang="en-US"/>
                        <a:t>Product_Name</a:t>
                      </a:r>
                    </a:p>
                  </a:txBody>
                  <a:tcPr anchor="ctr"/>
                </a:tc>
              </a:tr>
              <a:tr h="370840">
                <a:tc>
                  <a:txBody>
                    <a:bodyPr/>
                    <a:lstStyle/>
                    <a:p>
                      <a:r>
                        <a:rPr lang="en-US" dirty="0"/>
                        <a:t>P101</a:t>
                      </a:r>
                    </a:p>
                  </a:txBody>
                  <a:tcPr anchor="ctr"/>
                </a:tc>
                <a:tc>
                  <a:txBody>
                    <a:bodyPr/>
                    <a:lstStyle/>
                    <a:p>
                      <a:r>
                        <a:rPr lang="en-US"/>
                        <a:t>Laptop</a:t>
                      </a:r>
                    </a:p>
                  </a:txBody>
                  <a:tcPr anchor="ctr"/>
                </a:tc>
              </a:tr>
              <a:tr h="370840">
                <a:tc>
                  <a:txBody>
                    <a:bodyPr/>
                    <a:lstStyle/>
                    <a:p>
                      <a:r>
                        <a:rPr lang="en-US"/>
                        <a:t>P102</a:t>
                      </a:r>
                    </a:p>
                  </a:txBody>
                  <a:tcPr anchor="ctr"/>
                </a:tc>
                <a:tc>
                  <a:txBody>
                    <a:bodyPr/>
                    <a:lstStyle/>
                    <a:p>
                      <a:r>
                        <a:rPr lang="en-US" dirty="0"/>
                        <a:t>Mobile</a:t>
                      </a:r>
                    </a:p>
                  </a:txBody>
                  <a:tcPr anchor="ctr"/>
                </a:tc>
              </a:tr>
            </a:tbl>
          </a:graphicData>
        </a:graphic>
      </p:graphicFrame>
    </p:spTree>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smtClean="0"/>
              <a:t>ORDERS Table</a:t>
            </a:r>
          </a:p>
          <a:p>
            <a:endParaRPr lang="en-US" dirty="0"/>
          </a:p>
        </p:txBody>
      </p:sp>
      <p:graphicFrame>
        <p:nvGraphicFramePr>
          <p:cNvPr id="5" name="Table 4"/>
          <p:cNvGraphicFramePr>
            <a:graphicFrameLocks noGrp="1"/>
          </p:cNvGraphicFramePr>
          <p:nvPr/>
        </p:nvGraphicFramePr>
        <p:xfrm>
          <a:off x="1600200" y="2667000"/>
          <a:ext cx="6096000" cy="1483360"/>
        </p:xfrm>
        <a:graphic>
          <a:graphicData uri="http://schemas.openxmlformats.org/drawingml/2006/table">
            <a:tbl>
              <a:tblPr firstRow="1" bandRow="1">
                <a:tableStyleId>{5C22544A-7EE6-4342-B048-85BDC9FD1C3A}</a:tableStyleId>
              </a:tblPr>
              <a:tblGrid>
                <a:gridCol w="3048000"/>
                <a:gridCol w="3048000"/>
              </a:tblGrid>
              <a:tr h="370840">
                <a:tc>
                  <a:txBody>
                    <a:bodyPr/>
                    <a:lstStyle/>
                    <a:p>
                      <a:r>
                        <a:rPr lang="en-US" dirty="0" err="1"/>
                        <a:t>Customer_ID</a:t>
                      </a:r>
                      <a:endParaRPr lang="en-US" dirty="0"/>
                    </a:p>
                  </a:txBody>
                  <a:tcPr anchor="ctr"/>
                </a:tc>
                <a:tc>
                  <a:txBody>
                    <a:bodyPr/>
                    <a:lstStyle/>
                    <a:p>
                      <a:r>
                        <a:rPr lang="en-US"/>
                        <a:t>Product_ID</a:t>
                      </a:r>
                    </a:p>
                  </a:txBody>
                  <a:tcPr anchor="ctr"/>
                </a:tc>
              </a:tr>
              <a:tr h="370840">
                <a:tc>
                  <a:txBody>
                    <a:bodyPr/>
                    <a:lstStyle/>
                    <a:p>
                      <a:r>
                        <a:rPr lang="en-US"/>
                        <a:t>C101</a:t>
                      </a:r>
                    </a:p>
                  </a:txBody>
                  <a:tcPr anchor="ctr"/>
                </a:tc>
                <a:tc>
                  <a:txBody>
                    <a:bodyPr/>
                    <a:lstStyle/>
                    <a:p>
                      <a:r>
                        <a:rPr lang="en-US"/>
                        <a:t>P101</a:t>
                      </a:r>
                    </a:p>
                  </a:txBody>
                  <a:tcPr anchor="ctr"/>
                </a:tc>
              </a:tr>
              <a:tr h="370840">
                <a:tc>
                  <a:txBody>
                    <a:bodyPr/>
                    <a:lstStyle/>
                    <a:p>
                      <a:r>
                        <a:rPr lang="en-US"/>
                        <a:t>C101</a:t>
                      </a:r>
                    </a:p>
                  </a:txBody>
                  <a:tcPr anchor="ctr"/>
                </a:tc>
                <a:tc>
                  <a:txBody>
                    <a:bodyPr/>
                    <a:lstStyle/>
                    <a:p>
                      <a:r>
                        <a:rPr lang="en-US"/>
                        <a:t>P102</a:t>
                      </a:r>
                    </a:p>
                  </a:txBody>
                  <a:tcPr anchor="ctr"/>
                </a:tc>
              </a:tr>
              <a:tr h="370840">
                <a:tc>
                  <a:txBody>
                    <a:bodyPr/>
                    <a:lstStyle/>
                    <a:p>
                      <a:r>
                        <a:rPr lang="en-US"/>
                        <a:t>C102</a:t>
                      </a:r>
                    </a:p>
                  </a:txBody>
                  <a:tcPr anchor="ctr"/>
                </a:tc>
                <a:tc>
                  <a:txBody>
                    <a:bodyPr/>
                    <a:lstStyle/>
                    <a:p>
                      <a:r>
                        <a:rPr lang="en-US" dirty="0"/>
                        <a:t>P101</a:t>
                      </a:r>
                    </a:p>
                  </a:txBody>
                  <a:tcPr anchor="ctr"/>
                </a:tc>
              </a:tr>
            </a:tbl>
          </a:graphicData>
        </a:graphic>
      </p:graphicFrame>
    </p:spTree>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lstStyle/>
          <a:p>
            <a:r>
              <a:rPr lang="en-US" dirty="0" smtClean="0"/>
              <a:t>Network </a:t>
            </a:r>
            <a:r>
              <a:rPr lang="en-US" dirty="0" err="1" smtClean="0"/>
              <a:t>Represesntation</a:t>
            </a:r>
            <a:endParaRPr lang="en-US" dirty="0"/>
          </a:p>
        </p:txBody>
      </p:sp>
      <p:sp>
        <p:nvSpPr>
          <p:cNvPr id="3" name="Content Placeholder 2"/>
          <p:cNvSpPr>
            <a:spLocks noGrp="1"/>
          </p:cNvSpPr>
          <p:nvPr>
            <p:ph idx="1"/>
          </p:nvPr>
        </p:nvSpPr>
        <p:spPr>
          <a:xfrm>
            <a:off x="457200" y="1295400"/>
            <a:ext cx="8229600" cy="5029200"/>
          </a:xfrm>
        </p:spPr>
        <p:txBody>
          <a:bodyPr>
            <a:normAutofit lnSpcReduction="10000"/>
          </a:bodyPr>
          <a:lstStyle/>
          <a:p>
            <a:pPr>
              <a:buNone/>
            </a:pPr>
            <a:r>
              <a:rPr lang="en-US" sz="2400" dirty="0" smtClean="0"/>
              <a:t>				 Laptop</a:t>
            </a:r>
          </a:p>
          <a:p>
            <a:pPr>
              <a:buNone/>
            </a:pPr>
            <a:r>
              <a:rPr lang="en-US" sz="2400" dirty="0" smtClean="0"/>
              <a:t>       		                /      \</a:t>
            </a:r>
          </a:p>
          <a:p>
            <a:pPr>
              <a:buNone/>
            </a:pPr>
            <a:r>
              <a:rPr lang="en-US" sz="2400" dirty="0" smtClean="0"/>
              <a:t>                                      /          \</a:t>
            </a:r>
          </a:p>
          <a:p>
            <a:pPr>
              <a:buNone/>
            </a:pPr>
            <a:r>
              <a:rPr lang="en-US" sz="2400" dirty="0" smtClean="0"/>
              <a:t>                                  </a:t>
            </a:r>
            <a:r>
              <a:rPr lang="en-US" sz="2400" dirty="0" err="1" smtClean="0"/>
              <a:t>Amit</a:t>
            </a:r>
            <a:r>
              <a:rPr lang="en-US" sz="2400" dirty="0" smtClean="0"/>
              <a:t>          </a:t>
            </a:r>
            <a:r>
              <a:rPr lang="en-US" sz="2400" dirty="0" err="1" smtClean="0"/>
              <a:t>Priya</a:t>
            </a:r>
            <a:endParaRPr lang="en-US" sz="2400" dirty="0" smtClean="0"/>
          </a:p>
          <a:p>
            <a:pPr>
              <a:buNone/>
            </a:pPr>
            <a:r>
              <a:rPr lang="en-US" sz="2400" dirty="0" smtClean="0"/>
              <a:t>                                        \</a:t>
            </a:r>
          </a:p>
          <a:p>
            <a:pPr>
              <a:buNone/>
            </a:pPr>
            <a:r>
              <a:rPr lang="en-US" sz="2400" dirty="0" smtClean="0"/>
              <a:t>                                          \</a:t>
            </a:r>
          </a:p>
          <a:p>
            <a:pPr>
              <a:buNone/>
            </a:pPr>
            <a:r>
              <a:rPr lang="en-US" sz="2400" dirty="0" smtClean="0"/>
              <a:t>                                      Mobile</a:t>
            </a:r>
          </a:p>
          <a:p>
            <a:pPr>
              <a:buNone/>
            </a:pPr>
            <a:endParaRPr lang="en-US" sz="2400" dirty="0" smtClean="0"/>
          </a:p>
          <a:p>
            <a:pPr>
              <a:buNone/>
            </a:pPr>
            <a:r>
              <a:rPr lang="en-US" sz="2400" dirty="0" smtClean="0"/>
              <a:t>Here,</a:t>
            </a:r>
          </a:p>
          <a:p>
            <a:r>
              <a:rPr lang="en-US" sz="2400" dirty="0" err="1" smtClean="0"/>
              <a:t>Amit</a:t>
            </a:r>
            <a:r>
              <a:rPr lang="en-US" sz="2400" dirty="0" smtClean="0"/>
              <a:t> purchases Laptop and Mobile. </a:t>
            </a:r>
          </a:p>
          <a:p>
            <a:r>
              <a:rPr lang="en-US" sz="2400" dirty="0" err="1" smtClean="0"/>
              <a:t>Priya</a:t>
            </a:r>
            <a:r>
              <a:rPr lang="en-US" sz="2400" dirty="0" smtClean="0"/>
              <a:t> purchases Laptop. </a:t>
            </a:r>
          </a:p>
          <a:p>
            <a:r>
              <a:rPr lang="en-US" sz="2400" dirty="0" smtClean="0"/>
              <a:t>The product </a:t>
            </a:r>
            <a:r>
              <a:rPr lang="en-US" sz="2400" b="1" dirty="0" smtClean="0"/>
              <a:t>Laptop</a:t>
            </a:r>
            <a:r>
              <a:rPr lang="en-US" sz="2400" dirty="0" smtClean="0"/>
              <a:t> has two parent relationships.</a:t>
            </a:r>
          </a:p>
          <a:p>
            <a:pPr>
              <a:buNone/>
            </a:pPr>
            <a:endParaRPr lang="en-US" sz="2400" dirty="0"/>
          </a:p>
        </p:txBody>
      </p:sp>
    </p:spTree>
  </p:cSld>
  <p:clrMapOvr>
    <a:masterClrMapping/>
  </p:clrMapOvr>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743712"/>
          </a:xfrm>
        </p:spPr>
        <p:txBody>
          <a:bodyPr>
            <a:normAutofit/>
          </a:bodyPr>
          <a:lstStyle/>
          <a:p>
            <a:r>
              <a:rPr lang="en-US" sz="3200" dirty="0" smtClean="0"/>
              <a:t>Components of the Network Model</a:t>
            </a:r>
            <a:endParaRPr lang="en-US" sz="3200" dirty="0"/>
          </a:p>
        </p:txBody>
      </p:sp>
      <p:sp>
        <p:nvSpPr>
          <p:cNvPr id="3" name="Content Placeholder 2"/>
          <p:cNvSpPr>
            <a:spLocks noGrp="1"/>
          </p:cNvSpPr>
          <p:nvPr>
            <p:ph idx="1"/>
          </p:nvPr>
        </p:nvSpPr>
        <p:spPr/>
        <p:txBody>
          <a:bodyPr>
            <a:normAutofit fontScale="62500" lnSpcReduction="20000"/>
          </a:bodyPr>
          <a:lstStyle/>
          <a:p>
            <a:pPr>
              <a:buNone/>
            </a:pPr>
            <a:r>
              <a:rPr lang="en-US" b="1" dirty="0" smtClean="0"/>
              <a:t>1. Record</a:t>
            </a:r>
          </a:p>
          <a:p>
            <a:pPr>
              <a:buNone/>
            </a:pPr>
            <a:r>
              <a:rPr lang="en-US" dirty="0" smtClean="0"/>
              <a:t>	A collection of related data.</a:t>
            </a:r>
          </a:p>
          <a:p>
            <a:pPr>
              <a:buNone/>
            </a:pPr>
            <a:r>
              <a:rPr lang="en-US" dirty="0" smtClean="0"/>
              <a:t>	Example:</a:t>
            </a:r>
          </a:p>
          <a:p>
            <a:pPr>
              <a:buNone/>
            </a:pPr>
            <a:r>
              <a:rPr lang="en-US" dirty="0" smtClean="0"/>
              <a:t>			Student</a:t>
            </a:r>
          </a:p>
          <a:p>
            <a:pPr>
              <a:buNone/>
            </a:pPr>
            <a:r>
              <a:rPr lang="en-US" b="1" dirty="0" smtClean="0"/>
              <a:t>2. Set (Relationship)</a:t>
            </a:r>
          </a:p>
          <a:p>
            <a:pPr>
              <a:buNone/>
            </a:pPr>
            <a:r>
              <a:rPr lang="en-US" dirty="0" smtClean="0"/>
              <a:t>	A connection between two records.</a:t>
            </a:r>
          </a:p>
          <a:p>
            <a:pPr>
              <a:buNone/>
            </a:pPr>
            <a:r>
              <a:rPr lang="en-US" dirty="0" smtClean="0"/>
              <a:t>	Example:</a:t>
            </a:r>
          </a:p>
          <a:p>
            <a:pPr>
              <a:buNone/>
            </a:pPr>
            <a:r>
              <a:rPr lang="en-US" dirty="0" smtClean="0"/>
              <a:t>			Student -------- Course</a:t>
            </a:r>
          </a:p>
          <a:p>
            <a:pPr>
              <a:buNone/>
            </a:pPr>
            <a:r>
              <a:rPr lang="en-US" b="1" dirty="0" smtClean="0"/>
              <a:t>3. Owner Record</a:t>
            </a:r>
          </a:p>
          <a:p>
            <a:pPr>
              <a:buNone/>
            </a:pPr>
            <a:r>
              <a:rPr lang="en-US" dirty="0" smtClean="0"/>
              <a:t>	Acts like the parent.</a:t>
            </a:r>
          </a:p>
          <a:p>
            <a:pPr>
              <a:buNone/>
            </a:pPr>
            <a:r>
              <a:rPr lang="en-US" dirty="0" smtClean="0"/>
              <a:t>	Example:</a:t>
            </a:r>
          </a:p>
          <a:p>
            <a:pPr>
              <a:buNone/>
            </a:pPr>
            <a:r>
              <a:rPr lang="en-US" dirty="0" smtClean="0"/>
              <a:t>			Course</a:t>
            </a:r>
          </a:p>
          <a:p>
            <a:pPr>
              <a:buNone/>
            </a:pPr>
            <a:r>
              <a:rPr lang="en-US" b="1" dirty="0" smtClean="0"/>
              <a:t>4. Member Record</a:t>
            </a:r>
          </a:p>
          <a:p>
            <a:pPr>
              <a:buNone/>
            </a:pPr>
            <a:r>
              <a:rPr lang="en-US" dirty="0" smtClean="0"/>
              <a:t>	Acts like the child.</a:t>
            </a:r>
          </a:p>
          <a:p>
            <a:pPr>
              <a:buNone/>
            </a:pPr>
            <a:r>
              <a:rPr lang="en-US" dirty="0" smtClean="0"/>
              <a:t>	Example:</a:t>
            </a:r>
          </a:p>
          <a:p>
            <a:pPr>
              <a:buNone/>
            </a:pPr>
            <a:r>
              <a:rPr lang="en-US" dirty="0" smtClean="0"/>
              <a:t>			Student</a:t>
            </a:r>
          </a:p>
          <a:p>
            <a:pPr>
              <a:buNone/>
            </a:pPr>
            <a:endParaRPr lang="en-US" dirty="0"/>
          </a:p>
        </p:txBody>
      </p:sp>
    </p:spTree>
  </p:cSld>
  <p:clrMapOvr>
    <a:masterClrMapping/>
  </p:clrMapOvr>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743712"/>
          </a:xfrm>
        </p:spPr>
        <p:txBody>
          <a:bodyPr>
            <a:normAutofit fontScale="90000"/>
          </a:bodyPr>
          <a:lstStyle/>
          <a:p>
            <a:r>
              <a:rPr lang="en-US" dirty="0" smtClean="0"/>
              <a:t>Characteristics</a:t>
            </a:r>
            <a:endParaRPr lang="en-US" dirty="0"/>
          </a:p>
        </p:txBody>
      </p:sp>
      <p:sp>
        <p:nvSpPr>
          <p:cNvPr id="3" name="Content Placeholder 2"/>
          <p:cNvSpPr>
            <a:spLocks noGrp="1"/>
          </p:cNvSpPr>
          <p:nvPr>
            <p:ph idx="1"/>
          </p:nvPr>
        </p:nvSpPr>
        <p:spPr/>
        <p:txBody>
          <a:bodyPr/>
          <a:lstStyle/>
          <a:p>
            <a:r>
              <a:rPr lang="en-US" dirty="0" smtClean="0"/>
              <a:t>Data is organized as a graph. </a:t>
            </a:r>
          </a:p>
          <a:p>
            <a:r>
              <a:rPr lang="en-US" dirty="0" smtClean="0"/>
              <a:t>Supports </a:t>
            </a:r>
            <a:r>
              <a:rPr lang="en-US" b="1" dirty="0" smtClean="0">
                <a:solidFill>
                  <a:srgbClr val="7030A0"/>
                </a:solidFill>
              </a:rPr>
              <a:t>Many-to-Many relationships</a:t>
            </a:r>
            <a:r>
              <a:rPr lang="en-US" dirty="0" smtClean="0">
                <a:solidFill>
                  <a:srgbClr val="7030A0"/>
                </a:solidFill>
              </a:rPr>
              <a:t>. </a:t>
            </a:r>
          </a:p>
          <a:p>
            <a:r>
              <a:rPr lang="en-US" dirty="0" smtClean="0"/>
              <a:t>A child can have multiple parents. </a:t>
            </a:r>
          </a:p>
          <a:p>
            <a:r>
              <a:rPr lang="en-US" dirty="0" smtClean="0"/>
              <a:t>Records are connected using pointers or links. </a:t>
            </a:r>
          </a:p>
          <a:p>
            <a:r>
              <a:rPr lang="en-US" dirty="0" smtClean="0"/>
              <a:t>More flexible than the Hierarchical Model.</a:t>
            </a:r>
          </a:p>
          <a:p>
            <a:endParaRPr lang="en-US" dirty="0"/>
          </a:p>
        </p:txBody>
      </p:sp>
    </p:spTree>
  </p:cSld>
  <p:clrMapOvr>
    <a:masterClrMapping/>
  </p:clrMapOvr>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667512"/>
          </a:xfrm>
        </p:spPr>
        <p:txBody>
          <a:bodyPr>
            <a:normAutofit fontScale="90000"/>
          </a:bodyPr>
          <a:lstStyle/>
          <a:p>
            <a:r>
              <a:rPr lang="en-US" dirty="0" smtClean="0"/>
              <a:t>Advantages</a:t>
            </a:r>
            <a:endParaRPr lang="en-US" dirty="0"/>
          </a:p>
        </p:txBody>
      </p:sp>
      <p:sp>
        <p:nvSpPr>
          <p:cNvPr id="3" name="Content Placeholder 2"/>
          <p:cNvSpPr>
            <a:spLocks noGrp="1"/>
          </p:cNvSpPr>
          <p:nvPr>
            <p:ph idx="1"/>
          </p:nvPr>
        </p:nvSpPr>
        <p:spPr/>
        <p:txBody>
          <a:bodyPr>
            <a:normAutofit fontScale="85000" lnSpcReduction="20000"/>
          </a:bodyPr>
          <a:lstStyle/>
          <a:p>
            <a:pPr>
              <a:buNone/>
            </a:pPr>
            <a:r>
              <a:rPr lang="en-US" b="1" dirty="0" smtClean="0"/>
              <a:t>1. Supports Many-to-Many Relationships</a:t>
            </a:r>
          </a:p>
          <a:p>
            <a:pPr>
              <a:buNone/>
            </a:pPr>
            <a:r>
              <a:rPr lang="en-US" dirty="0" smtClean="0"/>
              <a:t>Example:</a:t>
            </a:r>
          </a:p>
          <a:p>
            <a:pPr>
              <a:buNone/>
            </a:pPr>
            <a:r>
              <a:rPr lang="en-US" dirty="0" smtClean="0"/>
              <a:t>Many Students ↔ Many Courses</a:t>
            </a:r>
          </a:p>
          <a:p>
            <a:pPr>
              <a:buNone/>
            </a:pPr>
            <a:endParaRPr lang="en-US" dirty="0" smtClean="0"/>
          </a:p>
          <a:p>
            <a:pPr>
              <a:buNone/>
            </a:pPr>
            <a:r>
              <a:rPr lang="en-US" b="1" dirty="0" smtClean="0"/>
              <a:t>2. Faster Data Access</a:t>
            </a:r>
          </a:p>
          <a:p>
            <a:pPr>
              <a:buNone/>
            </a:pPr>
            <a:r>
              <a:rPr lang="en-US" dirty="0" smtClean="0"/>
              <a:t>Records are directly connected through links.</a:t>
            </a:r>
          </a:p>
          <a:p>
            <a:pPr>
              <a:buNone/>
            </a:pPr>
            <a:endParaRPr lang="en-US" dirty="0" smtClean="0"/>
          </a:p>
          <a:p>
            <a:pPr>
              <a:buNone/>
            </a:pPr>
            <a:r>
              <a:rPr lang="en-US" b="1" dirty="0" smtClean="0"/>
              <a:t>3. Reduces Data Redundancy</a:t>
            </a:r>
          </a:p>
          <a:p>
            <a:pPr>
              <a:buNone/>
            </a:pPr>
            <a:r>
              <a:rPr lang="en-US" dirty="0" smtClean="0"/>
              <a:t>The same record does not need to be duplicated under multiple parents.</a:t>
            </a:r>
          </a:p>
          <a:p>
            <a:pPr>
              <a:buNone/>
            </a:pPr>
            <a:endParaRPr lang="en-US" dirty="0" smtClean="0"/>
          </a:p>
          <a:p>
            <a:pPr>
              <a:buNone/>
            </a:pPr>
            <a:r>
              <a:rPr lang="en-US" b="1" dirty="0" smtClean="0"/>
              <a:t>4. More Flexible</a:t>
            </a:r>
          </a:p>
          <a:p>
            <a:pPr>
              <a:buNone/>
            </a:pPr>
            <a:r>
              <a:rPr lang="en-US" dirty="0" smtClean="0"/>
              <a:t>A record can belong to multiple groups.</a:t>
            </a:r>
          </a:p>
          <a:p>
            <a:pPr>
              <a:buNone/>
            </a:pPr>
            <a:endParaRPr lang="en-US" dirty="0"/>
          </a:p>
        </p:txBody>
      </p:sp>
    </p:spTree>
  </p:cSld>
  <p:clrMapOvr>
    <a:masterClrMapping/>
  </p:clrMapOvr>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819912"/>
          </a:xfrm>
        </p:spPr>
        <p:txBody>
          <a:bodyPr>
            <a:normAutofit/>
          </a:bodyPr>
          <a:lstStyle/>
          <a:p>
            <a:r>
              <a:rPr lang="en-US" dirty="0" smtClean="0"/>
              <a:t>Disadvantages</a:t>
            </a:r>
            <a:endParaRPr lang="en-US" dirty="0"/>
          </a:p>
        </p:txBody>
      </p:sp>
      <p:sp>
        <p:nvSpPr>
          <p:cNvPr id="3" name="Content Placeholder 2"/>
          <p:cNvSpPr>
            <a:spLocks noGrp="1"/>
          </p:cNvSpPr>
          <p:nvPr>
            <p:ph idx="1"/>
          </p:nvPr>
        </p:nvSpPr>
        <p:spPr/>
        <p:txBody>
          <a:bodyPr>
            <a:normAutofit fontScale="85000" lnSpcReduction="10000"/>
          </a:bodyPr>
          <a:lstStyle/>
          <a:p>
            <a:pPr>
              <a:buNone/>
            </a:pPr>
            <a:r>
              <a:rPr lang="en-US" b="1" dirty="0" smtClean="0"/>
              <a:t>1. Complex Structure</a:t>
            </a:r>
          </a:p>
          <a:p>
            <a:pPr>
              <a:buNone/>
            </a:pPr>
            <a:r>
              <a:rPr lang="en-US" dirty="0" smtClean="0"/>
              <a:t>The graph structure is more difficult to understand than a tree.</a:t>
            </a:r>
          </a:p>
          <a:p>
            <a:pPr>
              <a:buNone/>
            </a:pPr>
            <a:endParaRPr lang="en-US" dirty="0" smtClean="0"/>
          </a:p>
          <a:p>
            <a:pPr>
              <a:buNone/>
            </a:pPr>
            <a:r>
              <a:rPr lang="en-US" b="1" dirty="0" smtClean="0"/>
              <a:t>2. Difficult Database Design</a:t>
            </a:r>
          </a:p>
          <a:p>
            <a:pPr>
              <a:buNone/>
            </a:pPr>
            <a:r>
              <a:rPr lang="en-US" dirty="0" smtClean="0"/>
              <a:t>Creating and maintaining relationships is more complex.</a:t>
            </a:r>
          </a:p>
          <a:p>
            <a:pPr>
              <a:buNone/>
            </a:pPr>
            <a:endParaRPr lang="en-US" dirty="0" smtClean="0"/>
          </a:p>
          <a:p>
            <a:pPr>
              <a:buNone/>
            </a:pPr>
            <a:r>
              <a:rPr lang="en-US" b="1" dirty="0" smtClean="0"/>
              <a:t>3. Navigation-Based</a:t>
            </a:r>
          </a:p>
          <a:p>
            <a:pPr>
              <a:buNone/>
            </a:pPr>
            <a:r>
              <a:rPr lang="en-US" dirty="0" smtClean="0"/>
              <a:t>The user must know the path to access the required data.</a:t>
            </a:r>
          </a:p>
          <a:p>
            <a:pPr>
              <a:buNone/>
            </a:pPr>
            <a:endParaRPr lang="en-US" dirty="0" smtClean="0"/>
          </a:p>
          <a:p>
            <a:pPr>
              <a:buNone/>
            </a:pPr>
            <a:r>
              <a:rPr lang="en-US" b="1" dirty="0" smtClean="0"/>
              <a:t>4. Difficult Maintenance</a:t>
            </a:r>
          </a:p>
          <a:p>
            <a:pPr>
              <a:buNone/>
            </a:pPr>
            <a:r>
              <a:rPr lang="en-US" dirty="0" smtClean="0"/>
              <a:t>Adding or removing relationships can become complicated in large databases.</a:t>
            </a:r>
          </a:p>
          <a:p>
            <a:endParaRPr lang="en-US" dirty="0"/>
          </a:p>
        </p:txBody>
      </p:sp>
    </p:spTree>
  </p:cSld>
  <p:clrMapOvr>
    <a:masterClrMapping/>
  </p:clrMapOvr>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077200" cy="563562"/>
          </a:xfrm>
        </p:spPr>
        <p:txBody>
          <a:bodyPr>
            <a:normAutofit fontScale="90000"/>
          </a:bodyPr>
          <a:lstStyle/>
          <a:p>
            <a:pPr algn="ctr"/>
            <a:r>
              <a:rPr lang="en-US" dirty="0" smtClean="0"/>
              <a:t>Activity</a:t>
            </a:r>
            <a:endParaRPr lang="en-US" dirty="0"/>
          </a:p>
        </p:txBody>
      </p:sp>
      <p:sp>
        <p:nvSpPr>
          <p:cNvPr id="3" name="Content Placeholder 2"/>
          <p:cNvSpPr>
            <a:spLocks noGrp="1"/>
          </p:cNvSpPr>
          <p:nvPr>
            <p:ph idx="1"/>
          </p:nvPr>
        </p:nvSpPr>
        <p:spPr>
          <a:xfrm>
            <a:off x="381000" y="1066800"/>
            <a:ext cx="8229600" cy="5303520"/>
          </a:xfrm>
        </p:spPr>
        <p:txBody>
          <a:bodyPr/>
          <a:lstStyle/>
          <a:p>
            <a:r>
              <a:rPr lang="en-US" dirty="0" smtClean="0"/>
              <a:t>Student</a:t>
            </a:r>
          </a:p>
          <a:p>
            <a:endParaRPr lang="en-US" dirty="0" smtClean="0"/>
          </a:p>
          <a:p>
            <a:endParaRPr lang="en-US" dirty="0" smtClean="0"/>
          </a:p>
          <a:p>
            <a:endParaRPr lang="en-US" dirty="0" smtClean="0"/>
          </a:p>
          <a:p>
            <a:endParaRPr lang="en-US" dirty="0" smtClean="0"/>
          </a:p>
          <a:p>
            <a:r>
              <a:rPr lang="en-US" dirty="0" smtClean="0"/>
              <a:t>Club </a:t>
            </a:r>
          </a:p>
          <a:p>
            <a:endParaRPr lang="en-US" dirty="0"/>
          </a:p>
        </p:txBody>
      </p:sp>
      <p:graphicFrame>
        <p:nvGraphicFramePr>
          <p:cNvPr id="4" name="Table 3"/>
          <p:cNvGraphicFramePr>
            <a:graphicFrameLocks noGrp="1"/>
          </p:cNvGraphicFramePr>
          <p:nvPr/>
        </p:nvGraphicFramePr>
        <p:xfrm>
          <a:off x="1828800" y="1600200"/>
          <a:ext cx="6096000" cy="1483360"/>
        </p:xfrm>
        <a:graphic>
          <a:graphicData uri="http://schemas.openxmlformats.org/drawingml/2006/table">
            <a:tbl>
              <a:tblPr firstRow="1" bandRow="1">
                <a:tableStyleId>{5C22544A-7EE6-4342-B048-85BDC9FD1C3A}</a:tableStyleId>
              </a:tblPr>
              <a:tblGrid>
                <a:gridCol w="3048000"/>
                <a:gridCol w="3048000"/>
              </a:tblGrid>
              <a:tr h="370840">
                <a:tc>
                  <a:txBody>
                    <a:bodyPr/>
                    <a:lstStyle/>
                    <a:p>
                      <a:r>
                        <a:rPr lang="en-US" dirty="0" err="1"/>
                        <a:t>Student_ID</a:t>
                      </a:r>
                      <a:endParaRPr lang="en-US" dirty="0"/>
                    </a:p>
                  </a:txBody>
                  <a:tcPr anchor="ctr"/>
                </a:tc>
                <a:tc>
                  <a:txBody>
                    <a:bodyPr/>
                    <a:lstStyle/>
                    <a:p>
                      <a:r>
                        <a:rPr lang="en-US"/>
                        <a:t>Name</a:t>
                      </a:r>
                    </a:p>
                  </a:txBody>
                  <a:tcPr anchor="ctr"/>
                </a:tc>
              </a:tr>
              <a:tr h="370840">
                <a:tc>
                  <a:txBody>
                    <a:bodyPr/>
                    <a:lstStyle/>
                    <a:p>
                      <a:r>
                        <a:rPr lang="en-US" dirty="0"/>
                        <a:t>101</a:t>
                      </a:r>
                    </a:p>
                  </a:txBody>
                  <a:tcPr anchor="ctr"/>
                </a:tc>
                <a:tc>
                  <a:txBody>
                    <a:bodyPr/>
                    <a:lstStyle/>
                    <a:p>
                      <a:r>
                        <a:rPr lang="en-US"/>
                        <a:t>Amit</a:t>
                      </a:r>
                    </a:p>
                  </a:txBody>
                  <a:tcPr anchor="ctr"/>
                </a:tc>
              </a:tr>
              <a:tr h="370840">
                <a:tc>
                  <a:txBody>
                    <a:bodyPr/>
                    <a:lstStyle/>
                    <a:p>
                      <a:r>
                        <a:rPr lang="en-US"/>
                        <a:t>102</a:t>
                      </a:r>
                    </a:p>
                  </a:txBody>
                  <a:tcPr anchor="ctr"/>
                </a:tc>
                <a:tc>
                  <a:txBody>
                    <a:bodyPr/>
                    <a:lstStyle/>
                    <a:p>
                      <a:r>
                        <a:rPr lang="en-US"/>
                        <a:t>Priya</a:t>
                      </a:r>
                    </a:p>
                  </a:txBody>
                  <a:tcPr anchor="ctr"/>
                </a:tc>
              </a:tr>
              <a:tr h="370840">
                <a:tc>
                  <a:txBody>
                    <a:bodyPr/>
                    <a:lstStyle/>
                    <a:p>
                      <a:r>
                        <a:rPr lang="en-US"/>
                        <a:t>103</a:t>
                      </a:r>
                    </a:p>
                  </a:txBody>
                  <a:tcPr anchor="ctr"/>
                </a:tc>
                <a:tc>
                  <a:txBody>
                    <a:bodyPr/>
                    <a:lstStyle/>
                    <a:p>
                      <a:r>
                        <a:rPr lang="en-US" dirty="0" err="1"/>
                        <a:t>Rahul</a:t>
                      </a:r>
                      <a:endParaRPr lang="en-US" dirty="0"/>
                    </a:p>
                  </a:txBody>
                  <a:tcPr anchor="ctr"/>
                </a:tc>
              </a:tr>
            </a:tbl>
          </a:graphicData>
        </a:graphic>
      </p:graphicFrame>
      <p:graphicFrame>
        <p:nvGraphicFramePr>
          <p:cNvPr id="5" name="Table 4"/>
          <p:cNvGraphicFramePr>
            <a:graphicFrameLocks noGrp="1"/>
          </p:cNvGraphicFramePr>
          <p:nvPr/>
        </p:nvGraphicFramePr>
        <p:xfrm>
          <a:off x="1752600" y="4114800"/>
          <a:ext cx="6096000" cy="1483360"/>
        </p:xfrm>
        <a:graphic>
          <a:graphicData uri="http://schemas.openxmlformats.org/drawingml/2006/table">
            <a:tbl>
              <a:tblPr firstRow="1" bandRow="1">
                <a:tableStyleId>{5C22544A-7EE6-4342-B048-85BDC9FD1C3A}</a:tableStyleId>
              </a:tblPr>
              <a:tblGrid>
                <a:gridCol w="3048000"/>
                <a:gridCol w="3048000"/>
              </a:tblGrid>
              <a:tr h="370840">
                <a:tc>
                  <a:txBody>
                    <a:bodyPr/>
                    <a:lstStyle/>
                    <a:p>
                      <a:r>
                        <a:rPr lang="en-US" dirty="0" err="1"/>
                        <a:t>Club_ID</a:t>
                      </a:r>
                      <a:endParaRPr lang="en-US" dirty="0"/>
                    </a:p>
                  </a:txBody>
                  <a:tcPr anchor="ctr"/>
                </a:tc>
                <a:tc>
                  <a:txBody>
                    <a:bodyPr/>
                    <a:lstStyle/>
                    <a:p>
                      <a:r>
                        <a:rPr lang="en-US"/>
                        <a:t>Club_Name</a:t>
                      </a:r>
                    </a:p>
                  </a:txBody>
                  <a:tcPr anchor="ctr"/>
                </a:tc>
              </a:tr>
              <a:tr h="370840">
                <a:tc>
                  <a:txBody>
                    <a:bodyPr/>
                    <a:lstStyle/>
                    <a:p>
                      <a:r>
                        <a:rPr lang="en-US"/>
                        <a:t>C1</a:t>
                      </a:r>
                    </a:p>
                  </a:txBody>
                  <a:tcPr anchor="ctr"/>
                </a:tc>
                <a:tc>
                  <a:txBody>
                    <a:bodyPr/>
                    <a:lstStyle/>
                    <a:p>
                      <a:r>
                        <a:rPr lang="en-US"/>
                        <a:t>Coding Club</a:t>
                      </a:r>
                    </a:p>
                  </a:txBody>
                  <a:tcPr anchor="ctr"/>
                </a:tc>
              </a:tr>
              <a:tr h="370840">
                <a:tc>
                  <a:txBody>
                    <a:bodyPr/>
                    <a:lstStyle/>
                    <a:p>
                      <a:r>
                        <a:rPr lang="en-US"/>
                        <a:t>C2</a:t>
                      </a:r>
                    </a:p>
                  </a:txBody>
                  <a:tcPr anchor="ctr"/>
                </a:tc>
                <a:tc>
                  <a:txBody>
                    <a:bodyPr/>
                    <a:lstStyle/>
                    <a:p>
                      <a:r>
                        <a:rPr lang="en-US"/>
                        <a:t>Robotics Club</a:t>
                      </a:r>
                    </a:p>
                  </a:txBody>
                  <a:tcPr anchor="ctr"/>
                </a:tc>
              </a:tr>
              <a:tr h="370840">
                <a:tc>
                  <a:txBody>
                    <a:bodyPr/>
                    <a:lstStyle/>
                    <a:p>
                      <a:r>
                        <a:rPr lang="en-US"/>
                        <a:t>C3</a:t>
                      </a:r>
                    </a:p>
                  </a:txBody>
                  <a:tcPr anchor="ctr"/>
                </a:tc>
                <a:tc>
                  <a:txBody>
                    <a:bodyPr/>
                    <a:lstStyle/>
                    <a:p>
                      <a:r>
                        <a:rPr lang="en-US" dirty="0"/>
                        <a:t>Music Club</a:t>
                      </a:r>
                    </a:p>
                  </a:txBody>
                  <a:tcPr anchor="ctr"/>
                </a:tc>
              </a:tr>
            </a:tbl>
          </a:graphicData>
        </a:graphic>
      </p:graphicFrame>
    </p:spTree>
  </p:cSld>
  <p:clrMapOvr>
    <a:masterClrMapping/>
  </p:clrMapOvr>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Membership Table</a:t>
            </a:r>
            <a:endParaRPr lang="en-US" dirty="0"/>
          </a:p>
        </p:txBody>
      </p:sp>
      <p:graphicFrame>
        <p:nvGraphicFramePr>
          <p:cNvPr id="4" name="Content Placeholder 3"/>
          <p:cNvGraphicFramePr>
            <a:graphicFrameLocks noGrp="1"/>
          </p:cNvGraphicFramePr>
          <p:nvPr>
            <p:ph idx="1"/>
          </p:nvPr>
        </p:nvGraphicFramePr>
        <p:xfrm>
          <a:off x="914400" y="2209800"/>
          <a:ext cx="6324600" cy="2225040"/>
        </p:xfrm>
        <a:graphic>
          <a:graphicData uri="http://schemas.openxmlformats.org/drawingml/2006/table">
            <a:tbl>
              <a:tblPr firstRow="1" bandRow="1">
                <a:tableStyleId>{5C22544A-7EE6-4342-B048-85BDC9FD1C3A}</a:tableStyleId>
              </a:tblPr>
              <a:tblGrid>
                <a:gridCol w="3162300"/>
                <a:gridCol w="3162300"/>
              </a:tblGrid>
              <a:tr h="370840">
                <a:tc>
                  <a:txBody>
                    <a:bodyPr/>
                    <a:lstStyle/>
                    <a:p>
                      <a:r>
                        <a:rPr lang="en-US" dirty="0" err="1"/>
                        <a:t>Student_ID</a:t>
                      </a:r>
                      <a:endParaRPr lang="en-US" dirty="0"/>
                    </a:p>
                  </a:txBody>
                  <a:tcPr anchor="ctr"/>
                </a:tc>
                <a:tc>
                  <a:txBody>
                    <a:bodyPr/>
                    <a:lstStyle/>
                    <a:p>
                      <a:r>
                        <a:rPr lang="en-US" dirty="0" err="1"/>
                        <a:t>Club_ID</a:t>
                      </a:r>
                      <a:endParaRPr lang="en-US" dirty="0"/>
                    </a:p>
                  </a:txBody>
                  <a:tcPr anchor="ctr"/>
                </a:tc>
              </a:tr>
              <a:tr h="370840">
                <a:tc>
                  <a:txBody>
                    <a:bodyPr/>
                    <a:lstStyle/>
                    <a:p>
                      <a:r>
                        <a:rPr lang="en-US"/>
                        <a:t>101</a:t>
                      </a:r>
                    </a:p>
                  </a:txBody>
                  <a:tcPr anchor="ctr"/>
                </a:tc>
                <a:tc>
                  <a:txBody>
                    <a:bodyPr/>
                    <a:lstStyle/>
                    <a:p>
                      <a:r>
                        <a:rPr lang="en-US" dirty="0"/>
                        <a:t>C1</a:t>
                      </a:r>
                    </a:p>
                  </a:txBody>
                  <a:tcPr anchor="ctr"/>
                </a:tc>
              </a:tr>
              <a:tr h="370840">
                <a:tc>
                  <a:txBody>
                    <a:bodyPr/>
                    <a:lstStyle/>
                    <a:p>
                      <a:r>
                        <a:rPr lang="en-US" dirty="0"/>
                        <a:t>101</a:t>
                      </a:r>
                    </a:p>
                  </a:txBody>
                  <a:tcPr anchor="ctr"/>
                </a:tc>
                <a:tc>
                  <a:txBody>
                    <a:bodyPr/>
                    <a:lstStyle/>
                    <a:p>
                      <a:r>
                        <a:rPr lang="en-US"/>
                        <a:t>C2</a:t>
                      </a:r>
                    </a:p>
                  </a:txBody>
                  <a:tcPr anchor="ctr"/>
                </a:tc>
              </a:tr>
              <a:tr h="370840">
                <a:tc>
                  <a:txBody>
                    <a:bodyPr/>
                    <a:lstStyle/>
                    <a:p>
                      <a:r>
                        <a:rPr lang="en-US"/>
                        <a:t>102</a:t>
                      </a:r>
                    </a:p>
                  </a:txBody>
                  <a:tcPr anchor="ctr"/>
                </a:tc>
                <a:tc>
                  <a:txBody>
                    <a:bodyPr/>
                    <a:lstStyle/>
                    <a:p>
                      <a:r>
                        <a:rPr lang="en-US"/>
                        <a:t>C2</a:t>
                      </a:r>
                    </a:p>
                  </a:txBody>
                  <a:tcPr anchor="ctr"/>
                </a:tc>
              </a:tr>
              <a:tr h="370840">
                <a:tc>
                  <a:txBody>
                    <a:bodyPr/>
                    <a:lstStyle/>
                    <a:p>
                      <a:r>
                        <a:rPr lang="en-US"/>
                        <a:t>103</a:t>
                      </a:r>
                    </a:p>
                  </a:txBody>
                  <a:tcPr anchor="ctr"/>
                </a:tc>
                <a:tc>
                  <a:txBody>
                    <a:bodyPr/>
                    <a:lstStyle/>
                    <a:p>
                      <a:r>
                        <a:rPr lang="en-US"/>
                        <a:t>C1</a:t>
                      </a:r>
                    </a:p>
                  </a:txBody>
                  <a:tcPr anchor="ctr"/>
                </a:tc>
              </a:tr>
              <a:tr h="370840">
                <a:tc>
                  <a:txBody>
                    <a:bodyPr/>
                    <a:lstStyle/>
                    <a:p>
                      <a:r>
                        <a:rPr lang="en-US"/>
                        <a:t>103</a:t>
                      </a:r>
                    </a:p>
                  </a:txBody>
                  <a:tcPr anchor="ctr"/>
                </a:tc>
                <a:tc>
                  <a:txBody>
                    <a:bodyPr/>
                    <a:lstStyle/>
                    <a:p>
                      <a:r>
                        <a:rPr lang="en-US" dirty="0"/>
                        <a:t>C3</a:t>
                      </a:r>
                    </a:p>
                  </a:txBody>
                  <a:tcPr anchor="ctr"/>
                </a:tc>
              </a:tr>
            </a:tbl>
          </a:graphicData>
        </a:graphic>
      </p:graphicFrame>
    </p:spTree>
  </p:cSld>
  <p:clrMapOvr>
    <a:masterClrMapping/>
  </p:clrMapOvr>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819912"/>
          </a:xfrm>
        </p:spPr>
        <p:txBody>
          <a:bodyPr>
            <a:normAutofit/>
          </a:bodyPr>
          <a:lstStyle/>
          <a:p>
            <a:r>
              <a:rPr lang="en-US" dirty="0" smtClean="0"/>
              <a:t>Questions</a:t>
            </a:r>
            <a:endParaRPr lang="en-US" dirty="0"/>
          </a:p>
        </p:txBody>
      </p:sp>
      <p:sp>
        <p:nvSpPr>
          <p:cNvPr id="3" name="Content Placeholder 2"/>
          <p:cNvSpPr>
            <a:spLocks noGrp="1"/>
          </p:cNvSpPr>
          <p:nvPr>
            <p:ph idx="1"/>
          </p:nvPr>
        </p:nvSpPr>
        <p:spPr/>
        <p:txBody>
          <a:bodyPr>
            <a:normAutofit/>
          </a:bodyPr>
          <a:lstStyle/>
          <a:p>
            <a:r>
              <a:rPr lang="en-US" dirty="0" smtClean="0"/>
              <a:t>Which students belong to more than one club? </a:t>
            </a:r>
          </a:p>
          <a:p>
            <a:r>
              <a:rPr lang="en-US" dirty="0" smtClean="0"/>
              <a:t>Which club has more than one student? </a:t>
            </a:r>
          </a:p>
          <a:p>
            <a:r>
              <a:rPr lang="en-US" dirty="0" smtClean="0"/>
              <a:t>Is this an example of a </a:t>
            </a:r>
            <a:r>
              <a:rPr lang="en-US" b="1" dirty="0" smtClean="0"/>
              <a:t>One-to-Many</a:t>
            </a:r>
            <a:r>
              <a:rPr lang="en-US" dirty="0" smtClean="0"/>
              <a:t> or </a:t>
            </a:r>
            <a:r>
              <a:rPr lang="en-US" b="1" dirty="0" smtClean="0"/>
              <a:t>Many-to-Many</a:t>
            </a:r>
            <a:r>
              <a:rPr lang="en-US" dirty="0" smtClean="0"/>
              <a:t> relationship? </a:t>
            </a:r>
          </a:p>
          <a:p>
            <a:r>
              <a:rPr lang="en-US" dirty="0" smtClean="0"/>
              <a:t>Can this relationship be efficiently represented using the Hierarchical Model? Why? </a:t>
            </a:r>
          </a:p>
          <a:p>
            <a:r>
              <a:rPr lang="en-US" dirty="0" smtClean="0"/>
              <a:t>Which database model is more suitable for this scenario? </a:t>
            </a:r>
          </a:p>
          <a:p>
            <a:endParaRPr lang="en-US" dirty="0"/>
          </a:p>
        </p:txBody>
      </p:sp>
    </p:spTree>
  </p:cSld>
  <p:clrMapOvr>
    <a:masterClrMapping/>
  </p:clrMapOvr>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381000"/>
            <a:ext cx="8229600" cy="1143000"/>
          </a:xfrm>
        </p:spPr>
        <p:txBody>
          <a:bodyPr/>
          <a:lstStyle/>
          <a:p>
            <a:r>
              <a:rPr lang="en-US" dirty="0" smtClean="0"/>
              <a:t>Extended ER (EER) Model </a:t>
            </a:r>
            <a:endParaRPr lang="en-US" dirty="0"/>
          </a:p>
        </p:txBody>
      </p:sp>
      <p:sp>
        <p:nvSpPr>
          <p:cNvPr id="3" name="Content Placeholder 2"/>
          <p:cNvSpPr>
            <a:spLocks noGrp="1"/>
          </p:cNvSpPr>
          <p:nvPr>
            <p:ph idx="1"/>
          </p:nvPr>
        </p:nvSpPr>
        <p:spPr>
          <a:xfrm>
            <a:off x="457200" y="1600200"/>
            <a:ext cx="8229600" cy="5029200"/>
          </a:xfrm>
        </p:spPr>
        <p:txBody>
          <a:bodyPr>
            <a:normAutofit lnSpcReduction="10000"/>
          </a:bodyPr>
          <a:lstStyle/>
          <a:p>
            <a:r>
              <a:rPr lang="en-US" dirty="0" smtClean="0"/>
              <a:t>The Extended Entity Relationship (EER) Model, also known as the Enhanced ER Model, is an advanced version of the traditional ER Model.</a:t>
            </a:r>
          </a:p>
          <a:p>
            <a:endParaRPr lang="en-US" dirty="0" smtClean="0"/>
          </a:p>
          <a:p>
            <a:r>
              <a:rPr lang="en-US" dirty="0" smtClean="0"/>
              <a:t>It extends the capabilities of the ER model by introducing concepts such as specialization, generalization, inheritance, aggregation, and categories (union types).</a:t>
            </a:r>
          </a:p>
          <a:p>
            <a:endParaRPr lang="en-US" dirty="0" smtClean="0"/>
          </a:p>
          <a:p>
            <a:r>
              <a:rPr lang="en-US" dirty="0" smtClean="0"/>
              <a:t>The EER model is used when the real-world system is too complex to be represented using only entities, attributes, and relationships.</a:t>
            </a:r>
            <a:endParaRPr lang="en-US" dirty="0"/>
          </a:p>
        </p:txBody>
      </p:sp>
    </p:spTree>
  </p:cSld>
  <p:clrMapOvr>
    <a:masterClrMapping/>
  </p:clrMapOvr>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457200"/>
            <a:ext cx="8229600" cy="1143000"/>
          </a:xfrm>
        </p:spPr>
        <p:txBody>
          <a:bodyPr>
            <a:normAutofit fontScale="90000"/>
          </a:bodyPr>
          <a:lstStyle/>
          <a:p>
            <a:r>
              <a:rPr lang="en-US" b="1" dirty="0" smtClean="0"/>
              <a:t>Why Do We Need the Extended ER Model?</a:t>
            </a:r>
            <a:endParaRPr lang="en-US" dirty="0"/>
          </a:p>
        </p:txBody>
      </p:sp>
      <p:sp>
        <p:nvSpPr>
          <p:cNvPr id="3" name="Content Placeholder 2"/>
          <p:cNvSpPr>
            <a:spLocks noGrp="1"/>
          </p:cNvSpPr>
          <p:nvPr>
            <p:ph sz="half" idx="1"/>
          </p:nvPr>
        </p:nvSpPr>
        <p:spPr>
          <a:xfrm>
            <a:off x="457200" y="1600200"/>
            <a:ext cx="4038600" cy="4648200"/>
          </a:xfrm>
        </p:spPr>
        <p:txBody>
          <a:bodyPr>
            <a:normAutofit fontScale="62500" lnSpcReduction="20000"/>
          </a:bodyPr>
          <a:lstStyle/>
          <a:p>
            <a:pPr>
              <a:buNone/>
            </a:pPr>
            <a:r>
              <a:rPr lang="en-US" dirty="0" smtClean="0"/>
              <a:t>Consider a university database.</a:t>
            </a:r>
          </a:p>
          <a:p>
            <a:pPr marL="0" indent="0">
              <a:buNone/>
            </a:pPr>
            <a:r>
              <a:rPr lang="en-US" dirty="0" smtClean="0"/>
              <a:t>In a simple ER model, we can create an entity  called</a:t>
            </a:r>
            <a:r>
              <a:rPr lang="en-US" b="1" dirty="0" smtClean="0"/>
              <a:t> Person.</a:t>
            </a:r>
          </a:p>
          <a:p>
            <a:pPr>
              <a:buNone/>
            </a:pPr>
            <a:r>
              <a:rPr lang="en-US" dirty="0" smtClean="0"/>
              <a:t>	Person</a:t>
            </a:r>
          </a:p>
          <a:p>
            <a:pPr>
              <a:buNone/>
            </a:pPr>
            <a:r>
              <a:rPr lang="en-US" dirty="0" smtClean="0"/>
              <a:t> ---------------------- </a:t>
            </a:r>
          </a:p>
          <a:p>
            <a:pPr>
              <a:buNone/>
            </a:pPr>
            <a:r>
              <a:rPr lang="en-US" dirty="0" smtClean="0"/>
              <a:t>	</a:t>
            </a:r>
            <a:r>
              <a:rPr lang="en-US" dirty="0" err="1" smtClean="0"/>
              <a:t>Person_ID</a:t>
            </a:r>
            <a:r>
              <a:rPr lang="en-US" dirty="0" smtClean="0"/>
              <a:t> </a:t>
            </a:r>
          </a:p>
          <a:p>
            <a:pPr>
              <a:buNone/>
            </a:pPr>
            <a:r>
              <a:rPr lang="en-US" dirty="0" smtClean="0"/>
              <a:t>	Name </a:t>
            </a:r>
          </a:p>
          <a:p>
            <a:pPr>
              <a:buNone/>
            </a:pPr>
            <a:r>
              <a:rPr lang="en-US" dirty="0" smtClean="0"/>
              <a:t>	Age </a:t>
            </a:r>
          </a:p>
          <a:p>
            <a:pPr>
              <a:buNone/>
            </a:pPr>
            <a:r>
              <a:rPr lang="en-US" dirty="0" smtClean="0"/>
              <a:t>	Gender </a:t>
            </a:r>
          </a:p>
          <a:p>
            <a:pPr>
              <a:buNone/>
            </a:pPr>
            <a:r>
              <a:rPr lang="en-US" dirty="0" smtClean="0"/>
              <a:t>	Address</a:t>
            </a:r>
          </a:p>
          <a:p>
            <a:pPr>
              <a:buNone/>
            </a:pPr>
            <a:endParaRPr lang="en-US" dirty="0" smtClean="0"/>
          </a:p>
          <a:p>
            <a:pPr>
              <a:buNone/>
            </a:pPr>
            <a:r>
              <a:rPr lang="en-US" dirty="0" smtClean="0"/>
              <a:t>But in reality, a person can be</a:t>
            </a:r>
          </a:p>
          <a:p>
            <a:pPr lvl="1">
              <a:buNone/>
            </a:pPr>
            <a:r>
              <a:rPr lang="en-US" dirty="0" smtClean="0"/>
              <a:t>Student </a:t>
            </a:r>
          </a:p>
          <a:p>
            <a:pPr lvl="1">
              <a:buNone/>
            </a:pPr>
            <a:r>
              <a:rPr lang="en-US" dirty="0" smtClean="0"/>
              <a:t>Faculty </a:t>
            </a:r>
          </a:p>
          <a:p>
            <a:pPr lvl="1">
              <a:buNone/>
            </a:pPr>
            <a:r>
              <a:rPr lang="en-US" dirty="0" smtClean="0"/>
              <a:t>Staff </a:t>
            </a:r>
          </a:p>
          <a:p>
            <a:pPr>
              <a:buNone/>
            </a:pPr>
            <a:r>
              <a:rPr lang="en-US" dirty="0" smtClean="0"/>
              <a:t>Each of these has different additional information.</a:t>
            </a:r>
          </a:p>
          <a:p>
            <a:pPr>
              <a:buNone/>
            </a:pPr>
            <a:endParaRPr lang="en-US" dirty="0" smtClean="0"/>
          </a:p>
          <a:p>
            <a:pPr>
              <a:buNone/>
            </a:pPr>
            <a:endParaRPr lang="en-US" dirty="0"/>
          </a:p>
        </p:txBody>
      </p:sp>
      <p:sp>
        <p:nvSpPr>
          <p:cNvPr id="4" name="Content Placeholder 3"/>
          <p:cNvSpPr>
            <a:spLocks noGrp="1"/>
          </p:cNvSpPr>
          <p:nvPr>
            <p:ph sz="half" idx="2"/>
          </p:nvPr>
        </p:nvSpPr>
        <p:spPr/>
        <p:txBody>
          <a:bodyPr>
            <a:normAutofit fontScale="62500" lnSpcReduction="20000"/>
          </a:bodyPr>
          <a:lstStyle/>
          <a:p>
            <a:pPr>
              <a:buNone/>
            </a:pPr>
            <a:r>
              <a:rPr lang="en-US" dirty="0" smtClean="0"/>
              <a:t>For example,</a:t>
            </a:r>
          </a:p>
          <a:p>
            <a:pPr>
              <a:buNone/>
            </a:pPr>
            <a:r>
              <a:rPr lang="en-US" dirty="0" smtClean="0"/>
              <a:t>Student has</a:t>
            </a:r>
          </a:p>
          <a:p>
            <a:pPr>
              <a:buNone/>
            </a:pPr>
            <a:r>
              <a:rPr lang="en-US" dirty="0" smtClean="0"/>
              <a:t>	Roll Number </a:t>
            </a:r>
          </a:p>
          <a:p>
            <a:pPr>
              <a:buNone/>
            </a:pPr>
            <a:r>
              <a:rPr lang="en-US" dirty="0" smtClean="0"/>
              <a:t>	Semester </a:t>
            </a:r>
          </a:p>
          <a:p>
            <a:pPr>
              <a:buNone/>
            </a:pPr>
            <a:r>
              <a:rPr lang="en-US" dirty="0" smtClean="0"/>
              <a:t>Faculty has</a:t>
            </a:r>
          </a:p>
          <a:p>
            <a:pPr>
              <a:buNone/>
            </a:pPr>
            <a:r>
              <a:rPr lang="en-US" dirty="0" smtClean="0"/>
              <a:t>	Employee ID </a:t>
            </a:r>
          </a:p>
          <a:p>
            <a:pPr>
              <a:buNone/>
            </a:pPr>
            <a:r>
              <a:rPr lang="en-US" dirty="0" smtClean="0"/>
              <a:t>	Salary </a:t>
            </a:r>
          </a:p>
          <a:p>
            <a:pPr>
              <a:buNone/>
            </a:pPr>
            <a:r>
              <a:rPr lang="en-US" dirty="0" smtClean="0"/>
              <a:t>Staff has</a:t>
            </a:r>
          </a:p>
          <a:p>
            <a:pPr>
              <a:buNone/>
            </a:pPr>
            <a:r>
              <a:rPr lang="en-US" dirty="0" smtClean="0"/>
              <a:t>	Department </a:t>
            </a:r>
          </a:p>
          <a:p>
            <a:pPr>
              <a:buNone/>
            </a:pPr>
            <a:r>
              <a:rPr lang="en-US" dirty="0" smtClean="0"/>
              <a:t>	Shift </a:t>
            </a:r>
          </a:p>
          <a:p>
            <a:pPr>
              <a:buNone/>
            </a:pPr>
            <a:endParaRPr lang="en-US" dirty="0" smtClean="0"/>
          </a:p>
          <a:p>
            <a:pPr>
              <a:buNone/>
            </a:pPr>
            <a:r>
              <a:rPr lang="en-US" dirty="0" smtClean="0"/>
              <a:t>	</a:t>
            </a:r>
            <a:r>
              <a:rPr lang="en-US" b="1" dirty="0" smtClean="0">
                <a:solidFill>
                  <a:srgbClr val="FF0000"/>
                </a:solidFill>
              </a:rPr>
              <a:t>Representing all these in a single entity would create many NULL values and unnecessary attributes.</a:t>
            </a:r>
          </a:p>
          <a:p>
            <a:pPr>
              <a:buNone/>
            </a:pPr>
            <a:endParaRPr lang="en-US" b="1" dirty="0" smtClean="0">
              <a:solidFill>
                <a:srgbClr val="FF0000"/>
              </a:solidFill>
            </a:endParaRPr>
          </a:p>
          <a:p>
            <a:pPr>
              <a:buNone/>
            </a:pPr>
            <a:r>
              <a:rPr lang="en-US" dirty="0" smtClean="0">
                <a:solidFill>
                  <a:srgbClr val="00B050"/>
                </a:solidFill>
              </a:rPr>
              <a:t>	The EER Model solves this problem.</a:t>
            </a:r>
            <a:endParaRPr lang="en-US" dirty="0">
              <a:solidFill>
                <a:srgbClr val="00B050"/>
              </a:solidFill>
            </a:endParaRPr>
          </a:p>
        </p:txBody>
      </p:sp>
    </p:spTree>
  </p:cSld>
  <p:clrMapOvr>
    <a:masterClrMapping/>
  </p:clrMapOvr>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819912"/>
          </a:xfrm>
        </p:spPr>
        <p:txBody>
          <a:bodyPr>
            <a:normAutofit fontScale="90000"/>
          </a:bodyPr>
          <a:lstStyle/>
          <a:p>
            <a:r>
              <a:rPr lang="en-US" dirty="0" smtClean="0"/>
              <a:t>Features of the Extended ER Model</a:t>
            </a:r>
            <a:endParaRPr lang="en-US" dirty="0"/>
          </a:p>
        </p:txBody>
      </p:sp>
      <p:sp>
        <p:nvSpPr>
          <p:cNvPr id="3" name="Content Placeholder 2"/>
          <p:cNvSpPr>
            <a:spLocks noGrp="1"/>
          </p:cNvSpPr>
          <p:nvPr>
            <p:ph idx="1"/>
          </p:nvPr>
        </p:nvSpPr>
        <p:spPr/>
        <p:txBody>
          <a:bodyPr>
            <a:normAutofit/>
          </a:bodyPr>
          <a:lstStyle/>
          <a:p>
            <a:pPr>
              <a:buNone/>
            </a:pPr>
            <a:r>
              <a:rPr lang="en-US" dirty="0" smtClean="0"/>
              <a:t>The EER model introduces the following concepts:</a:t>
            </a:r>
          </a:p>
          <a:p>
            <a:r>
              <a:rPr lang="en-US" dirty="0" err="1" smtClean="0"/>
              <a:t>Superclass</a:t>
            </a:r>
            <a:r>
              <a:rPr lang="en-US" dirty="0" smtClean="0"/>
              <a:t> </a:t>
            </a:r>
          </a:p>
          <a:p>
            <a:r>
              <a:rPr lang="en-US" dirty="0" smtClean="0"/>
              <a:t>Subclass </a:t>
            </a:r>
          </a:p>
          <a:p>
            <a:r>
              <a:rPr lang="en-US" dirty="0" smtClean="0"/>
              <a:t>Specialization </a:t>
            </a:r>
          </a:p>
          <a:p>
            <a:r>
              <a:rPr lang="en-US" dirty="0" smtClean="0"/>
              <a:t>Generalization </a:t>
            </a:r>
          </a:p>
          <a:p>
            <a:r>
              <a:rPr lang="en-US" dirty="0" smtClean="0"/>
              <a:t>Inheritance </a:t>
            </a:r>
          </a:p>
          <a:p>
            <a:r>
              <a:rPr lang="en-US" dirty="0" smtClean="0"/>
              <a:t>Aggregation </a:t>
            </a:r>
          </a:p>
          <a:p>
            <a:r>
              <a:rPr lang="en-US" dirty="0" smtClean="0"/>
              <a:t>Category (Union Type)</a:t>
            </a:r>
          </a:p>
          <a:p>
            <a:endParaRPr lang="en-US" dirty="0"/>
          </a:p>
        </p:txBody>
      </p:sp>
    </p:spTree>
  </p:cSld>
  <p:clrMapOvr>
    <a:masterClrMapping/>
  </p:clrMapOvr>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533400"/>
            <a:ext cx="8229600" cy="1143000"/>
          </a:xfrm>
        </p:spPr>
        <p:txBody>
          <a:bodyPr>
            <a:normAutofit/>
          </a:bodyPr>
          <a:lstStyle/>
          <a:p>
            <a:r>
              <a:rPr lang="en-US" b="1" dirty="0" smtClean="0"/>
              <a:t>1. </a:t>
            </a:r>
            <a:r>
              <a:rPr lang="en-US" b="1" dirty="0" err="1" smtClean="0"/>
              <a:t>Superclass</a:t>
            </a:r>
            <a:endParaRPr lang="en-US" dirty="0"/>
          </a:p>
        </p:txBody>
      </p:sp>
      <p:sp>
        <p:nvSpPr>
          <p:cNvPr id="3" name="Content Placeholder 2"/>
          <p:cNvSpPr>
            <a:spLocks noGrp="1"/>
          </p:cNvSpPr>
          <p:nvPr>
            <p:ph idx="1"/>
          </p:nvPr>
        </p:nvSpPr>
        <p:spPr>
          <a:xfrm>
            <a:off x="457200" y="1600200"/>
            <a:ext cx="8229600" cy="5029200"/>
          </a:xfrm>
        </p:spPr>
        <p:txBody>
          <a:bodyPr>
            <a:normAutofit fontScale="92500" lnSpcReduction="20000"/>
          </a:bodyPr>
          <a:lstStyle/>
          <a:p>
            <a:pPr>
              <a:buNone/>
            </a:pPr>
            <a:r>
              <a:rPr lang="en-US" dirty="0" smtClean="0"/>
              <a:t>	A </a:t>
            </a:r>
            <a:r>
              <a:rPr lang="en-US" b="1" dirty="0" err="1" smtClean="0"/>
              <a:t>Superclass</a:t>
            </a:r>
            <a:r>
              <a:rPr lang="en-US" dirty="0" smtClean="0"/>
              <a:t> is a general entity that contains common attributes shared by multiple entity types.</a:t>
            </a:r>
          </a:p>
          <a:p>
            <a:pPr>
              <a:buNone/>
            </a:pPr>
            <a:r>
              <a:rPr lang="en-US" b="1" dirty="0" smtClean="0"/>
              <a:t>Example</a:t>
            </a:r>
          </a:p>
          <a:p>
            <a:pPr>
              <a:buNone/>
            </a:pPr>
            <a:r>
              <a:rPr lang="en-US" dirty="0" smtClean="0"/>
              <a:t>		      Person </a:t>
            </a:r>
          </a:p>
          <a:p>
            <a:pPr>
              <a:buNone/>
            </a:pPr>
            <a:r>
              <a:rPr lang="en-US" dirty="0" smtClean="0"/>
              <a:t>		-------------------- </a:t>
            </a:r>
          </a:p>
          <a:p>
            <a:pPr lvl="1">
              <a:buNone/>
            </a:pPr>
            <a:r>
              <a:rPr lang="en-US" dirty="0" smtClean="0"/>
              <a:t>		     </a:t>
            </a:r>
            <a:r>
              <a:rPr lang="en-US" dirty="0" err="1" smtClean="0"/>
              <a:t>Person_ID</a:t>
            </a:r>
            <a:r>
              <a:rPr lang="en-US" dirty="0" smtClean="0"/>
              <a:t> </a:t>
            </a:r>
          </a:p>
          <a:p>
            <a:pPr lvl="1">
              <a:buNone/>
            </a:pPr>
            <a:r>
              <a:rPr lang="en-US" dirty="0" smtClean="0"/>
              <a:t>                 Name </a:t>
            </a:r>
          </a:p>
          <a:p>
            <a:pPr lvl="1">
              <a:buNone/>
            </a:pPr>
            <a:r>
              <a:rPr lang="en-US" dirty="0" smtClean="0"/>
              <a:t>                   Age </a:t>
            </a:r>
          </a:p>
          <a:p>
            <a:pPr lvl="1">
              <a:buNone/>
            </a:pPr>
            <a:r>
              <a:rPr lang="en-US" dirty="0" smtClean="0"/>
              <a:t>                Gender </a:t>
            </a:r>
          </a:p>
          <a:p>
            <a:pPr lvl="1">
              <a:buNone/>
            </a:pPr>
            <a:r>
              <a:rPr lang="en-US" dirty="0" smtClean="0"/>
              <a:t>                Address</a:t>
            </a:r>
          </a:p>
          <a:p>
            <a:r>
              <a:rPr lang="en-US" dirty="0" smtClean="0"/>
              <a:t>Every student, faculty member, and staff member is a person.</a:t>
            </a:r>
          </a:p>
          <a:p>
            <a:pPr>
              <a:buNone/>
            </a:pPr>
            <a:r>
              <a:rPr lang="en-US" dirty="0" smtClean="0"/>
              <a:t>Therefore,</a:t>
            </a:r>
          </a:p>
          <a:p>
            <a:r>
              <a:rPr lang="en-US" b="1" dirty="0" smtClean="0"/>
              <a:t>Person</a:t>
            </a:r>
            <a:r>
              <a:rPr lang="en-US" dirty="0" smtClean="0"/>
              <a:t> becomes the </a:t>
            </a:r>
            <a:r>
              <a:rPr lang="en-US" dirty="0" err="1" smtClean="0"/>
              <a:t>superclass</a:t>
            </a:r>
            <a:r>
              <a:rPr lang="en-US" dirty="0" smtClean="0"/>
              <a:t>.</a:t>
            </a:r>
          </a:p>
          <a:p>
            <a:endParaRPr lang="en-US" dirty="0"/>
          </a:p>
        </p:txBody>
      </p:sp>
    </p:spTree>
  </p:cSld>
  <p:clrMapOvr>
    <a:masterClrMapping/>
  </p:clrMapOvr>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normAutofit fontScale="90000"/>
          </a:bodyPr>
          <a:lstStyle/>
          <a:p>
            <a:r>
              <a:rPr lang="en-US" b="1" dirty="0" smtClean="0"/>
              <a:t>2. Subclass</a:t>
            </a:r>
            <a:endParaRPr lang="en-US" dirty="0"/>
          </a:p>
        </p:txBody>
      </p:sp>
      <p:sp>
        <p:nvSpPr>
          <p:cNvPr id="3" name="Content Placeholder 2"/>
          <p:cNvSpPr>
            <a:spLocks noGrp="1"/>
          </p:cNvSpPr>
          <p:nvPr>
            <p:ph sz="half" idx="1"/>
          </p:nvPr>
        </p:nvSpPr>
        <p:spPr>
          <a:xfrm>
            <a:off x="457200" y="1066800"/>
            <a:ext cx="4038600" cy="5334000"/>
          </a:xfrm>
        </p:spPr>
        <p:txBody>
          <a:bodyPr>
            <a:normAutofit fontScale="62500" lnSpcReduction="20000"/>
          </a:bodyPr>
          <a:lstStyle/>
          <a:p>
            <a:pPr>
              <a:buNone/>
            </a:pPr>
            <a:r>
              <a:rPr lang="en-US" b="1" dirty="0" smtClean="0"/>
              <a:t>	A subclass is a specialized entity that inherits all properties of its </a:t>
            </a:r>
            <a:r>
              <a:rPr lang="en-US" b="1" dirty="0" err="1" smtClean="0"/>
              <a:t>superclass</a:t>
            </a:r>
            <a:r>
              <a:rPr lang="en-US" b="1" dirty="0" smtClean="0"/>
              <a:t> and also has its own unique attributes.</a:t>
            </a:r>
          </a:p>
          <a:p>
            <a:pPr>
              <a:buNone/>
            </a:pPr>
            <a:r>
              <a:rPr lang="en-US" dirty="0" smtClean="0"/>
              <a:t>Example</a:t>
            </a:r>
          </a:p>
          <a:p>
            <a:pPr>
              <a:buNone/>
            </a:pPr>
            <a:r>
              <a:rPr lang="en-US" dirty="0" smtClean="0"/>
              <a:t>			</a:t>
            </a:r>
            <a:r>
              <a:rPr lang="en-US" b="1" dirty="0" smtClean="0"/>
              <a:t>Person </a:t>
            </a:r>
          </a:p>
          <a:p>
            <a:pPr>
              <a:buNone/>
            </a:pPr>
            <a:r>
              <a:rPr lang="en-US" dirty="0" smtClean="0"/>
              <a:t>              		       </a:t>
            </a:r>
          </a:p>
          <a:p>
            <a:pPr>
              <a:buNone/>
            </a:pPr>
            <a:r>
              <a:rPr lang="en-US" dirty="0" smtClean="0"/>
              <a:t>		</a:t>
            </a:r>
          </a:p>
          <a:p>
            <a:pPr>
              <a:buNone/>
            </a:pPr>
            <a:r>
              <a:rPr lang="en-US" b="1" dirty="0" smtClean="0"/>
              <a:t>		 Staff 	Student	  Faculty	</a:t>
            </a:r>
          </a:p>
          <a:p>
            <a:pPr>
              <a:buNone/>
            </a:pPr>
            <a:r>
              <a:rPr lang="en-US" b="1" dirty="0" smtClean="0"/>
              <a:t>Student</a:t>
            </a:r>
          </a:p>
          <a:p>
            <a:pPr>
              <a:buNone/>
            </a:pPr>
            <a:r>
              <a:rPr lang="en-US" dirty="0" smtClean="0"/>
              <a:t>	</a:t>
            </a:r>
            <a:r>
              <a:rPr lang="en-US" dirty="0" err="1" smtClean="0"/>
              <a:t>Roll_No</a:t>
            </a:r>
            <a:r>
              <a:rPr lang="en-US" dirty="0" smtClean="0"/>
              <a:t> </a:t>
            </a:r>
          </a:p>
          <a:p>
            <a:pPr>
              <a:buNone/>
            </a:pPr>
            <a:r>
              <a:rPr lang="en-US" dirty="0" smtClean="0"/>
              <a:t>	Semester </a:t>
            </a:r>
          </a:p>
          <a:p>
            <a:pPr>
              <a:buNone/>
            </a:pPr>
            <a:r>
              <a:rPr lang="en-US" dirty="0" smtClean="0"/>
              <a:t>	CGPA</a:t>
            </a:r>
          </a:p>
          <a:p>
            <a:pPr>
              <a:buNone/>
            </a:pPr>
            <a:r>
              <a:rPr lang="en-US" b="1" dirty="0" smtClean="0"/>
              <a:t>Faculty</a:t>
            </a:r>
          </a:p>
          <a:p>
            <a:pPr>
              <a:buNone/>
            </a:pPr>
            <a:r>
              <a:rPr lang="en-US" dirty="0" smtClean="0"/>
              <a:t>	</a:t>
            </a:r>
            <a:r>
              <a:rPr lang="en-US" dirty="0" err="1" smtClean="0"/>
              <a:t>Employee_ID</a:t>
            </a:r>
            <a:r>
              <a:rPr lang="en-US" dirty="0" smtClean="0"/>
              <a:t> </a:t>
            </a:r>
          </a:p>
          <a:p>
            <a:pPr>
              <a:buNone/>
            </a:pPr>
            <a:r>
              <a:rPr lang="en-US" dirty="0" smtClean="0"/>
              <a:t>        Salary </a:t>
            </a:r>
          </a:p>
          <a:p>
            <a:pPr>
              <a:buNone/>
            </a:pPr>
            <a:r>
              <a:rPr lang="en-US" dirty="0" smtClean="0"/>
              <a:t>        Designation</a:t>
            </a:r>
          </a:p>
          <a:p>
            <a:pPr>
              <a:buNone/>
            </a:pPr>
            <a:r>
              <a:rPr lang="en-US" b="1" dirty="0" smtClean="0"/>
              <a:t>Staff</a:t>
            </a:r>
          </a:p>
          <a:p>
            <a:pPr>
              <a:buNone/>
            </a:pPr>
            <a:r>
              <a:rPr lang="en-US" dirty="0" smtClean="0"/>
              <a:t>        Department </a:t>
            </a:r>
          </a:p>
          <a:p>
            <a:pPr>
              <a:buNone/>
            </a:pPr>
            <a:r>
              <a:rPr lang="en-US" dirty="0" smtClean="0"/>
              <a:t>        Shift</a:t>
            </a:r>
          </a:p>
          <a:p>
            <a:endParaRPr lang="en-US" dirty="0"/>
          </a:p>
        </p:txBody>
      </p:sp>
      <p:sp>
        <p:nvSpPr>
          <p:cNvPr id="19" name="Content Placeholder 18"/>
          <p:cNvSpPr>
            <a:spLocks noGrp="1"/>
          </p:cNvSpPr>
          <p:nvPr>
            <p:ph sz="half" idx="2"/>
          </p:nvPr>
        </p:nvSpPr>
        <p:spPr/>
        <p:txBody>
          <a:bodyPr>
            <a:normAutofit fontScale="62500" lnSpcReduction="20000"/>
          </a:bodyPr>
          <a:lstStyle/>
          <a:p>
            <a:pPr>
              <a:buNone/>
            </a:pPr>
            <a:r>
              <a:rPr lang="en-US" dirty="0" smtClean="0"/>
              <a:t>Each subclass automatically gets</a:t>
            </a:r>
          </a:p>
          <a:p>
            <a:pPr lvl="1"/>
            <a:r>
              <a:rPr lang="en-US" dirty="0" err="1" smtClean="0"/>
              <a:t>Person_ID</a:t>
            </a:r>
            <a:r>
              <a:rPr lang="en-US" dirty="0" smtClean="0"/>
              <a:t> </a:t>
            </a:r>
          </a:p>
          <a:p>
            <a:pPr lvl="1"/>
            <a:r>
              <a:rPr lang="en-US" dirty="0" smtClean="0"/>
              <a:t>Name </a:t>
            </a:r>
          </a:p>
          <a:p>
            <a:pPr lvl="1"/>
            <a:r>
              <a:rPr lang="en-US" dirty="0" smtClean="0"/>
              <a:t>Age </a:t>
            </a:r>
          </a:p>
          <a:p>
            <a:pPr lvl="1"/>
            <a:r>
              <a:rPr lang="en-US" dirty="0" smtClean="0"/>
              <a:t>Gender </a:t>
            </a:r>
          </a:p>
          <a:p>
            <a:pPr lvl="1"/>
            <a:r>
              <a:rPr lang="en-US" dirty="0" smtClean="0"/>
              <a:t>Address</a:t>
            </a:r>
          </a:p>
          <a:p>
            <a:endParaRPr lang="en-US" dirty="0"/>
          </a:p>
        </p:txBody>
      </p:sp>
      <p:cxnSp>
        <p:nvCxnSpPr>
          <p:cNvPr id="7" name="Straight Connector 6"/>
          <p:cNvCxnSpPr/>
          <p:nvPr/>
        </p:nvCxnSpPr>
        <p:spPr>
          <a:xfrm>
            <a:off x="1676400" y="2438400"/>
            <a:ext cx="19812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rot="5400000">
            <a:off x="2515394" y="2513806"/>
            <a:ext cx="3048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rot="5400000">
            <a:off x="2591594" y="2361406"/>
            <a:ext cx="1524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rot="5400000">
            <a:off x="1524794" y="2590006"/>
            <a:ext cx="3048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rot="5400000">
            <a:off x="3505994" y="2590006"/>
            <a:ext cx="304800" cy="1588"/>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57200" y="274638"/>
            <a:ext cx="8229600" cy="868362"/>
          </a:xfrm>
        </p:spPr>
        <p:txBody>
          <a:bodyPr>
            <a:normAutofit/>
          </a:bodyPr>
          <a:lstStyle/>
          <a:p>
            <a:r>
              <a:rPr lang="en-US" b="1" dirty="0" smtClean="0"/>
              <a:t>3. Inheritance</a:t>
            </a:r>
            <a:endParaRPr lang="en-US" dirty="0"/>
          </a:p>
        </p:txBody>
      </p:sp>
      <p:sp>
        <p:nvSpPr>
          <p:cNvPr id="6" name="Content Placeholder 5"/>
          <p:cNvSpPr>
            <a:spLocks noGrp="1"/>
          </p:cNvSpPr>
          <p:nvPr>
            <p:ph idx="1"/>
          </p:nvPr>
        </p:nvSpPr>
        <p:spPr>
          <a:xfrm>
            <a:off x="457200" y="1143000"/>
            <a:ext cx="8229600" cy="4983163"/>
          </a:xfrm>
        </p:spPr>
        <p:txBody>
          <a:bodyPr>
            <a:normAutofit fontScale="92500" lnSpcReduction="10000"/>
          </a:bodyPr>
          <a:lstStyle/>
          <a:p>
            <a:pPr>
              <a:buNone/>
            </a:pPr>
            <a:r>
              <a:rPr lang="en-US" dirty="0" smtClean="0"/>
              <a:t>Inheritance means</a:t>
            </a:r>
          </a:p>
          <a:p>
            <a:pPr>
              <a:buNone/>
            </a:pPr>
            <a:r>
              <a:rPr lang="en-US" dirty="0" smtClean="0"/>
              <a:t>	</a:t>
            </a:r>
            <a:r>
              <a:rPr lang="en-US" dirty="0" smtClean="0">
                <a:solidFill>
                  <a:srgbClr val="00B050"/>
                </a:solidFill>
              </a:rPr>
              <a:t>Every subclass automatically inherits all attributes and relationships from its </a:t>
            </a:r>
            <a:r>
              <a:rPr lang="en-US" dirty="0" err="1" smtClean="0">
                <a:solidFill>
                  <a:srgbClr val="00B050"/>
                </a:solidFill>
              </a:rPr>
              <a:t>superclass</a:t>
            </a:r>
            <a:r>
              <a:rPr lang="en-US" dirty="0" smtClean="0">
                <a:solidFill>
                  <a:srgbClr val="00B050"/>
                </a:solidFill>
              </a:rPr>
              <a:t>.</a:t>
            </a:r>
          </a:p>
          <a:p>
            <a:pPr>
              <a:buNone/>
            </a:pPr>
            <a:r>
              <a:rPr lang="en-US" dirty="0" smtClean="0"/>
              <a:t>Suppose</a:t>
            </a:r>
          </a:p>
          <a:p>
            <a:pPr>
              <a:buNone/>
            </a:pPr>
            <a:r>
              <a:rPr lang="en-US" dirty="0" smtClean="0"/>
              <a:t>	Person             </a:t>
            </a:r>
            <a:r>
              <a:rPr lang="en-US" dirty="0" err="1" smtClean="0"/>
              <a:t>Person_ID</a:t>
            </a:r>
            <a:r>
              <a:rPr lang="en-US" dirty="0" smtClean="0"/>
              <a:t> Name Age Address</a:t>
            </a:r>
          </a:p>
          <a:p>
            <a:pPr>
              <a:buNone/>
            </a:pPr>
            <a:r>
              <a:rPr lang="en-US" dirty="0" smtClean="0"/>
              <a:t>Student inherits</a:t>
            </a:r>
          </a:p>
          <a:p>
            <a:pPr>
              <a:buNone/>
            </a:pPr>
            <a:r>
              <a:rPr lang="en-US" dirty="0" smtClean="0"/>
              <a:t>     </a:t>
            </a:r>
            <a:r>
              <a:rPr lang="en-US" dirty="0" err="1" smtClean="0">
                <a:solidFill>
                  <a:schemeClr val="tx2">
                    <a:lumMod val="60000"/>
                    <a:lumOff val="40000"/>
                  </a:schemeClr>
                </a:solidFill>
              </a:rPr>
              <a:t>Person_ID</a:t>
            </a:r>
            <a:r>
              <a:rPr lang="en-US" dirty="0" smtClean="0">
                <a:solidFill>
                  <a:schemeClr val="tx2">
                    <a:lumMod val="60000"/>
                    <a:lumOff val="40000"/>
                  </a:schemeClr>
                </a:solidFill>
              </a:rPr>
              <a:t> Name Age Address </a:t>
            </a:r>
            <a:r>
              <a:rPr lang="en-US" dirty="0" err="1" smtClean="0"/>
              <a:t>Roll_No</a:t>
            </a:r>
            <a:r>
              <a:rPr lang="en-US" dirty="0" smtClean="0"/>
              <a:t> Semester</a:t>
            </a:r>
          </a:p>
          <a:p>
            <a:pPr>
              <a:buNone/>
            </a:pPr>
            <a:r>
              <a:rPr lang="en-US" dirty="0" smtClean="0"/>
              <a:t>Faculty inherits</a:t>
            </a:r>
          </a:p>
          <a:p>
            <a:pPr>
              <a:buNone/>
            </a:pPr>
            <a:r>
              <a:rPr lang="en-US" dirty="0" smtClean="0"/>
              <a:t>	</a:t>
            </a:r>
            <a:r>
              <a:rPr lang="en-US" dirty="0" err="1" smtClean="0">
                <a:solidFill>
                  <a:schemeClr val="tx2">
                    <a:lumMod val="60000"/>
                    <a:lumOff val="40000"/>
                  </a:schemeClr>
                </a:solidFill>
              </a:rPr>
              <a:t>Person_ID</a:t>
            </a:r>
            <a:r>
              <a:rPr lang="en-US" dirty="0" smtClean="0">
                <a:solidFill>
                  <a:schemeClr val="tx2">
                    <a:lumMod val="60000"/>
                    <a:lumOff val="40000"/>
                  </a:schemeClr>
                </a:solidFill>
              </a:rPr>
              <a:t> Name Age Address </a:t>
            </a:r>
            <a:r>
              <a:rPr lang="en-US" dirty="0" smtClean="0"/>
              <a:t>Salary Department</a:t>
            </a:r>
          </a:p>
          <a:p>
            <a:endParaRPr lang="en-US" dirty="0" smtClean="0"/>
          </a:p>
          <a:p>
            <a:r>
              <a:rPr lang="en-US" dirty="0" smtClean="0"/>
              <a:t>No need to redefine the common attributes.</a:t>
            </a:r>
          </a:p>
          <a:p>
            <a:r>
              <a:rPr lang="en-US" dirty="0" smtClean="0"/>
              <a:t>This reduces redundancy.</a:t>
            </a:r>
          </a:p>
          <a:p>
            <a:endParaRPr lang="en-US" dirty="0"/>
          </a:p>
        </p:txBody>
      </p:sp>
      <p:cxnSp>
        <p:nvCxnSpPr>
          <p:cNvPr id="8" name="Straight Arrow Connector 7"/>
          <p:cNvCxnSpPr/>
          <p:nvPr/>
        </p:nvCxnSpPr>
        <p:spPr>
          <a:xfrm>
            <a:off x="1905000" y="2895600"/>
            <a:ext cx="8382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a:bodyPr>
          <a:lstStyle/>
          <a:p>
            <a:r>
              <a:rPr lang="en-US" b="1" dirty="0" smtClean="0"/>
              <a:t>4. Specialization</a:t>
            </a:r>
            <a:endParaRPr lang="en-US" dirty="0"/>
          </a:p>
        </p:txBody>
      </p:sp>
      <p:sp>
        <p:nvSpPr>
          <p:cNvPr id="6" name="Content Placeholder 5"/>
          <p:cNvSpPr>
            <a:spLocks noGrp="1"/>
          </p:cNvSpPr>
          <p:nvPr>
            <p:ph sz="half" idx="1"/>
          </p:nvPr>
        </p:nvSpPr>
        <p:spPr/>
        <p:txBody>
          <a:bodyPr>
            <a:normAutofit fontScale="47500" lnSpcReduction="20000"/>
          </a:bodyPr>
          <a:lstStyle/>
          <a:p>
            <a:pPr>
              <a:buNone/>
            </a:pPr>
            <a:r>
              <a:rPr lang="en-US" dirty="0" smtClean="0"/>
              <a:t>	</a:t>
            </a:r>
            <a:r>
              <a:rPr lang="en-US" dirty="0" smtClean="0">
                <a:solidFill>
                  <a:srgbClr val="00B050"/>
                </a:solidFill>
              </a:rPr>
              <a:t>Specialization is the process of dividing one </a:t>
            </a:r>
            <a:r>
              <a:rPr lang="en-US" dirty="0" err="1" smtClean="0">
                <a:solidFill>
                  <a:srgbClr val="00B050"/>
                </a:solidFill>
              </a:rPr>
              <a:t>superclass</a:t>
            </a:r>
            <a:r>
              <a:rPr lang="en-US" dirty="0" smtClean="0">
                <a:solidFill>
                  <a:srgbClr val="00B050"/>
                </a:solidFill>
              </a:rPr>
              <a:t> into multiple subclasses based on distinguishing characteristics.</a:t>
            </a:r>
          </a:p>
          <a:p>
            <a:pPr>
              <a:buNone/>
            </a:pPr>
            <a:r>
              <a:rPr lang="en-US" dirty="0" smtClean="0"/>
              <a:t>	It is a </a:t>
            </a:r>
            <a:r>
              <a:rPr lang="en-US" b="1" dirty="0" smtClean="0"/>
              <a:t>Top-Down Approach</a:t>
            </a:r>
            <a:r>
              <a:rPr lang="en-US" dirty="0" smtClean="0"/>
              <a:t>.</a:t>
            </a:r>
          </a:p>
          <a:p>
            <a:pPr>
              <a:buNone/>
            </a:pPr>
            <a:endParaRPr lang="en-US" dirty="0" smtClean="0"/>
          </a:p>
          <a:p>
            <a:pPr>
              <a:buNone/>
            </a:pPr>
            <a:r>
              <a:rPr lang="en-US" b="1" dirty="0" smtClean="0"/>
              <a:t>Example</a:t>
            </a:r>
          </a:p>
          <a:p>
            <a:pPr>
              <a:buNone/>
            </a:pPr>
            <a:r>
              <a:rPr lang="en-US" dirty="0" smtClean="0"/>
              <a:t>Vehicle can be divided into</a:t>
            </a:r>
          </a:p>
          <a:p>
            <a:r>
              <a:rPr lang="en-US" dirty="0" smtClean="0"/>
              <a:t>Car</a:t>
            </a:r>
          </a:p>
          <a:p>
            <a:r>
              <a:rPr lang="en-US" dirty="0" smtClean="0"/>
              <a:t>Bike </a:t>
            </a:r>
          </a:p>
          <a:p>
            <a:r>
              <a:rPr lang="en-US" dirty="0" smtClean="0"/>
              <a:t>Truck</a:t>
            </a:r>
          </a:p>
          <a:p>
            <a:pPr>
              <a:buNone/>
            </a:pPr>
            <a:endParaRPr lang="en-US" dirty="0" smtClean="0"/>
          </a:p>
          <a:p>
            <a:pPr>
              <a:buNone/>
            </a:pPr>
            <a:r>
              <a:rPr lang="en-US" dirty="0" smtClean="0"/>
              <a:t>Vehicle contains</a:t>
            </a:r>
          </a:p>
          <a:p>
            <a:r>
              <a:rPr lang="en-US" dirty="0" err="1" smtClean="0"/>
              <a:t>Vehicle_ID</a:t>
            </a:r>
            <a:r>
              <a:rPr lang="en-US" dirty="0" smtClean="0"/>
              <a:t> </a:t>
            </a:r>
          </a:p>
          <a:p>
            <a:r>
              <a:rPr lang="en-US" dirty="0" smtClean="0"/>
              <a:t>Color </a:t>
            </a:r>
          </a:p>
          <a:p>
            <a:r>
              <a:rPr lang="en-US" dirty="0" smtClean="0"/>
              <a:t>Brand</a:t>
            </a:r>
          </a:p>
          <a:p>
            <a:pPr>
              <a:buNone/>
            </a:pPr>
            <a:r>
              <a:rPr lang="en-US" dirty="0" smtClean="0"/>
              <a:t>Car contains</a:t>
            </a:r>
          </a:p>
          <a:p>
            <a:r>
              <a:rPr lang="en-US" dirty="0" err="1" smtClean="0"/>
              <a:t>No_of_Doors</a:t>
            </a:r>
            <a:r>
              <a:rPr lang="en-US" dirty="0" smtClean="0"/>
              <a:t> </a:t>
            </a:r>
          </a:p>
          <a:p>
            <a:r>
              <a:rPr lang="en-US" dirty="0" err="1" smtClean="0"/>
              <a:t>Fuel_Type</a:t>
            </a:r>
            <a:endParaRPr lang="en-US" dirty="0" smtClean="0"/>
          </a:p>
          <a:p>
            <a:pPr>
              <a:buNone/>
            </a:pPr>
            <a:r>
              <a:rPr lang="en-US" dirty="0" smtClean="0"/>
              <a:t>Bike contains</a:t>
            </a:r>
          </a:p>
          <a:p>
            <a:r>
              <a:rPr lang="en-US" dirty="0" err="1" smtClean="0"/>
              <a:t>Engine_CC</a:t>
            </a:r>
            <a:endParaRPr lang="en-US" dirty="0" smtClean="0"/>
          </a:p>
          <a:p>
            <a:pPr>
              <a:buNone/>
            </a:pPr>
            <a:r>
              <a:rPr lang="en-US" dirty="0" smtClean="0"/>
              <a:t>Truck contains</a:t>
            </a:r>
          </a:p>
          <a:p>
            <a:r>
              <a:rPr lang="en-US" dirty="0" smtClean="0"/>
              <a:t>Load_Capacity</a:t>
            </a:r>
          </a:p>
          <a:p>
            <a:endParaRPr lang="en-US" dirty="0"/>
          </a:p>
        </p:txBody>
      </p:sp>
      <p:pic>
        <p:nvPicPr>
          <p:cNvPr id="7" name="Content Placeholder 6" descr="Specialisation.png"/>
          <p:cNvPicPr>
            <a:picLocks noGrp="1" noChangeAspect="1"/>
          </p:cNvPicPr>
          <p:nvPr>
            <p:ph sz="half" idx="2"/>
          </p:nvPr>
        </p:nvPicPr>
        <p:blipFill>
          <a:blip r:embed="rId2"/>
          <a:stretch>
            <a:fillRect/>
          </a:stretch>
        </p:blipFill>
        <p:spPr>
          <a:xfrm>
            <a:off x="4267200" y="2667000"/>
            <a:ext cx="4115039" cy="3048000"/>
          </a:xfrm>
        </p:spPr>
      </p:pic>
    </p:spTree>
  </p:cSld>
  <p:clrMapOvr>
    <a:masterClrMapping/>
  </p:clrMapOvr>
  <p:timing>
    <p:tnLst>
      <p:par>
        <p:cT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smtClean="0"/>
              <a:t>Example</a:t>
            </a:r>
            <a:endParaRPr lang="en-US" dirty="0"/>
          </a:p>
        </p:txBody>
      </p:sp>
      <p:sp>
        <p:nvSpPr>
          <p:cNvPr id="6" name="Content Placeholder 5"/>
          <p:cNvSpPr>
            <a:spLocks noGrp="1"/>
          </p:cNvSpPr>
          <p:nvPr>
            <p:ph idx="1"/>
          </p:nvPr>
        </p:nvSpPr>
        <p:spPr/>
        <p:txBody>
          <a:bodyPr>
            <a:normAutofit/>
          </a:bodyPr>
          <a:lstStyle/>
          <a:p>
            <a:pPr lvl="4">
              <a:buNone/>
            </a:pPr>
            <a:r>
              <a:rPr lang="en-US" dirty="0" smtClean="0"/>
              <a:t>	            Vehicle</a:t>
            </a:r>
          </a:p>
          <a:p>
            <a:pPr lvl="4">
              <a:buNone/>
            </a:pPr>
            <a:r>
              <a:rPr lang="en-US" dirty="0" smtClean="0"/>
              <a:t>             ----------------</a:t>
            </a:r>
          </a:p>
          <a:p>
            <a:pPr lvl="4">
              <a:buNone/>
            </a:pPr>
            <a:r>
              <a:rPr lang="en-US" dirty="0" smtClean="0"/>
              <a:t>             </a:t>
            </a:r>
            <a:r>
              <a:rPr lang="en-US" dirty="0" err="1" smtClean="0"/>
              <a:t>Vehicle_ID</a:t>
            </a:r>
            <a:endParaRPr lang="en-US" dirty="0" smtClean="0"/>
          </a:p>
          <a:p>
            <a:pPr lvl="4">
              <a:buNone/>
            </a:pPr>
            <a:r>
              <a:rPr lang="en-US" dirty="0" smtClean="0"/>
              <a:t>             Color</a:t>
            </a:r>
          </a:p>
          <a:p>
            <a:pPr lvl="4">
              <a:buNone/>
            </a:pPr>
            <a:r>
              <a:rPr lang="en-US" dirty="0" smtClean="0"/>
              <a:t>             Manufacturer</a:t>
            </a:r>
          </a:p>
          <a:p>
            <a:pPr lvl="4">
              <a:buNone/>
            </a:pPr>
            <a:r>
              <a:rPr lang="en-US" dirty="0" smtClean="0"/>
              <a:t>                    |</a:t>
            </a:r>
          </a:p>
          <a:p>
            <a:pPr lvl="4">
              <a:buNone/>
            </a:pPr>
            <a:r>
              <a:rPr lang="en-US" dirty="0" smtClean="0"/>
              <a:t>                  ISA</a:t>
            </a:r>
          </a:p>
          <a:p>
            <a:pPr lvl="1">
              <a:buNone/>
            </a:pPr>
            <a:r>
              <a:rPr lang="en-US" sz="2000" dirty="0" smtClean="0"/>
              <a:t>                       _________|__________</a:t>
            </a:r>
          </a:p>
          <a:p>
            <a:pPr lvl="1">
              <a:buNone/>
            </a:pPr>
            <a:r>
              <a:rPr lang="en-US" sz="2000" dirty="0" smtClean="0"/>
              <a:t>                      |                     |                    |</a:t>
            </a:r>
          </a:p>
          <a:p>
            <a:pPr lvl="1">
              <a:buNone/>
            </a:pPr>
            <a:r>
              <a:rPr lang="en-US" sz="2000" dirty="0" smtClean="0"/>
              <a:t>                   Car                 Bike               Bus</a:t>
            </a:r>
          </a:p>
          <a:p>
            <a:pPr lvl="1">
              <a:buNone/>
            </a:pPr>
            <a:r>
              <a:rPr lang="en-US" sz="2000" dirty="0" smtClean="0"/>
              <a:t>    </a:t>
            </a:r>
            <a:r>
              <a:rPr lang="en-US" sz="2000" dirty="0" err="1" smtClean="0"/>
              <a:t>No_of_Doors</a:t>
            </a:r>
            <a:r>
              <a:rPr lang="en-US" sz="2000" dirty="0" smtClean="0"/>
              <a:t>       </a:t>
            </a:r>
            <a:r>
              <a:rPr lang="en-US" sz="2000" dirty="0" err="1" smtClean="0"/>
              <a:t>Engine_CC</a:t>
            </a:r>
            <a:r>
              <a:rPr lang="en-US" sz="2000" dirty="0" smtClean="0"/>
              <a:t>      </a:t>
            </a:r>
            <a:r>
              <a:rPr lang="en-US" sz="2000" dirty="0" err="1" smtClean="0"/>
              <a:t>Seating_Capacity</a:t>
            </a:r>
            <a:endParaRPr lang="en-US" sz="2000" dirty="0"/>
          </a:p>
        </p:txBody>
      </p:sp>
    </p:spTree>
  </p:cSld>
  <p:clrMapOvr>
    <a:masterClrMapping/>
  </p:clrMapOvr>
  <p:timing>
    <p:tnLst>
      <p:par>
        <p:cTn id="1" dur="indefinite" restart="never" nodeType="tmRoot"/>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a:bodyPr>
          <a:lstStyle/>
          <a:p>
            <a:r>
              <a:rPr lang="en-US" sz="3200" dirty="0" smtClean="0"/>
              <a:t>Types of Specialization</a:t>
            </a:r>
            <a:endParaRPr lang="en-US" sz="3200" dirty="0"/>
          </a:p>
        </p:txBody>
      </p:sp>
      <p:sp>
        <p:nvSpPr>
          <p:cNvPr id="3" name="Content Placeholder 2"/>
          <p:cNvSpPr>
            <a:spLocks noGrp="1"/>
          </p:cNvSpPr>
          <p:nvPr>
            <p:ph sz="half" idx="1"/>
          </p:nvPr>
        </p:nvSpPr>
        <p:spPr>
          <a:xfrm>
            <a:off x="457200" y="1295400"/>
            <a:ext cx="4038600" cy="4830763"/>
          </a:xfrm>
        </p:spPr>
        <p:txBody>
          <a:bodyPr>
            <a:normAutofit fontScale="92500" lnSpcReduction="10000"/>
          </a:bodyPr>
          <a:lstStyle/>
          <a:p>
            <a:pPr>
              <a:buNone/>
            </a:pPr>
            <a:r>
              <a:rPr lang="en-US" b="1" dirty="0" smtClean="0"/>
              <a:t>(A) Disjoint Specialization</a:t>
            </a:r>
          </a:p>
          <a:p>
            <a:pPr>
              <a:buNone/>
            </a:pPr>
            <a:r>
              <a:rPr lang="en-US" dirty="0" smtClean="0"/>
              <a:t>An entity belongs to only one subclass.</a:t>
            </a:r>
          </a:p>
          <a:p>
            <a:pPr>
              <a:buNone/>
            </a:pPr>
            <a:r>
              <a:rPr lang="en-US" dirty="0" smtClean="0"/>
              <a:t>Example</a:t>
            </a:r>
          </a:p>
          <a:p>
            <a:pPr>
              <a:buNone/>
            </a:pPr>
            <a:r>
              <a:rPr lang="en-US" dirty="0" smtClean="0"/>
              <a:t>	Employee </a:t>
            </a:r>
          </a:p>
          <a:p>
            <a:pPr>
              <a:buNone/>
            </a:pPr>
            <a:r>
              <a:rPr lang="en-US" dirty="0" smtClean="0"/>
              <a:t>		|</a:t>
            </a:r>
          </a:p>
          <a:p>
            <a:pPr>
              <a:buNone/>
            </a:pPr>
            <a:r>
              <a:rPr lang="en-US" dirty="0" smtClean="0"/>
              <a:t>	 -------------- </a:t>
            </a:r>
          </a:p>
          <a:p>
            <a:pPr>
              <a:buNone/>
            </a:pPr>
            <a:r>
              <a:rPr lang="en-US" dirty="0" smtClean="0"/>
              <a:t>   |                    |</a:t>
            </a:r>
          </a:p>
          <a:p>
            <a:pPr>
              <a:buNone/>
            </a:pPr>
            <a:r>
              <a:rPr lang="en-US" dirty="0" smtClean="0"/>
              <a:t>Professor   Clerk</a:t>
            </a:r>
          </a:p>
          <a:p>
            <a:pPr>
              <a:buNone/>
            </a:pPr>
            <a:endParaRPr lang="en-US" dirty="0" smtClean="0"/>
          </a:p>
          <a:p>
            <a:pPr>
              <a:buNone/>
            </a:pPr>
            <a:r>
              <a:rPr lang="en-US" dirty="0" smtClean="0"/>
              <a:t>	One employee cannot be both Professor and Clerk.</a:t>
            </a:r>
          </a:p>
          <a:p>
            <a:endParaRPr lang="en-US" dirty="0"/>
          </a:p>
        </p:txBody>
      </p:sp>
      <p:sp>
        <p:nvSpPr>
          <p:cNvPr id="4" name="Content Placeholder 3"/>
          <p:cNvSpPr>
            <a:spLocks noGrp="1"/>
          </p:cNvSpPr>
          <p:nvPr>
            <p:ph sz="half" idx="2"/>
          </p:nvPr>
        </p:nvSpPr>
        <p:spPr>
          <a:xfrm>
            <a:off x="4495800" y="1219200"/>
            <a:ext cx="4419600" cy="4906963"/>
          </a:xfrm>
        </p:spPr>
        <p:txBody>
          <a:bodyPr>
            <a:normAutofit fontScale="92500" lnSpcReduction="10000"/>
          </a:bodyPr>
          <a:lstStyle/>
          <a:p>
            <a:pPr>
              <a:buNone/>
            </a:pPr>
            <a:r>
              <a:rPr lang="en-US" b="1" dirty="0" smtClean="0"/>
              <a:t>(B) Overlapping Specialization</a:t>
            </a:r>
          </a:p>
          <a:p>
            <a:pPr>
              <a:buNone/>
            </a:pPr>
            <a:r>
              <a:rPr lang="en-US" dirty="0" smtClean="0"/>
              <a:t>	An entity may belong to multiple subclasses.</a:t>
            </a:r>
          </a:p>
          <a:p>
            <a:pPr>
              <a:buNone/>
            </a:pPr>
            <a:r>
              <a:rPr lang="en-US" dirty="0" smtClean="0"/>
              <a:t>Example</a:t>
            </a:r>
          </a:p>
          <a:p>
            <a:pPr>
              <a:buNone/>
            </a:pPr>
            <a:r>
              <a:rPr lang="en-US" dirty="0" smtClean="0"/>
              <a:t>		   Teacher </a:t>
            </a:r>
          </a:p>
          <a:p>
            <a:pPr>
              <a:buNone/>
            </a:pPr>
            <a:r>
              <a:rPr lang="en-US" dirty="0" smtClean="0"/>
              <a:t>		         |</a:t>
            </a:r>
          </a:p>
          <a:p>
            <a:pPr>
              <a:buNone/>
            </a:pPr>
            <a:r>
              <a:rPr lang="en-US" dirty="0" smtClean="0"/>
              <a:t> 	    ----------------------</a:t>
            </a:r>
          </a:p>
          <a:p>
            <a:pPr>
              <a:buNone/>
            </a:pPr>
            <a:r>
              <a:rPr lang="en-US" dirty="0" smtClean="0"/>
              <a:t> 	   |		             | Researcher  Administrator</a:t>
            </a:r>
          </a:p>
          <a:p>
            <a:endParaRPr lang="en-US" dirty="0" smtClean="0"/>
          </a:p>
          <a:p>
            <a:pPr>
              <a:buNone/>
            </a:pPr>
            <a:r>
              <a:rPr lang="en-US" dirty="0" smtClean="0"/>
              <a:t>A teacher can be both.</a:t>
            </a:r>
          </a:p>
          <a:p>
            <a:endParaRPr lang="en-US" dirty="0"/>
          </a:p>
        </p:txBody>
      </p:sp>
    </p:spTree>
  </p:cSld>
  <p:clrMapOvr>
    <a:masterClrMapping/>
  </p:clrMapOvr>
  <p:timing>
    <p:tnLst>
      <p:par>
        <p:cTn id="1" dur="indefinite" restart="never" nodeType="tmRoot"/>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a:bodyPr>
          <a:lstStyle/>
          <a:p>
            <a:r>
              <a:rPr lang="en-US" b="1" dirty="0" smtClean="0"/>
              <a:t>5. Generalization</a:t>
            </a:r>
            <a:endParaRPr lang="en-US" dirty="0"/>
          </a:p>
        </p:txBody>
      </p:sp>
      <p:sp>
        <p:nvSpPr>
          <p:cNvPr id="6" name="Content Placeholder 5"/>
          <p:cNvSpPr>
            <a:spLocks noGrp="1"/>
          </p:cNvSpPr>
          <p:nvPr>
            <p:ph idx="1"/>
          </p:nvPr>
        </p:nvSpPr>
        <p:spPr/>
        <p:txBody>
          <a:bodyPr>
            <a:normAutofit fontScale="92500" lnSpcReduction="10000"/>
          </a:bodyPr>
          <a:lstStyle/>
          <a:p>
            <a:r>
              <a:rPr lang="en-US" dirty="0" smtClean="0"/>
              <a:t>Generalization is exactly opposite of specialization.</a:t>
            </a:r>
          </a:p>
          <a:p>
            <a:r>
              <a:rPr lang="en-US" dirty="0" smtClean="0"/>
              <a:t>It is a </a:t>
            </a:r>
            <a:r>
              <a:rPr lang="en-US" b="1" dirty="0" smtClean="0"/>
              <a:t>Bottom-Up Approach</a:t>
            </a:r>
            <a:r>
              <a:rPr lang="en-US" dirty="0" smtClean="0"/>
              <a:t>.</a:t>
            </a:r>
          </a:p>
          <a:p>
            <a:r>
              <a:rPr lang="en-US" dirty="0" smtClean="0"/>
              <a:t>Instead of breaking one entity into many, we combine many similar entities into one </a:t>
            </a:r>
            <a:r>
              <a:rPr lang="en-US" dirty="0" err="1" smtClean="0"/>
              <a:t>superclass</a:t>
            </a:r>
            <a:r>
              <a:rPr lang="en-US" dirty="0" smtClean="0"/>
              <a:t>.</a:t>
            </a:r>
          </a:p>
          <a:p>
            <a:pPr>
              <a:buNone/>
            </a:pPr>
            <a:endParaRPr lang="en-US" dirty="0" smtClean="0"/>
          </a:p>
          <a:p>
            <a:pPr>
              <a:buNone/>
            </a:pPr>
            <a:r>
              <a:rPr lang="en-US" dirty="0" smtClean="0"/>
              <a:t>Example</a:t>
            </a:r>
          </a:p>
          <a:p>
            <a:pPr lvl="1">
              <a:buNone/>
            </a:pPr>
            <a:r>
              <a:rPr lang="en-US" dirty="0" smtClean="0"/>
              <a:t>Car</a:t>
            </a:r>
          </a:p>
          <a:p>
            <a:pPr lvl="1">
              <a:buNone/>
            </a:pPr>
            <a:r>
              <a:rPr lang="en-US" dirty="0" smtClean="0"/>
              <a:t>Bike</a:t>
            </a:r>
          </a:p>
          <a:p>
            <a:pPr lvl="1">
              <a:buNone/>
            </a:pPr>
            <a:r>
              <a:rPr lang="en-US" dirty="0" smtClean="0"/>
              <a:t>Truck</a:t>
            </a:r>
          </a:p>
          <a:p>
            <a:pPr lvl="1">
              <a:buNone/>
            </a:pPr>
            <a:r>
              <a:rPr lang="en-US" dirty="0" smtClean="0"/>
              <a:t>   ↓</a:t>
            </a:r>
          </a:p>
          <a:p>
            <a:pPr lvl="1">
              <a:buNone/>
            </a:pPr>
            <a:r>
              <a:rPr lang="en-US" dirty="0" smtClean="0"/>
              <a:t>Vehicle</a:t>
            </a:r>
            <a:endParaRPr lang="en-US" dirty="0"/>
          </a:p>
        </p:txBody>
      </p:sp>
    </p:spTree>
  </p:cSld>
  <p:clrMapOvr>
    <a:masterClrMapping/>
  </p:clrMapOvr>
  <p:timing>
    <p:tnLst>
      <p:par>
        <p:cTn id="1" dur="indefinite" restart="never" nodeType="tmRoot"/>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Generalisation.png"/>
          <p:cNvPicPr>
            <a:picLocks noGrp="1" noChangeAspect="1"/>
          </p:cNvPicPr>
          <p:nvPr>
            <p:ph idx="1"/>
          </p:nvPr>
        </p:nvPicPr>
        <p:blipFill>
          <a:blip r:embed="rId2"/>
          <a:stretch>
            <a:fillRect/>
          </a:stretch>
        </p:blipFill>
        <p:spPr>
          <a:xfrm>
            <a:off x="1981200" y="2057400"/>
            <a:ext cx="5870447" cy="3200400"/>
          </a:xfrm>
        </p:spPr>
      </p:pic>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smtClean="0"/>
              <a:t>Example</a:t>
            </a:r>
            <a:endParaRPr lang="en-US" dirty="0"/>
          </a:p>
        </p:txBody>
      </p:sp>
      <p:sp>
        <p:nvSpPr>
          <p:cNvPr id="6" name="Content Placeholder 5"/>
          <p:cNvSpPr>
            <a:spLocks noGrp="1"/>
          </p:cNvSpPr>
          <p:nvPr>
            <p:ph sz="half" idx="1"/>
          </p:nvPr>
        </p:nvSpPr>
        <p:spPr/>
        <p:txBody>
          <a:bodyPr>
            <a:normAutofit fontScale="70000" lnSpcReduction="20000"/>
          </a:bodyPr>
          <a:lstStyle/>
          <a:p>
            <a:r>
              <a:rPr lang="en-US" dirty="0" smtClean="0"/>
              <a:t>Before:</a:t>
            </a:r>
          </a:p>
          <a:p>
            <a:endParaRPr lang="en-US" dirty="0" smtClean="0"/>
          </a:p>
          <a:p>
            <a:pPr>
              <a:buNone/>
            </a:pPr>
            <a:r>
              <a:rPr lang="en-US" dirty="0" smtClean="0"/>
              <a:t>Car</a:t>
            </a:r>
          </a:p>
          <a:p>
            <a:r>
              <a:rPr lang="en-US" dirty="0" err="1" smtClean="0"/>
              <a:t>Vehicle_No</a:t>
            </a:r>
            <a:endParaRPr lang="en-US" dirty="0" smtClean="0"/>
          </a:p>
          <a:p>
            <a:r>
              <a:rPr lang="en-US" dirty="0" smtClean="0"/>
              <a:t>Color</a:t>
            </a:r>
          </a:p>
          <a:p>
            <a:endParaRPr lang="en-US" dirty="0" smtClean="0"/>
          </a:p>
          <a:p>
            <a:pPr>
              <a:buNone/>
            </a:pPr>
            <a:r>
              <a:rPr lang="en-US" dirty="0" smtClean="0"/>
              <a:t>Bike</a:t>
            </a:r>
          </a:p>
          <a:p>
            <a:r>
              <a:rPr lang="en-US" dirty="0" err="1" smtClean="0"/>
              <a:t>Vehicle_No</a:t>
            </a:r>
            <a:endParaRPr lang="en-US" dirty="0" smtClean="0"/>
          </a:p>
          <a:p>
            <a:r>
              <a:rPr lang="en-US" dirty="0" smtClean="0"/>
              <a:t>Color</a:t>
            </a:r>
          </a:p>
          <a:p>
            <a:endParaRPr lang="en-US" dirty="0" smtClean="0"/>
          </a:p>
          <a:p>
            <a:pPr>
              <a:buNone/>
            </a:pPr>
            <a:r>
              <a:rPr lang="en-US" dirty="0" smtClean="0"/>
              <a:t>Truck</a:t>
            </a:r>
          </a:p>
          <a:p>
            <a:r>
              <a:rPr lang="en-US" dirty="0" err="1" smtClean="0"/>
              <a:t>Vehicle_No</a:t>
            </a:r>
            <a:endParaRPr lang="en-US" dirty="0" smtClean="0"/>
          </a:p>
          <a:p>
            <a:r>
              <a:rPr lang="en-US" dirty="0" smtClean="0"/>
              <a:t>Color</a:t>
            </a:r>
          </a:p>
          <a:p>
            <a:endParaRPr lang="en-US" dirty="0" smtClean="0"/>
          </a:p>
          <a:p>
            <a:pPr>
              <a:buNone/>
            </a:pPr>
            <a:r>
              <a:rPr lang="en-US" dirty="0" err="1" smtClean="0"/>
              <a:t>Vehicle_No</a:t>
            </a:r>
            <a:r>
              <a:rPr lang="en-US" dirty="0" smtClean="0"/>
              <a:t> and Color are repeated</a:t>
            </a:r>
            <a:endParaRPr lang="en-US" dirty="0"/>
          </a:p>
        </p:txBody>
      </p:sp>
      <p:sp>
        <p:nvSpPr>
          <p:cNvPr id="7" name="Content Placeholder 6"/>
          <p:cNvSpPr>
            <a:spLocks noGrp="1"/>
          </p:cNvSpPr>
          <p:nvPr>
            <p:ph sz="half" idx="2"/>
          </p:nvPr>
        </p:nvSpPr>
        <p:spPr/>
        <p:txBody>
          <a:bodyPr>
            <a:normAutofit fontScale="70000" lnSpcReduction="20000"/>
          </a:bodyPr>
          <a:lstStyle/>
          <a:p>
            <a:r>
              <a:rPr lang="en-US" dirty="0" smtClean="0"/>
              <a:t>After:</a:t>
            </a:r>
          </a:p>
          <a:p>
            <a:endParaRPr lang="en-US" dirty="0" smtClean="0"/>
          </a:p>
          <a:p>
            <a:pPr>
              <a:buNone/>
            </a:pPr>
            <a:r>
              <a:rPr lang="en-US" dirty="0" smtClean="0"/>
              <a:t>Vehicle</a:t>
            </a:r>
          </a:p>
          <a:p>
            <a:endParaRPr lang="en-US" dirty="0" smtClean="0"/>
          </a:p>
          <a:p>
            <a:r>
              <a:rPr lang="en-US" dirty="0" err="1" smtClean="0"/>
              <a:t>Vehicle_No</a:t>
            </a:r>
            <a:endParaRPr lang="en-US" dirty="0" smtClean="0"/>
          </a:p>
          <a:p>
            <a:r>
              <a:rPr lang="en-US" dirty="0" smtClean="0"/>
              <a:t>Color</a:t>
            </a:r>
            <a:endParaRPr lang="en-US" dirty="0"/>
          </a:p>
        </p:txBody>
      </p:sp>
    </p:spTree>
  </p:cSld>
  <p:clrMapOvr>
    <a:masterClrMapping/>
  </p:clrMapOvr>
  <p:timing>
    <p:tnLst>
      <p:par>
        <p:cTn id="1" dur="indefinite" restart="never" nodeType="tmRoot"/>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57200" y="274638"/>
            <a:ext cx="8229600" cy="792162"/>
          </a:xfrm>
        </p:spPr>
        <p:txBody>
          <a:bodyPr>
            <a:normAutofit fontScale="90000"/>
          </a:bodyPr>
          <a:lstStyle/>
          <a:p>
            <a:r>
              <a:rPr lang="en-US" b="1" dirty="0" smtClean="0"/>
              <a:t>Aggregation</a:t>
            </a:r>
            <a:endParaRPr lang="en-US" dirty="0"/>
          </a:p>
        </p:txBody>
      </p:sp>
      <p:sp>
        <p:nvSpPr>
          <p:cNvPr id="6" name="Content Placeholder 5"/>
          <p:cNvSpPr>
            <a:spLocks noGrp="1"/>
          </p:cNvSpPr>
          <p:nvPr>
            <p:ph idx="1"/>
          </p:nvPr>
        </p:nvSpPr>
        <p:spPr>
          <a:xfrm>
            <a:off x="457200" y="1143000"/>
            <a:ext cx="8229600" cy="4983163"/>
          </a:xfrm>
        </p:spPr>
        <p:txBody>
          <a:bodyPr>
            <a:normAutofit lnSpcReduction="10000"/>
          </a:bodyPr>
          <a:lstStyle/>
          <a:p>
            <a:pPr>
              <a:buNone/>
            </a:pPr>
            <a:r>
              <a:rPr lang="en-US" dirty="0" smtClean="0"/>
              <a:t>	</a:t>
            </a:r>
            <a:r>
              <a:rPr lang="en-US" dirty="0" smtClean="0">
                <a:solidFill>
                  <a:srgbClr val="00B050"/>
                </a:solidFill>
              </a:rPr>
              <a:t>Aggregation is a feature of the EER model in which </a:t>
            </a:r>
            <a:r>
              <a:rPr lang="en-US" b="1" dirty="0" smtClean="0">
                <a:solidFill>
                  <a:srgbClr val="00B050"/>
                </a:solidFill>
              </a:rPr>
              <a:t>a relationship set is treated as a higher-level entity</a:t>
            </a:r>
            <a:r>
              <a:rPr lang="en-US" dirty="0" smtClean="0">
                <a:solidFill>
                  <a:srgbClr val="00B050"/>
                </a:solidFill>
              </a:rPr>
              <a:t> so that it can participate in another relationship.</a:t>
            </a:r>
          </a:p>
          <a:p>
            <a:pPr>
              <a:buNone/>
            </a:pPr>
            <a:r>
              <a:rPr lang="en-US" b="1" dirty="0" smtClean="0"/>
              <a:t>In simple words</a:t>
            </a:r>
          </a:p>
          <a:p>
            <a:r>
              <a:rPr lang="en-US" dirty="0" smtClean="0"/>
              <a:t>Normally, Entities participate in relationships. </a:t>
            </a:r>
          </a:p>
          <a:p>
            <a:pPr>
              <a:buNone/>
            </a:pPr>
            <a:r>
              <a:rPr lang="en-US" dirty="0" smtClean="0"/>
              <a:t>	But sometimes,</a:t>
            </a:r>
          </a:p>
          <a:p>
            <a:pPr>
              <a:buNone/>
            </a:pPr>
            <a:r>
              <a:rPr lang="en-US" dirty="0" smtClean="0"/>
              <a:t>	</a:t>
            </a:r>
            <a:r>
              <a:rPr lang="en-US" dirty="0" smtClean="0">
                <a:solidFill>
                  <a:srgbClr val="00B0F0"/>
                </a:solidFill>
              </a:rPr>
              <a:t>A </a:t>
            </a:r>
            <a:r>
              <a:rPr lang="en-US" b="1" dirty="0" smtClean="0">
                <a:solidFill>
                  <a:srgbClr val="00B0F0"/>
                </a:solidFill>
              </a:rPr>
              <a:t>relationship itself</a:t>
            </a:r>
            <a:r>
              <a:rPr lang="en-US" dirty="0" smtClean="0">
                <a:solidFill>
                  <a:srgbClr val="00B0F0"/>
                </a:solidFill>
              </a:rPr>
              <a:t> needs to participate in another relationship. </a:t>
            </a:r>
          </a:p>
          <a:p>
            <a:r>
              <a:rPr lang="en-US" dirty="0" smtClean="0"/>
              <a:t>Since relationships cannot directly participate in another relationship, we convert (aggregate) the relationship into an entity.</a:t>
            </a:r>
          </a:p>
          <a:p>
            <a:pPr>
              <a:buNone/>
            </a:pPr>
            <a:r>
              <a:rPr lang="en-US" dirty="0" smtClean="0"/>
              <a:t>	This process is called </a:t>
            </a:r>
            <a:r>
              <a:rPr lang="en-US" b="1" dirty="0" smtClean="0">
                <a:solidFill>
                  <a:srgbClr val="00B050"/>
                </a:solidFill>
              </a:rPr>
              <a:t>Aggregation</a:t>
            </a:r>
            <a:r>
              <a:rPr lang="en-US" dirty="0" smtClean="0">
                <a:solidFill>
                  <a:srgbClr val="00B050"/>
                </a:solidFill>
              </a:rPr>
              <a:t>.</a:t>
            </a:r>
          </a:p>
          <a:p>
            <a:endParaRPr lang="en-US" dirty="0"/>
          </a:p>
        </p:txBody>
      </p:sp>
    </p:spTree>
  </p:cSld>
  <p:clrMapOvr>
    <a:masterClrMapping/>
  </p:clrMapOvr>
  <p:timing>
    <p:tnLst>
      <p:par>
        <p:cTn id="1" dur="indefinite" restart="never" nodeType="tmRoot"/>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idx="1"/>
          </p:nvPr>
        </p:nvSpPr>
        <p:spPr/>
        <p:txBody>
          <a:bodyPr/>
          <a:lstStyle/>
          <a:p>
            <a:endParaRPr lang="en-US" dirty="0" smtClean="0"/>
          </a:p>
          <a:p>
            <a:endParaRPr lang="en-US" dirty="0" smtClean="0"/>
          </a:p>
          <a:p>
            <a:endParaRPr lang="en-US" dirty="0"/>
          </a:p>
        </p:txBody>
      </p:sp>
      <p:sp>
        <p:nvSpPr>
          <p:cNvPr id="8" name="Rectangle 7"/>
          <p:cNvSpPr/>
          <p:nvPr/>
        </p:nvSpPr>
        <p:spPr>
          <a:xfrm>
            <a:off x="2057400" y="1295400"/>
            <a:ext cx="9144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Center</a:t>
            </a:r>
            <a:endParaRPr lang="en-US" dirty="0"/>
          </a:p>
        </p:txBody>
      </p:sp>
      <p:sp>
        <p:nvSpPr>
          <p:cNvPr id="11" name="Rectangle 10"/>
          <p:cNvSpPr/>
          <p:nvPr/>
        </p:nvSpPr>
        <p:spPr>
          <a:xfrm>
            <a:off x="6553200" y="1371600"/>
            <a:ext cx="9144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Course</a:t>
            </a:r>
            <a:endParaRPr lang="en-US" dirty="0"/>
          </a:p>
        </p:txBody>
      </p:sp>
      <p:sp>
        <p:nvSpPr>
          <p:cNvPr id="12" name="Rectangle 11"/>
          <p:cNvSpPr/>
          <p:nvPr/>
        </p:nvSpPr>
        <p:spPr>
          <a:xfrm>
            <a:off x="4419600" y="5562600"/>
            <a:ext cx="9144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Visitor</a:t>
            </a:r>
            <a:endParaRPr lang="en-US" dirty="0"/>
          </a:p>
        </p:txBody>
      </p:sp>
      <p:sp>
        <p:nvSpPr>
          <p:cNvPr id="13" name="Diamond 12"/>
          <p:cNvSpPr/>
          <p:nvPr/>
        </p:nvSpPr>
        <p:spPr>
          <a:xfrm>
            <a:off x="4114800" y="1371600"/>
            <a:ext cx="1524000" cy="914400"/>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Offer</a:t>
            </a:r>
            <a:endParaRPr lang="en-US" dirty="0"/>
          </a:p>
        </p:txBody>
      </p:sp>
      <p:sp>
        <p:nvSpPr>
          <p:cNvPr id="14" name="Diamond 13"/>
          <p:cNvSpPr/>
          <p:nvPr/>
        </p:nvSpPr>
        <p:spPr>
          <a:xfrm>
            <a:off x="3962400" y="3352800"/>
            <a:ext cx="1905000" cy="1143000"/>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enquire</a:t>
            </a:r>
            <a:endParaRPr lang="en-US" dirty="0"/>
          </a:p>
        </p:txBody>
      </p:sp>
      <p:cxnSp>
        <p:nvCxnSpPr>
          <p:cNvPr id="24" name="Straight Connector 23"/>
          <p:cNvCxnSpPr>
            <a:stCxn id="8" idx="3"/>
            <a:endCxn id="13" idx="1"/>
          </p:cNvCxnSpPr>
          <p:nvPr/>
        </p:nvCxnSpPr>
        <p:spPr>
          <a:xfrm>
            <a:off x="2971800" y="1752600"/>
            <a:ext cx="1143000" cy="76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6" name="Straight Connector 25"/>
          <p:cNvCxnSpPr>
            <a:stCxn id="13" idx="3"/>
            <a:endCxn id="11" idx="1"/>
          </p:cNvCxnSpPr>
          <p:nvPr/>
        </p:nvCxnSpPr>
        <p:spPr>
          <a:xfrm>
            <a:off x="5638800" y="1828800"/>
            <a:ext cx="9144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Straight Connector 27"/>
          <p:cNvCxnSpPr>
            <a:stCxn id="13" idx="2"/>
            <a:endCxn id="14" idx="0"/>
          </p:cNvCxnSpPr>
          <p:nvPr/>
        </p:nvCxnSpPr>
        <p:spPr>
          <a:xfrm rot="16200000" flipH="1">
            <a:off x="4362450" y="2800350"/>
            <a:ext cx="1066800" cy="38100"/>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Straight Connector 29"/>
          <p:cNvCxnSpPr>
            <a:stCxn id="14" idx="2"/>
            <a:endCxn id="12" idx="0"/>
          </p:cNvCxnSpPr>
          <p:nvPr/>
        </p:nvCxnSpPr>
        <p:spPr>
          <a:xfrm rot="5400000">
            <a:off x="4362450" y="5010150"/>
            <a:ext cx="1066800" cy="38100"/>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a:bodyPr>
          <a:lstStyle/>
          <a:p>
            <a:r>
              <a:rPr lang="en-US" b="1" dirty="0" smtClean="0"/>
              <a:t>Advantages of the EER Model</a:t>
            </a:r>
            <a:endParaRPr lang="en-US" dirty="0"/>
          </a:p>
        </p:txBody>
      </p:sp>
      <p:sp>
        <p:nvSpPr>
          <p:cNvPr id="6" name="Content Placeholder 5"/>
          <p:cNvSpPr>
            <a:spLocks noGrp="1"/>
          </p:cNvSpPr>
          <p:nvPr>
            <p:ph idx="1"/>
          </p:nvPr>
        </p:nvSpPr>
        <p:spPr/>
        <p:txBody>
          <a:bodyPr>
            <a:normAutofit/>
          </a:bodyPr>
          <a:lstStyle/>
          <a:p>
            <a:r>
              <a:rPr lang="en-US" dirty="0" smtClean="0"/>
              <a:t>Represents complex real-world systems accurately. </a:t>
            </a:r>
          </a:p>
          <a:p>
            <a:r>
              <a:rPr lang="en-US" dirty="0" smtClean="0"/>
              <a:t>Reduces data redundancy through inheritance. </a:t>
            </a:r>
          </a:p>
          <a:p>
            <a:r>
              <a:rPr lang="en-US" dirty="0" smtClean="0"/>
              <a:t>Makes database design modular and organized. </a:t>
            </a:r>
          </a:p>
          <a:p>
            <a:r>
              <a:rPr lang="en-US" dirty="0" smtClean="0"/>
              <a:t>Supports object-oriented concepts. </a:t>
            </a:r>
          </a:p>
          <a:p>
            <a:r>
              <a:rPr lang="en-US" dirty="0" smtClean="0"/>
              <a:t>Improves maintainability and scalability. </a:t>
            </a:r>
          </a:p>
          <a:p>
            <a:r>
              <a:rPr lang="en-US" dirty="0" smtClean="0"/>
              <a:t>Makes large enterprise databases easier to understand. </a:t>
            </a:r>
          </a:p>
          <a:p>
            <a:endParaRPr lang="en-US" dirty="0"/>
          </a:p>
        </p:txBody>
      </p:sp>
    </p:spTree>
  </p:cSld>
  <p:clrMapOvr>
    <a:masterClrMapping/>
  </p:clrMapOvr>
  <p:timing>
    <p:tnLst>
      <p:par>
        <p:cTn id="1" dur="indefinite" restart="never" nodeType="tmRoot"/>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b="1" dirty="0" smtClean="0"/>
              <a:t>Limitations</a:t>
            </a:r>
          </a:p>
        </p:txBody>
      </p:sp>
      <p:sp>
        <p:nvSpPr>
          <p:cNvPr id="6" name="Content Placeholder 5"/>
          <p:cNvSpPr>
            <a:spLocks noGrp="1"/>
          </p:cNvSpPr>
          <p:nvPr>
            <p:ph idx="1"/>
          </p:nvPr>
        </p:nvSpPr>
        <p:spPr/>
        <p:txBody>
          <a:bodyPr/>
          <a:lstStyle/>
          <a:p>
            <a:r>
              <a:rPr lang="en-US" dirty="0" smtClean="0"/>
              <a:t>More complex than the basic ER model. </a:t>
            </a:r>
          </a:p>
          <a:p>
            <a:r>
              <a:rPr lang="en-US" dirty="0" smtClean="0"/>
              <a:t>Requires careful design to avoid ambiguity. </a:t>
            </a:r>
          </a:p>
          <a:p>
            <a:r>
              <a:rPr lang="en-US" dirty="0" smtClean="0"/>
              <a:t>EER diagrams become larger and more difficult to interpret for very large systems.</a:t>
            </a:r>
          </a:p>
          <a:p>
            <a:endParaRPr lang="en-US" dirty="0"/>
          </a:p>
        </p:txBody>
      </p:sp>
    </p:spTree>
  </p:cSld>
  <p:clrMapOvr>
    <a:masterClrMapping/>
  </p:clrMapOvr>
  <p:timing>
    <p:tnLst>
      <p:par>
        <p:cTn id="1" dur="indefinite" restart="never" nodeType="tmRoot"/>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2133600"/>
            <a:ext cx="8229600" cy="1143000"/>
          </a:xfrm>
        </p:spPr>
        <p:txBody>
          <a:bodyPr>
            <a:normAutofit fontScale="90000"/>
          </a:bodyPr>
          <a:lstStyle/>
          <a:p>
            <a:r>
              <a:rPr lang="en-US" dirty="0" smtClean="0"/>
              <a:t>Conversion of ER diagram to Tabular Representation</a:t>
            </a:r>
            <a:endParaRPr lang="en-US" dirty="0"/>
          </a:p>
        </p:txBody>
      </p:sp>
    </p:spTree>
  </p:cSld>
  <p:clrMapOvr>
    <a:masterClrMapping/>
  </p:clrMapOvr>
  <p:timing>
    <p:tnLst>
      <p:par>
        <p:cTn id="1" dur="indefinite" restart="never" nodeType="tmRoot"/>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458200" cy="591312"/>
          </a:xfrm>
        </p:spPr>
        <p:txBody>
          <a:bodyPr>
            <a:noAutofit/>
          </a:bodyPr>
          <a:lstStyle/>
          <a:p>
            <a:r>
              <a:rPr lang="en-US" sz="4000" b="1" dirty="0" smtClean="0"/>
              <a:t>Tabular Representation of Strong Entity Sets</a:t>
            </a:r>
            <a:endParaRPr lang="en-US" sz="4000" dirty="0"/>
          </a:p>
        </p:txBody>
      </p:sp>
      <p:sp>
        <p:nvSpPr>
          <p:cNvPr id="3" name="Content Placeholder 2"/>
          <p:cNvSpPr>
            <a:spLocks noGrp="1"/>
          </p:cNvSpPr>
          <p:nvPr>
            <p:ph idx="1"/>
          </p:nvPr>
        </p:nvSpPr>
        <p:spPr>
          <a:xfrm>
            <a:off x="457200" y="1524000"/>
            <a:ext cx="8229600" cy="4800600"/>
          </a:xfrm>
        </p:spPr>
        <p:txBody>
          <a:bodyPr>
            <a:normAutofit/>
          </a:bodyPr>
          <a:lstStyle/>
          <a:p>
            <a:r>
              <a:rPr lang="en-US" sz="2000" dirty="0" smtClean="0"/>
              <a:t>A </a:t>
            </a:r>
            <a:r>
              <a:rPr lang="en-US" sz="2000" b="1" dirty="0" smtClean="0"/>
              <a:t>strong entity set</a:t>
            </a:r>
            <a:r>
              <a:rPr lang="en-US" sz="2000" dirty="0" smtClean="0"/>
              <a:t> is an entity that </a:t>
            </a:r>
            <a:r>
              <a:rPr lang="en-US" sz="2000" b="1" dirty="0" smtClean="0"/>
              <a:t>can exist independently</a:t>
            </a:r>
            <a:r>
              <a:rPr lang="en-US" sz="2000" dirty="0" smtClean="0"/>
              <a:t> and has its own </a:t>
            </a:r>
            <a:r>
              <a:rPr lang="en-US" sz="2000" b="1" dirty="0" smtClean="0"/>
              <a:t>primary key</a:t>
            </a:r>
            <a:r>
              <a:rPr lang="en-US" sz="2000" dirty="0" smtClean="0"/>
              <a:t> to uniquely identify each record. When converting an ER diagram into relational tables, every strong entity set becomes </a:t>
            </a:r>
            <a:r>
              <a:rPr lang="en-US" sz="2000" b="1" dirty="0" smtClean="0"/>
              <a:t>one relation (table)</a:t>
            </a:r>
            <a:r>
              <a:rPr lang="en-US" sz="2000" dirty="0" smtClean="0"/>
              <a:t>.</a:t>
            </a:r>
          </a:p>
          <a:p>
            <a:endParaRPr lang="en-US" sz="2000" b="1" dirty="0" smtClean="0"/>
          </a:p>
          <a:p>
            <a:pPr>
              <a:buNone/>
            </a:pPr>
            <a:r>
              <a:rPr lang="en-US" sz="2000" b="1" dirty="0" smtClean="0"/>
              <a:t>Rule for Converting a Strong Entity Set into a Table</a:t>
            </a:r>
          </a:p>
          <a:p>
            <a:pPr>
              <a:buNone/>
            </a:pPr>
            <a:r>
              <a:rPr lang="en-US" sz="2000" dirty="0" smtClean="0"/>
              <a:t>For every strong entity set:</a:t>
            </a:r>
          </a:p>
          <a:p>
            <a:r>
              <a:rPr lang="en-US" sz="2000" dirty="0" smtClean="0"/>
              <a:t>Create a separate table. </a:t>
            </a:r>
          </a:p>
          <a:p>
            <a:r>
              <a:rPr lang="en-US" sz="2000" dirty="0" smtClean="0"/>
              <a:t>Include all simple attributes as columns. </a:t>
            </a:r>
          </a:p>
          <a:p>
            <a:r>
              <a:rPr lang="en-US" sz="2000" dirty="0" smtClean="0"/>
              <a:t>Choose the primary key attribute as the </a:t>
            </a:r>
            <a:r>
              <a:rPr lang="en-US" sz="2000" b="1" dirty="0" smtClean="0"/>
              <a:t>Primary Key (PK)</a:t>
            </a:r>
            <a:r>
              <a:rPr lang="en-US" sz="2000" dirty="0" smtClean="0"/>
              <a:t>. </a:t>
            </a:r>
          </a:p>
          <a:p>
            <a:r>
              <a:rPr lang="en-US" sz="2000" dirty="0" smtClean="0"/>
              <a:t>Ignore derived attributes (they are calculated when needed). </a:t>
            </a:r>
          </a:p>
          <a:p>
            <a:r>
              <a:rPr lang="en-US" sz="2000" dirty="0" smtClean="0"/>
              <a:t>If an attribute is composite, split it into its simple attributes. </a:t>
            </a:r>
          </a:p>
          <a:p>
            <a:r>
              <a:rPr lang="en-US" sz="2000" dirty="0" smtClean="0"/>
              <a:t>If an attribute is </a:t>
            </a:r>
            <a:r>
              <a:rPr lang="en-US" sz="2000" dirty="0" err="1" smtClean="0"/>
              <a:t>multivalued</a:t>
            </a:r>
            <a:r>
              <a:rPr lang="en-US" sz="2000" dirty="0" smtClean="0"/>
              <a:t>, create a separate table for it.</a:t>
            </a:r>
          </a:p>
          <a:p>
            <a:endParaRPr lang="en-US" sz="2000" dirty="0"/>
          </a:p>
        </p:txBody>
      </p:sp>
    </p:spTree>
  </p:cSld>
  <p:clrMapOvr>
    <a:masterClrMapping/>
  </p:clrMapOvr>
  <p:timing>
    <p:tnLst>
      <p:par>
        <p:cTn id="1" dur="indefinite" restart="never" nodeType="tmRoot"/>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8229600" cy="533400"/>
          </a:xfrm>
        </p:spPr>
        <p:txBody>
          <a:bodyPr>
            <a:normAutofit/>
          </a:bodyPr>
          <a:lstStyle/>
          <a:p>
            <a:r>
              <a:rPr lang="en-US" sz="3200" dirty="0" smtClean="0"/>
              <a:t>Example</a:t>
            </a:r>
            <a:endParaRPr lang="en-US" sz="3200" dirty="0"/>
          </a:p>
        </p:txBody>
      </p:sp>
      <p:sp>
        <p:nvSpPr>
          <p:cNvPr id="3" name="Content Placeholder 2"/>
          <p:cNvSpPr>
            <a:spLocks noGrp="1"/>
          </p:cNvSpPr>
          <p:nvPr>
            <p:ph idx="1"/>
          </p:nvPr>
        </p:nvSpPr>
        <p:spPr>
          <a:xfrm>
            <a:off x="457200" y="1219200"/>
            <a:ext cx="8229600" cy="5105400"/>
          </a:xfrm>
        </p:spPr>
        <p:txBody>
          <a:bodyPr/>
          <a:lstStyle/>
          <a:p>
            <a:r>
              <a:rPr lang="en-US" dirty="0" smtClean="0"/>
              <a:t>ER Representation</a:t>
            </a:r>
          </a:p>
          <a:p>
            <a:pPr lvl="7">
              <a:buNone/>
            </a:pPr>
            <a:r>
              <a:rPr lang="en-US" dirty="0" smtClean="0"/>
              <a:t>Employee</a:t>
            </a:r>
          </a:p>
          <a:p>
            <a:pPr lvl="7">
              <a:buNone/>
            </a:pPr>
            <a:r>
              <a:rPr lang="en-US" dirty="0" smtClean="0"/>
              <a:t>----------------------------</a:t>
            </a:r>
          </a:p>
          <a:p>
            <a:pPr lvl="7">
              <a:buNone/>
            </a:pPr>
            <a:r>
              <a:rPr lang="en-US" dirty="0" err="1" smtClean="0"/>
              <a:t>Emp_ID</a:t>
            </a:r>
            <a:r>
              <a:rPr lang="en-US" dirty="0" smtClean="0"/>
              <a:t> (Primary Key)</a:t>
            </a:r>
          </a:p>
          <a:p>
            <a:pPr lvl="7">
              <a:buNone/>
            </a:pPr>
            <a:r>
              <a:rPr lang="en-US" dirty="0" err="1" smtClean="0"/>
              <a:t>Emp_Name</a:t>
            </a:r>
            <a:endParaRPr lang="en-US" dirty="0" smtClean="0"/>
          </a:p>
          <a:p>
            <a:pPr lvl="7">
              <a:buNone/>
            </a:pPr>
            <a:r>
              <a:rPr lang="en-US" dirty="0" smtClean="0"/>
              <a:t>Designation</a:t>
            </a:r>
          </a:p>
          <a:p>
            <a:pPr lvl="7">
              <a:buNone/>
            </a:pPr>
            <a:r>
              <a:rPr lang="en-US" dirty="0" smtClean="0"/>
              <a:t>Salary</a:t>
            </a:r>
          </a:p>
          <a:p>
            <a:pPr lvl="7">
              <a:buNone/>
            </a:pPr>
            <a:r>
              <a:rPr lang="en-US" dirty="0" smtClean="0"/>
              <a:t>Department</a:t>
            </a:r>
          </a:p>
          <a:p>
            <a:r>
              <a:rPr lang="en-US" dirty="0" smtClean="0"/>
              <a:t>Tabular Representation</a:t>
            </a:r>
          </a:p>
          <a:p>
            <a:pPr lvl="7">
              <a:buNone/>
            </a:pPr>
            <a:endParaRPr lang="en-US" dirty="0"/>
          </a:p>
        </p:txBody>
      </p:sp>
      <p:graphicFrame>
        <p:nvGraphicFramePr>
          <p:cNvPr id="4" name="Table 3"/>
          <p:cNvGraphicFramePr>
            <a:graphicFrameLocks noGrp="1"/>
          </p:cNvGraphicFramePr>
          <p:nvPr/>
        </p:nvGraphicFramePr>
        <p:xfrm>
          <a:off x="609600" y="4419600"/>
          <a:ext cx="8153400" cy="1483360"/>
        </p:xfrm>
        <a:graphic>
          <a:graphicData uri="http://schemas.openxmlformats.org/drawingml/2006/table">
            <a:tbl>
              <a:tblPr firstRow="1" bandRow="1">
                <a:tableStyleId>{5C22544A-7EE6-4342-B048-85BDC9FD1C3A}</a:tableStyleId>
              </a:tblPr>
              <a:tblGrid>
                <a:gridCol w="1630680"/>
                <a:gridCol w="1630680"/>
                <a:gridCol w="1630680"/>
                <a:gridCol w="1630680"/>
                <a:gridCol w="1630680"/>
              </a:tblGrid>
              <a:tr h="370840">
                <a:tc>
                  <a:txBody>
                    <a:bodyPr/>
                    <a:lstStyle/>
                    <a:p>
                      <a:r>
                        <a:rPr lang="en-US" dirty="0" err="1"/>
                        <a:t>Emp_ID</a:t>
                      </a:r>
                      <a:r>
                        <a:rPr lang="en-US" dirty="0"/>
                        <a:t> (PK)</a:t>
                      </a:r>
                    </a:p>
                  </a:txBody>
                  <a:tcPr anchor="ctr"/>
                </a:tc>
                <a:tc>
                  <a:txBody>
                    <a:bodyPr/>
                    <a:lstStyle/>
                    <a:p>
                      <a:r>
                        <a:rPr lang="en-US" dirty="0" err="1"/>
                        <a:t>Emp_Name</a:t>
                      </a:r>
                      <a:endParaRPr lang="en-US" dirty="0"/>
                    </a:p>
                  </a:txBody>
                  <a:tcPr anchor="ctr"/>
                </a:tc>
                <a:tc>
                  <a:txBody>
                    <a:bodyPr/>
                    <a:lstStyle/>
                    <a:p>
                      <a:r>
                        <a:rPr lang="en-US" dirty="0"/>
                        <a:t>Designation</a:t>
                      </a:r>
                    </a:p>
                  </a:txBody>
                  <a:tcPr anchor="ctr"/>
                </a:tc>
                <a:tc>
                  <a:txBody>
                    <a:bodyPr/>
                    <a:lstStyle/>
                    <a:p>
                      <a:r>
                        <a:rPr lang="en-US"/>
                        <a:t>Salary</a:t>
                      </a:r>
                    </a:p>
                  </a:txBody>
                  <a:tcPr anchor="ctr"/>
                </a:tc>
                <a:tc>
                  <a:txBody>
                    <a:bodyPr/>
                    <a:lstStyle/>
                    <a:p>
                      <a:r>
                        <a:rPr lang="en-US"/>
                        <a:t>Department</a:t>
                      </a:r>
                    </a:p>
                  </a:txBody>
                  <a:tcPr anchor="ctr"/>
                </a:tc>
              </a:tr>
              <a:tr h="370840">
                <a:tc>
                  <a:txBody>
                    <a:bodyPr/>
                    <a:lstStyle/>
                    <a:p>
                      <a:r>
                        <a:rPr lang="en-US"/>
                        <a:t>E101</a:t>
                      </a:r>
                    </a:p>
                  </a:txBody>
                  <a:tcPr anchor="ctr"/>
                </a:tc>
                <a:tc>
                  <a:txBody>
                    <a:bodyPr/>
                    <a:lstStyle/>
                    <a:p>
                      <a:r>
                        <a:rPr lang="en-US"/>
                        <a:t>Ravi</a:t>
                      </a:r>
                    </a:p>
                  </a:txBody>
                  <a:tcPr anchor="ctr"/>
                </a:tc>
                <a:tc>
                  <a:txBody>
                    <a:bodyPr/>
                    <a:lstStyle/>
                    <a:p>
                      <a:r>
                        <a:rPr lang="en-US"/>
                        <a:t>Manager</a:t>
                      </a:r>
                    </a:p>
                  </a:txBody>
                  <a:tcPr anchor="ctr"/>
                </a:tc>
                <a:tc>
                  <a:txBody>
                    <a:bodyPr/>
                    <a:lstStyle/>
                    <a:p>
                      <a:r>
                        <a:rPr lang="en-US"/>
                        <a:t>60000</a:t>
                      </a:r>
                    </a:p>
                  </a:txBody>
                  <a:tcPr anchor="ctr"/>
                </a:tc>
                <a:tc>
                  <a:txBody>
                    <a:bodyPr/>
                    <a:lstStyle/>
                    <a:p>
                      <a:r>
                        <a:rPr lang="en-US"/>
                        <a:t>HR</a:t>
                      </a:r>
                    </a:p>
                  </a:txBody>
                  <a:tcPr anchor="ctr"/>
                </a:tc>
              </a:tr>
              <a:tr h="370840">
                <a:tc>
                  <a:txBody>
                    <a:bodyPr/>
                    <a:lstStyle/>
                    <a:p>
                      <a:r>
                        <a:rPr lang="en-US"/>
                        <a:t>E102</a:t>
                      </a:r>
                    </a:p>
                  </a:txBody>
                  <a:tcPr anchor="ctr"/>
                </a:tc>
                <a:tc>
                  <a:txBody>
                    <a:bodyPr/>
                    <a:lstStyle/>
                    <a:p>
                      <a:r>
                        <a:rPr lang="en-US"/>
                        <a:t>Neha</a:t>
                      </a:r>
                    </a:p>
                  </a:txBody>
                  <a:tcPr anchor="ctr"/>
                </a:tc>
                <a:tc>
                  <a:txBody>
                    <a:bodyPr/>
                    <a:lstStyle/>
                    <a:p>
                      <a:r>
                        <a:rPr lang="en-US"/>
                        <a:t>Developer</a:t>
                      </a:r>
                    </a:p>
                  </a:txBody>
                  <a:tcPr anchor="ctr"/>
                </a:tc>
                <a:tc>
                  <a:txBody>
                    <a:bodyPr/>
                    <a:lstStyle/>
                    <a:p>
                      <a:r>
                        <a:rPr lang="en-US"/>
                        <a:t>50000</a:t>
                      </a:r>
                    </a:p>
                  </a:txBody>
                  <a:tcPr anchor="ctr"/>
                </a:tc>
                <a:tc>
                  <a:txBody>
                    <a:bodyPr/>
                    <a:lstStyle/>
                    <a:p>
                      <a:r>
                        <a:rPr lang="en-US"/>
                        <a:t>IT</a:t>
                      </a:r>
                    </a:p>
                  </a:txBody>
                  <a:tcPr anchor="ctr"/>
                </a:tc>
              </a:tr>
              <a:tr h="370840">
                <a:tc>
                  <a:txBody>
                    <a:bodyPr/>
                    <a:lstStyle/>
                    <a:p>
                      <a:r>
                        <a:rPr lang="en-US"/>
                        <a:t>E103</a:t>
                      </a:r>
                    </a:p>
                  </a:txBody>
                  <a:tcPr anchor="ctr"/>
                </a:tc>
                <a:tc>
                  <a:txBody>
                    <a:bodyPr/>
                    <a:lstStyle/>
                    <a:p>
                      <a:r>
                        <a:rPr lang="en-US"/>
                        <a:t>Mohit</a:t>
                      </a:r>
                    </a:p>
                  </a:txBody>
                  <a:tcPr anchor="ctr"/>
                </a:tc>
                <a:tc>
                  <a:txBody>
                    <a:bodyPr/>
                    <a:lstStyle/>
                    <a:p>
                      <a:r>
                        <a:rPr lang="en-US"/>
                        <a:t>Analyst</a:t>
                      </a:r>
                    </a:p>
                  </a:txBody>
                  <a:tcPr anchor="ctr"/>
                </a:tc>
                <a:tc>
                  <a:txBody>
                    <a:bodyPr/>
                    <a:lstStyle/>
                    <a:p>
                      <a:r>
                        <a:rPr lang="en-US"/>
                        <a:t>45000</a:t>
                      </a:r>
                    </a:p>
                  </a:txBody>
                  <a:tcPr anchor="ctr"/>
                </a:tc>
                <a:tc>
                  <a:txBody>
                    <a:bodyPr/>
                    <a:lstStyle/>
                    <a:p>
                      <a:r>
                        <a:rPr lang="en-US" dirty="0"/>
                        <a:t>Finance</a:t>
                      </a:r>
                    </a:p>
                  </a:txBody>
                  <a:tcPr anchor="ctr"/>
                </a:tc>
              </a:tr>
            </a:tbl>
          </a:graphicData>
        </a:graphic>
      </p:graphicFrame>
    </p:spTree>
  </p:cSld>
  <p:clrMapOvr>
    <a:masterClrMapping/>
  </p:clrMapOvr>
  <p:timing>
    <p:tnLst>
      <p:par>
        <p:cTn id="1" dur="indefinite" restart="never" nodeType="tmRoot"/>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591312"/>
          </a:xfrm>
        </p:spPr>
        <p:txBody>
          <a:bodyPr>
            <a:normAutofit/>
          </a:bodyPr>
          <a:lstStyle/>
          <a:p>
            <a:r>
              <a:rPr lang="en-US" sz="3200" b="1" dirty="0" smtClean="0"/>
              <a:t>Handling Different Types of Attributes</a:t>
            </a:r>
            <a:endParaRPr lang="en-US" sz="3200" dirty="0"/>
          </a:p>
        </p:txBody>
      </p:sp>
      <p:sp>
        <p:nvSpPr>
          <p:cNvPr id="3" name="Content Placeholder 2"/>
          <p:cNvSpPr>
            <a:spLocks noGrp="1"/>
          </p:cNvSpPr>
          <p:nvPr>
            <p:ph idx="1"/>
          </p:nvPr>
        </p:nvSpPr>
        <p:spPr>
          <a:xfrm>
            <a:off x="457200" y="1600200"/>
            <a:ext cx="8229600" cy="4724400"/>
          </a:xfrm>
        </p:spPr>
        <p:txBody>
          <a:bodyPr/>
          <a:lstStyle/>
          <a:p>
            <a:pPr>
              <a:buNone/>
            </a:pPr>
            <a:r>
              <a:rPr lang="en-US" b="1" dirty="0" smtClean="0"/>
              <a:t>1. Simple Attribute</a:t>
            </a:r>
          </a:p>
          <a:p>
            <a:r>
              <a:rPr lang="en-US" b="1" dirty="0" smtClean="0"/>
              <a:t>ER Diagram</a:t>
            </a:r>
          </a:p>
          <a:p>
            <a:pPr lvl="4">
              <a:buNone/>
            </a:pPr>
            <a:r>
              <a:rPr lang="en-US" dirty="0" smtClean="0"/>
              <a:t>Student</a:t>
            </a:r>
          </a:p>
          <a:p>
            <a:pPr lvl="4">
              <a:buNone/>
            </a:pPr>
            <a:r>
              <a:rPr lang="en-US" dirty="0" smtClean="0"/>
              <a:t>   |</a:t>
            </a:r>
          </a:p>
          <a:p>
            <a:pPr lvl="4">
              <a:buNone/>
            </a:pPr>
            <a:r>
              <a:rPr lang="en-US" dirty="0" smtClean="0"/>
              <a:t> Name</a:t>
            </a:r>
            <a:endParaRPr lang="en-US" b="1" dirty="0" smtClean="0"/>
          </a:p>
          <a:p>
            <a:r>
              <a:rPr lang="en-US" b="1" dirty="0" smtClean="0"/>
              <a:t>Table</a:t>
            </a:r>
          </a:p>
          <a:p>
            <a:endParaRPr lang="en-US" b="1" dirty="0" smtClean="0"/>
          </a:p>
          <a:p>
            <a:endParaRPr lang="en-US" b="1" dirty="0" smtClean="0"/>
          </a:p>
          <a:p>
            <a:endParaRPr lang="en-US" dirty="0" smtClean="0"/>
          </a:p>
          <a:p>
            <a:r>
              <a:rPr lang="en-US" dirty="0" smtClean="0"/>
              <a:t>Stored directly as column</a:t>
            </a:r>
          </a:p>
          <a:p>
            <a:endParaRPr lang="en-US" dirty="0" smtClean="0"/>
          </a:p>
        </p:txBody>
      </p:sp>
      <p:graphicFrame>
        <p:nvGraphicFramePr>
          <p:cNvPr id="4" name="Table 3"/>
          <p:cNvGraphicFramePr>
            <a:graphicFrameLocks noGrp="1"/>
          </p:cNvGraphicFramePr>
          <p:nvPr/>
        </p:nvGraphicFramePr>
        <p:xfrm>
          <a:off x="1524000" y="4191000"/>
          <a:ext cx="6096000" cy="741680"/>
        </p:xfrm>
        <a:graphic>
          <a:graphicData uri="http://schemas.openxmlformats.org/drawingml/2006/table">
            <a:tbl>
              <a:tblPr firstRow="1" bandRow="1">
                <a:tableStyleId>{5C22544A-7EE6-4342-B048-85BDC9FD1C3A}</a:tableStyleId>
              </a:tblPr>
              <a:tblGrid>
                <a:gridCol w="3048000"/>
                <a:gridCol w="3048000"/>
              </a:tblGrid>
              <a:tr h="370840">
                <a:tc>
                  <a:txBody>
                    <a:bodyPr/>
                    <a:lstStyle/>
                    <a:p>
                      <a:r>
                        <a:rPr lang="en-US" dirty="0" err="1"/>
                        <a:t>Roll_No</a:t>
                      </a:r>
                      <a:endParaRPr lang="en-US" dirty="0"/>
                    </a:p>
                  </a:txBody>
                  <a:tcPr anchor="ctr"/>
                </a:tc>
                <a:tc>
                  <a:txBody>
                    <a:bodyPr/>
                    <a:lstStyle/>
                    <a:p>
                      <a:r>
                        <a:rPr lang="en-US"/>
                        <a:t>Name</a:t>
                      </a:r>
                    </a:p>
                  </a:txBody>
                  <a:tcPr anchor="ctr"/>
                </a:tc>
              </a:tr>
              <a:tr h="370840">
                <a:tc>
                  <a:txBody>
                    <a:bodyPr/>
                    <a:lstStyle/>
                    <a:p>
                      <a:r>
                        <a:rPr lang="en-US"/>
                        <a:t>101</a:t>
                      </a:r>
                    </a:p>
                  </a:txBody>
                  <a:tcPr anchor="ctr"/>
                </a:tc>
                <a:tc>
                  <a:txBody>
                    <a:bodyPr/>
                    <a:lstStyle/>
                    <a:p>
                      <a:r>
                        <a:rPr lang="en-US" dirty="0" err="1"/>
                        <a:t>Amit</a:t>
                      </a:r>
                      <a:endParaRPr lang="en-US" dirty="0"/>
                    </a:p>
                  </a:txBody>
                  <a:tcPr anchor="ctr"/>
                </a:tc>
              </a:tr>
            </a:tbl>
          </a:graphicData>
        </a:graphic>
      </p:graphicFrame>
    </p:spTree>
  </p:cSld>
  <p:clrMapOvr>
    <a:masterClrMapping/>
  </p:clrMapOvr>
  <p:timing>
    <p:tnLst>
      <p:par>
        <p:cTn id="1" dur="indefinite" restart="never" nodeType="tmRoot"/>
      </p:par>
    </p:tn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09600"/>
            <a:ext cx="8229600" cy="5715000"/>
          </a:xfrm>
        </p:spPr>
        <p:txBody>
          <a:bodyPr/>
          <a:lstStyle/>
          <a:p>
            <a:r>
              <a:rPr lang="en-US" b="1" dirty="0" smtClean="0"/>
              <a:t>2. Composite Attribute</a:t>
            </a:r>
          </a:p>
          <a:p>
            <a:pPr>
              <a:buNone/>
            </a:pPr>
            <a:r>
              <a:rPr lang="en-US" dirty="0" smtClean="0"/>
              <a:t>	Suppose </a:t>
            </a:r>
            <a:r>
              <a:rPr lang="en-US" b="1" dirty="0" smtClean="0"/>
              <a:t>Name</a:t>
            </a:r>
            <a:r>
              <a:rPr lang="en-US" dirty="0" smtClean="0"/>
              <a:t> consists of:</a:t>
            </a:r>
          </a:p>
          <a:p>
            <a:pPr>
              <a:buNone/>
            </a:pPr>
            <a:r>
              <a:rPr lang="en-US" dirty="0" smtClean="0"/>
              <a:t>	Name </a:t>
            </a:r>
          </a:p>
          <a:p>
            <a:pPr>
              <a:buNone/>
            </a:pPr>
            <a:r>
              <a:rPr lang="en-US" dirty="0" smtClean="0"/>
              <a:t>		├── </a:t>
            </a:r>
            <a:r>
              <a:rPr lang="en-US" dirty="0" err="1" smtClean="0"/>
              <a:t>First_Name</a:t>
            </a:r>
            <a:r>
              <a:rPr lang="en-US" dirty="0" smtClean="0"/>
              <a:t> </a:t>
            </a:r>
          </a:p>
          <a:p>
            <a:pPr>
              <a:buNone/>
            </a:pPr>
            <a:r>
              <a:rPr lang="en-US" dirty="0" smtClean="0"/>
              <a:t>		├── </a:t>
            </a:r>
            <a:r>
              <a:rPr lang="en-US" dirty="0" err="1" smtClean="0"/>
              <a:t>Middle_Name</a:t>
            </a:r>
            <a:r>
              <a:rPr lang="en-US" dirty="0" smtClean="0"/>
              <a:t> </a:t>
            </a:r>
          </a:p>
          <a:p>
            <a:pPr>
              <a:buNone/>
            </a:pPr>
            <a:r>
              <a:rPr lang="en-US" dirty="0" smtClean="0"/>
              <a:t>		├── </a:t>
            </a:r>
            <a:r>
              <a:rPr lang="en-US" dirty="0" err="1" smtClean="0"/>
              <a:t>Last_Name</a:t>
            </a:r>
            <a:endParaRPr lang="en-US" dirty="0" smtClean="0"/>
          </a:p>
          <a:p>
            <a:r>
              <a:rPr lang="en-US" dirty="0" smtClean="0"/>
              <a:t>Instead of storing </a:t>
            </a:r>
            <a:r>
              <a:rPr lang="en-US" b="1" dirty="0" smtClean="0"/>
              <a:t>Name</a:t>
            </a:r>
            <a:r>
              <a:rPr lang="en-US" dirty="0" smtClean="0"/>
              <a:t>, split it into its components.</a:t>
            </a:r>
          </a:p>
          <a:p>
            <a:pPr>
              <a:buNone/>
            </a:pPr>
            <a:r>
              <a:rPr lang="en-US" dirty="0" smtClean="0"/>
              <a:t>	Table:</a:t>
            </a:r>
          </a:p>
          <a:p>
            <a:endParaRPr lang="en-US" dirty="0"/>
          </a:p>
        </p:txBody>
      </p:sp>
      <p:graphicFrame>
        <p:nvGraphicFramePr>
          <p:cNvPr id="4" name="Table 3"/>
          <p:cNvGraphicFramePr>
            <a:graphicFrameLocks noGrp="1"/>
          </p:cNvGraphicFramePr>
          <p:nvPr/>
        </p:nvGraphicFramePr>
        <p:xfrm>
          <a:off x="990600" y="4495800"/>
          <a:ext cx="7315200" cy="741680"/>
        </p:xfrm>
        <a:graphic>
          <a:graphicData uri="http://schemas.openxmlformats.org/drawingml/2006/table">
            <a:tbl>
              <a:tblPr firstRow="1" bandRow="1">
                <a:tableStyleId>{5C22544A-7EE6-4342-B048-85BDC9FD1C3A}</a:tableStyleId>
              </a:tblPr>
              <a:tblGrid>
                <a:gridCol w="1828800"/>
                <a:gridCol w="1828800"/>
                <a:gridCol w="1828800"/>
                <a:gridCol w="1828800"/>
              </a:tblGrid>
              <a:tr h="370840">
                <a:tc>
                  <a:txBody>
                    <a:bodyPr/>
                    <a:lstStyle/>
                    <a:p>
                      <a:r>
                        <a:rPr lang="en-US" dirty="0" err="1"/>
                        <a:t>Roll_No</a:t>
                      </a:r>
                      <a:endParaRPr lang="en-US" dirty="0"/>
                    </a:p>
                  </a:txBody>
                  <a:tcPr anchor="ctr"/>
                </a:tc>
                <a:tc>
                  <a:txBody>
                    <a:bodyPr/>
                    <a:lstStyle/>
                    <a:p>
                      <a:r>
                        <a:rPr lang="en-US"/>
                        <a:t>First_Name</a:t>
                      </a:r>
                    </a:p>
                  </a:txBody>
                  <a:tcPr anchor="ctr"/>
                </a:tc>
                <a:tc>
                  <a:txBody>
                    <a:bodyPr/>
                    <a:lstStyle/>
                    <a:p>
                      <a:r>
                        <a:rPr lang="en-US"/>
                        <a:t>Middle_Name</a:t>
                      </a:r>
                    </a:p>
                  </a:txBody>
                  <a:tcPr anchor="ctr"/>
                </a:tc>
                <a:tc>
                  <a:txBody>
                    <a:bodyPr/>
                    <a:lstStyle/>
                    <a:p>
                      <a:r>
                        <a:rPr lang="en-US"/>
                        <a:t>Last_Name</a:t>
                      </a:r>
                    </a:p>
                  </a:txBody>
                  <a:tcPr anchor="ctr"/>
                </a:tc>
              </a:tr>
              <a:tr h="370840">
                <a:tc>
                  <a:txBody>
                    <a:bodyPr/>
                    <a:lstStyle/>
                    <a:p>
                      <a:r>
                        <a:rPr lang="en-US"/>
                        <a:t>101</a:t>
                      </a:r>
                    </a:p>
                  </a:txBody>
                  <a:tcPr anchor="ctr"/>
                </a:tc>
                <a:tc>
                  <a:txBody>
                    <a:bodyPr/>
                    <a:lstStyle/>
                    <a:p>
                      <a:r>
                        <a:rPr lang="en-US"/>
                        <a:t>Amit</a:t>
                      </a:r>
                    </a:p>
                  </a:txBody>
                  <a:tcPr anchor="ctr"/>
                </a:tc>
                <a:tc>
                  <a:txBody>
                    <a:bodyPr/>
                    <a:lstStyle/>
                    <a:p>
                      <a:r>
                        <a:rPr lang="en-US"/>
                        <a:t>Kumar</a:t>
                      </a:r>
                    </a:p>
                  </a:txBody>
                  <a:tcPr anchor="ctr"/>
                </a:tc>
                <a:tc>
                  <a:txBody>
                    <a:bodyPr/>
                    <a:lstStyle/>
                    <a:p>
                      <a:r>
                        <a:rPr lang="en-US" dirty="0"/>
                        <a:t>Sharma</a:t>
                      </a:r>
                    </a:p>
                  </a:txBody>
                  <a:tcPr anchor="ctr"/>
                </a:tc>
              </a:tr>
            </a:tbl>
          </a:graphicData>
        </a:graphic>
      </p:graphicFrame>
    </p:spTree>
  </p:cSld>
  <p:clrMapOvr>
    <a:masterClrMapping/>
  </p:clrMapOvr>
  <p:timing>
    <p:tnLst>
      <p:par>
        <p:cTn id="1" dur="indefinite" restart="never" nodeType="tmRoot"/>
      </p:par>
    </p:tn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5181600"/>
          </a:xfrm>
        </p:spPr>
        <p:txBody>
          <a:bodyPr/>
          <a:lstStyle/>
          <a:p>
            <a:pPr>
              <a:buNone/>
            </a:pPr>
            <a:r>
              <a:rPr lang="en-US" b="1" dirty="0" smtClean="0"/>
              <a:t>3. Derived Attribute</a:t>
            </a:r>
          </a:p>
          <a:p>
            <a:pPr>
              <a:buNone/>
            </a:pPr>
            <a:r>
              <a:rPr lang="en-US" dirty="0" smtClean="0"/>
              <a:t>Suppose</a:t>
            </a:r>
          </a:p>
          <a:p>
            <a:pPr>
              <a:buNone/>
            </a:pPr>
            <a:r>
              <a:rPr lang="en-US" dirty="0" smtClean="0"/>
              <a:t>	</a:t>
            </a:r>
            <a:r>
              <a:rPr lang="en-US" dirty="0" err="1" smtClean="0"/>
              <a:t>Date_of_Birth</a:t>
            </a:r>
            <a:r>
              <a:rPr lang="en-US" dirty="0" smtClean="0"/>
              <a:t> → Age</a:t>
            </a:r>
          </a:p>
          <a:p>
            <a:r>
              <a:rPr lang="en-US" dirty="0" smtClean="0"/>
              <a:t>Age can be calculated from Date of Birth.</a:t>
            </a:r>
          </a:p>
          <a:p>
            <a:pPr>
              <a:buNone/>
            </a:pPr>
            <a:r>
              <a:rPr lang="en-US" b="1" dirty="0" smtClean="0"/>
              <a:t>	Table</a:t>
            </a:r>
            <a:br>
              <a:rPr lang="en-US" b="1" dirty="0" smtClean="0"/>
            </a:br>
            <a:endParaRPr lang="en-US" b="1" dirty="0" smtClean="0"/>
          </a:p>
          <a:p>
            <a:endParaRPr lang="en-US" b="1" dirty="0" smtClean="0"/>
          </a:p>
          <a:p>
            <a:endParaRPr lang="en-US" b="1" dirty="0" smtClean="0"/>
          </a:p>
          <a:p>
            <a:r>
              <a:rPr lang="en-US" b="1" dirty="0" smtClean="0"/>
              <a:t>Age is not stored</a:t>
            </a:r>
            <a:r>
              <a:rPr lang="en-US" dirty="0" smtClean="0"/>
              <a:t> because it changes over time and can be computed whenever needed.</a:t>
            </a:r>
            <a:endParaRPr lang="en-US" b="1" dirty="0" smtClean="0"/>
          </a:p>
          <a:p>
            <a:endParaRPr lang="en-US" b="1" dirty="0" smtClean="0"/>
          </a:p>
          <a:p>
            <a:endParaRPr lang="en-US" dirty="0"/>
          </a:p>
        </p:txBody>
      </p:sp>
      <p:graphicFrame>
        <p:nvGraphicFramePr>
          <p:cNvPr id="4" name="Table 3"/>
          <p:cNvGraphicFramePr>
            <a:graphicFrameLocks noGrp="1"/>
          </p:cNvGraphicFramePr>
          <p:nvPr/>
        </p:nvGraphicFramePr>
        <p:xfrm>
          <a:off x="1371600" y="3733800"/>
          <a:ext cx="6096000" cy="741680"/>
        </p:xfrm>
        <a:graphic>
          <a:graphicData uri="http://schemas.openxmlformats.org/drawingml/2006/table">
            <a:tbl>
              <a:tblPr firstRow="1" bandRow="1">
                <a:tableStyleId>{5C22544A-7EE6-4342-B048-85BDC9FD1C3A}</a:tableStyleId>
              </a:tblPr>
              <a:tblGrid>
                <a:gridCol w="3048000"/>
                <a:gridCol w="3048000"/>
              </a:tblGrid>
              <a:tr h="370840">
                <a:tc>
                  <a:txBody>
                    <a:bodyPr/>
                    <a:lstStyle/>
                    <a:p>
                      <a:r>
                        <a:rPr lang="en-US" dirty="0" err="1"/>
                        <a:t>Roll_No</a:t>
                      </a:r>
                      <a:endParaRPr lang="en-US" dirty="0"/>
                    </a:p>
                  </a:txBody>
                  <a:tcPr anchor="ctr"/>
                </a:tc>
                <a:tc>
                  <a:txBody>
                    <a:bodyPr/>
                    <a:lstStyle/>
                    <a:p>
                      <a:r>
                        <a:rPr lang="en-US"/>
                        <a:t>Date_of_Birth</a:t>
                      </a:r>
                    </a:p>
                  </a:txBody>
                  <a:tcPr anchor="ctr"/>
                </a:tc>
              </a:tr>
              <a:tr h="370840">
                <a:tc>
                  <a:txBody>
                    <a:bodyPr/>
                    <a:lstStyle/>
                    <a:p>
                      <a:r>
                        <a:rPr lang="en-US"/>
                        <a:t>101</a:t>
                      </a:r>
                    </a:p>
                  </a:txBody>
                  <a:tcPr anchor="ctr"/>
                </a:tc>
                <a:tc>
                  <a:txBody>
                    <a:bodyPr/>
                    <a:lstStyle/>
                    <a:p>
                      <a:r>
                        <a:rPr lang="en-US" dirty="0"/>
                        <a:t>15-05-2005</a:t>
                      </a:r>
                    </a:p>
                  </a:txBody>
                  <a:tcPr anchor="ctr"/>
                </a:tc>
              </a:tr>
            </a:tbl>
          </a:graphicData>
        </a:graphic>
      </p:graphicFrame>
    </p:spTree>
  </p:cSld>
  <p:clrMapOvr>
    <a:masterClrMapping/>
  </p:clrMapOvr>
  <p:timing>
    <p:tnLst>
      <p:par>
        <p:cTn id="1" dur="indefinite" restart="never" nodeType="tmRoot"/>
      </p:par>
    </p:tn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85800"/>
            <a:ext cx="8229600" cy="5638800"/>
          </a:xfrm>
        </p:spPr>
        <p:txBody>
          <a:bodyPr>
            <a:normAutofit/>
          </a:bodyPr>
          <a:lstStyle/>
          <a:p>
            <a:pPr>
              <a:buNone/>
            </a:pPr>
            <a:r>
              <a:rPr lang="en-US" b="1" dirty="0" smtClean="0"/>
              <a:t>4. </a:t>
            </a:r>
            <a:r>
              <a:rPr lang="en-US" b="1" dirty="0" err="1" smtClean="0"/>
              <a:t>Multivalued</a:t>
            </a:r>
            <a:r>
              <a:rPr lang="en-US" b="1" dirty="0" smtClean="0"/>
              <a:t> Attribute</a:t>
            </a:r>
          </a:p>
          <a:p>
            <a:r>
              <a:rPr lang="en-US" dirty="0" smtClean="0"/>
              <a:t>Suppose a student has multiple phone numbers.</a:t>
            </a:r>
          </a:p>
          <a:p>
            <a:pPr>
              <a:buNone/>
            </a:pPr>
            <a:r>
              <a:rPr lang="en-US" dirty="0" smtClean="0"/>
              <a:t>ER Representation</a:t>
            </a:r>
          </a:p>
          <a:p>
            <a:pPr>
              <a:buNone/>
            </a:pPr>
            <a:r>
              <a:rPr lang="en-US" dirty="0" smtClean="0"/>
              <a:t>		Student </a:t>
            </a:r>
          </a:p>
          <a:p>
            <a:pPr>
              <a:buNone/>
            </a:pPr>
            <a:r>
              <a:rPr lang="en-US" dirty="0" smtClean="0"/>
              <a:t>		    | </a:t>
            </a:r>
          </a:p>
          <a:p>
            <a:pPr>
              <a:buNone/>
            </a:pPr>
            <a:r>
              <a:rPr lang="en-US" dirty="0" smtClean="0"/>
              <a:t>	        </a:t>
            </a:r>
            <a:r>
              <a:rPr lang="en-US" dirty="0" err="1" smtClean="0"/>
              <a:t>Phone_Number</a:t>
            </a:r>
            <a:r>
              <a:rPr lang="en-US" dirty="0" smtClean="0"/>
              <a:t> (</a:t>
            </a:r>
            <a:r>
              <a:rPr lang="en-US" dirty="0" err="1" smtClean="0"/>
              <a:t>Multivalued</a:t>
            </a:r>
            <a:r>
              <a:rPr lang="en-US" dirty="0" smtClean="0"/>
              <a:t>)</a:t>
            </a:r>
          </a:p>
          <a:p>
            <a:pPr>
              <a:buNone/>
            </a:pPr>
            <a:r>
              <a:rPr lang="en-US" b="1" dirty="0" smtClean="0"/>
              <a:t>Student Table</a:t>
            </a:r>
          </a:p>
          <a:p>
            <a:endParaRPr lang="en-US" b="1" dirty="0" smtClean="0"/>
          </a:p>
          <a:p>
            <a:pPr>
              <a:buNone/>
            </a:pPr>
            <a:endParaRPr lang="en-US" b="1" dirty="0" smtClean="0"/>
          </a:p>
          <a:p>
            <a:pPr>
              <a:buNone/>
            </a:pPr>
            <a:r>
              <a:rPr lang="en-US" b="1" dirty="0" err="1" smtClean="0"/>
              <a:t>Student_Phone</a:t>
            </a:r>
            <a:r>
              <a:rPr lang="en-US" b="1" dirty="0" smtClean="0"/>
              <a:t> Table</a:t>
            </a:r>
          </a:p>
          <a:p>
            <a:endParaRPr lang="en-US" dirty="0"/>
          </a:p>
        </p:txBody>
      </p:sp>
      <p:graphicFrame>
        <p:nvGraphicFramePr>
          <p:cNvPr id="4" name="Table 3"/>
          <p:cNvGraphicFramePr>
            <a:graphicFrameLocks noGrp="1"/>
          </p:cNvGraphicFramePr>
          <p:nvPr/>
        </p:nvGraphicFramePr>
        <p:xfrm>
          <a:off x="1600200" y="4038600"/>
          <a:ext cx="6096000" cy="741680"/>
        </p:xfrm>
        <a:graphic>
          <a:graphicData uri="http://schemas.openxmlformats.org/drawingml/2006/table">
            <a:tbl>
              <a:tblPr firstRow="1" bandRow="1">
                <a:tableStyleId>{5C22544A-7EE6-4342-B048-85BDC9FD1C3A}</a:tableStyleId>
              </a:tblPr>
              <a:tblGrid>
                <a:gridCol w="3048000"/>
                <a:gridCol w="3048000"/>
              </a:tblGrid>
              <a:tr h="370840">
                <a:tc>
                  <a:txBody>
                    <a:bodyPr/>
                    <a:lstStyle/>
                    <a:p>
                      <a:r>
                        <a:rPr lang="en-US" dirty="0" err="1"/>
                        <a:t>Roll_No</a:t>
                      </a:r>
                      <a:r>
                        <a:rPr lang="en-US" dirty="0"/>
                        <a:t> (PK)</a:t>
                      </a:r>
                    </a:p>
                  </a:txBody>
                  <a:tcPr anchor="ctr"/>
                </a:tc>
                <a:tc>
                  <a:txBody>
                    <a:bodyPr/>
                    <a:lstStyle/>
                    <a:p>
                      <a:r>
                        <a:rPr lang="en-US"/>
                        <a:t>Name</a:t>
                      </a:r>
                    </a:p>
                  </a:txBody>
                  <a:tcPr anchor="ctr"/>
                </a:tc>
              </a:tr>
              <a:tr h="370840">
                <a:tc>
                  <a:txBody>
                    <a:bodyPr/>
                    <a:lstStyle/>
                    <a:p>
                      <a:r>
                        <a:rPr lang="en-US"/>
                        <a:t>101</a:t>
                      </a:r>
                    </a:p>
                  </a:txBody>
                  <a:tcPr anchor="ctr"/>
                </a:tc>
                <a:tc>
                  <a:txBody>
                    <a:bodyPr/>
                    <a:lstStyle/>
                    <a:p>
                      <a:r>
                        <a:rPr lang="en-US" dirty="0" err="1"/>
                        <a:t>Amit</a:t>
                      </a:r>
                      <a:endParaRPr lang="en-US" dirty="0"/>
                    </a:p>
                  </a:txBody>
                  <a:tcPr anchor="ctr"/>
                </a:tc>
              </a:tr>
            </a:tbl>
          </a:graphicData>
        </a:graphic>
      </p:graphicFrame>
      <p:graphicFrame>
        <p:nvGraphicFramePr>
          <p:cNvPr id="5" name="Table 4"/>
          <p:cNvGraphicFramePr>
            <a:graphicFrameLocks noGrp="1"/>
          </p:cNvGraphicFramePr>
          <p:nvPr/>
        </p:nvGraphicFramePr>
        <p:xfrm>
          <a:off x="4267200" y="5181600"/>
          <a:ext cx="4064000" cy="1483360"/>
        </p:xfrm>
        <a:graphic>
          <a:graphicData uri="http://schemas.openxmlformats.org/drawingml/2006/table">
            <a:tbl>
              <a:tblPr firstRow="1" bandRow="1">
                <a:tableStyleId>{5C22544A-7EE6-4342-B048-85BDC9FD1C3A}</a:tableStyleId>
              </a:tblPr>
              <a:tblGrid>
                <a:gridCol w="2032000"/>
                <a:gridCol w="2032000"/>
              </a:tblGrid>
              <a:tr h="370840">
                <a:tc>
                  <a:txBody>
                    <a:bodyPr/>
                    <a:lstStyle/>
                    <a:p>
                      <a:r>
                        <a:rPr lang="en-US" dirty="0" err="1"/>
                        <a:t>Roll_No</a:t>
                      </a:r>
                      <a:r>
                        <a:rPr lang="en-US" dirty="0"/>
                        <a:t> (FK)</a:t>
                      </a:r>
                    </a:p>
                  </a:txBody>
                  <a:tcPr anchor="ctr"/>
                </a:tc>
                <a:tc>
                  <a:txBody>
                    <a:bodyPr/>
                    <a:lstStyle/>
                    <a:p>
                      <a:r>
                        <a:rPr lang="en-US"/>
                        <a:t>Phone_Number</a:t>
                      </a:r>
                    </a:p>
                  </a:txBody>
                  <a:tcPr anchor="ctr"/>
                </a:tc>
              </a:tr>
              <a:tr h="370840">
                <a:tc>
                  <a:txBody>
                    <a:bodyPr/>
                    <a:lstStyle/>
                    <a:p>
                      <a:r>
                        <a:rPr lang="en-US"/>
                        <a:t>101</a:t>
                      </a:r>
                    </a:p>
                  </a:txBody>
                  <a:tcPr anchor="ctr"/>
                </a:tc>
                <a:tc>
                  <a:txBody>
                    <a:bodyPr/>
                    <a:lstStyle/>
                    <a:p>
                      <a:r>
                        <a:rPr lang="en-US"/>
                        <a:t>9876543210</a:t>
                      </a:r>
                    </a:p>
                  </a:txBody>
                  <a:tcPr anchor="ctr"/>
                </a:tc>
              </a:tr>
              <a:tr h="370840">
                <a:tc>
                  <a:txBody>
                    <a:bodyPr/>
                    <a:lstStyle/>
                    <a:p>
                      <a:r>
                        <a:rPr lang="en-US"/>
                        <a:t>101</a:t>
                      </a:r>
                    </a:p>
                  </a:txBody>
                  <a:tcPr anchor="ctr"/>
                </a:tc>
                <a:tc>
                  <a:txBody>
                    <a:bodyPr/>
                    <a:lstStyle/>
                    <a:p>
                      <a:r>
                        <a:rPr lang="en-US"/>
                        <a:t>9123456780</a:t>
                      </a:r>
                    </a:p>
                  </a:txBody>
                  <a:tcPr anchor="ctr"/>
                </a:tc>
              </a:tr>
              <a:tr h="370840">
                <a:tc>
                  <a:txBody>
                    <a:bodyPr/>
                    <a:lstStyle/>
                    <a:p>
                      <a:r>
                        <a:rPr lang="en-US"/>
                        <a:t>101</a:t>
                      </a:r>
                    </a:p>
                  </a:txBody>
                  <a:tcPr anchor="ctr"/>
                </a:tc>
                <a:tc>
                  <a:txBody>
                    <a:bodyPr/>
                    <a:lstStyle/>
                    <a:p>
                      <a:r>
                        <a:rPr lang="en-US" dirty="0"/>
                        <a:t>8899776655</a:t>
                      </a:r>
                    </a:p>
                  </a:txBody>
                  <a:tcPr anchor="ctr"/>
                </a:tc>
              </a:tr>
            </a:tbl>
          </a:graphicData>
        </a:graphic>
      </p:graphicFrame>
    </p:spTree>
  </p:cSld>
  <p:clrMapOvr>
    <a:masterClrMapping/>
  </p:clrMapOvr>
  <p:timing>
    <p:tnLst>
      <p:par>
        <p:cTn id="1" dur="indefinite" restart="never" nodeType="tmRoot"/>
      </p:par>
    </p:tn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743712"/>
          </a:xfrm>
        </p:spPr>
        <p:txBody>
          <a:bodyPr>
            <a:noAutofit/>
          </a:bodyPr>
          <a:lstStyle/>
          <a:p>
            <a:r>
              <a:rPr lang="en-US" sz="4000" b="1" dirty="0" smtClean="0"/>
              <a:t>Tabular Representation of Weak Entity Sets</a:t>
            </a:r>
            <a:endParaRPr lang="en-US" sz="4000" dirty="0"/>
          </a:p>
        </p:txBody>
      </p:sp>
      <p:sp>
        <p:nvSpPr>
          <p:cNvPr id="3" name="Content Placeholder 2"/>
          <p:cNvSpPr>
            <a:spLocks noGrp="1"/>
          </p:cNvSpPr>
          <p:nvPr>
            <p:ph idx="1"/>
          </p:nvPr>
        </p:nvSpPr>
        <p:spPr>
          <a:xfrm>
            <a:off x="457200" y="1600200"/>
            <a:ext cx="8229600" cy="4953000"/>
          </a:xfrm>
        </p:spPr>
        <p:txBody>
          <a:bodyPr>
            <a:normAutofit/>
          </a:bodyPr>
          <a:lstStyle/>
          <a:p>
            <a:r>
              <a:rPr lang="en-US" sz="2000" dirty="0" smtClean="0"/>
              <a:t>A weak entity set is an entity that cannot be uniquely identified by its own attributes. It depends on a strong (owner) entity for its existence and identification.</a:t>
            </a:r>
          </a:p>
          <a:p>
            <a:endParaRPr lang="en-US" sz="2000" dirty="0" smtClean="0"/>
          </a:p>
          <a:p>
            <a:r>
              <a:rPr lang="en-US" sz="2000" dirty="0" smtClean="0"/>
              <a:t>When converting a weak entity set from an ER diagram to relational tables:</a:t>
            </a:r>
          </a:p>
          <a:p>
            <a:pPr lvl="1"/>
            <a:r>
              <a:rPr lang="en-US" sz="2000" dirty="0" smtClean="0"/>
              <a:t>Create a separate table for the strong entity. </a:t>
            </a:r>
          </a:p>
          <a:p>
            <a:pPr lvl="1"/>
            <a:r>
              <a:rPr lang="en-US" sz="2000" dirty="0" smtClean="0"/>
              <a:t>Create another table for the weak entity. </a:t>
            </a:r>
          </a:p>
          <a:p>
            <a:pPr lvl="1"/>
            <a:r>
              <a:rPr lang="en-US" sz="2000" dirty="0" smtClean="0"/>
              <a:t>Include the primary key of the strong entity in the weak entity table as a foreign key. </a:t>
            </a:r>
          </a:p>
          <a:p>
            <a:pPr lvl="1"/>
            <a:r>
              <a:rPr lang="en-US" sz="2000" dirty="0" smtClean="0"/>
              <a:t>The primary key of the weak entity table is the combination of the strong entity's primary key and the weak entity's partial key (discriminator).</a:t>
            </a:r>
          </a:p>
          <a:p>
            <a:endParaRPr lang="en-US" sz="2000" dirty="0"/>
          </a:p>
        </p:txBody>
      </p:sp>
    </p:spTree>
  </p:cSld>
  <p:clrMapOvr>
    <a:masterClrMapping/>
  </p:clrMapOvr>
  <p:timing>
    <p:tnLst>
      <p:par>
        <p:cTn id="1" dur="indefinite" restart="never" nodeType="tmRoot"/>
      </p:par>
    </p:tn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438912"/>
          </a:xfrm>
        </p:spPr>
        <p:txBody>
          <a:bodyPr>
            <a:noAutofit/>
          </a:bodyPr>
          <a:lstStyle/>
          <a:p>
            <a:r>
              <a:rPr lang="en-US" sz="3200" dirty="0" smtClean="0"/>
              <a:t>Example</a:t>
            </a:r>
            <a:endParaRPr lang="en-US" sz="3200" dirty="0"/>
          </a:p>
        </p:txBody>
      </p:sp>
      <p:sp>
        <p:nvSpPr>
          <p:cNvPr id="3" name="Content Placeholder 2"/>
          <p:cNvSpPr>
            <a:spLocks noGrp="1"/>
          </p:cNvSpPr>
          <p:nvPr>
            <p:ph idx="1"/>
          </p:nvPr>
        </p:nvSpPr>
        <p:spPr>
          <a:xfrm>
            <a:off x="457200" y="1600200"/>
            <a:ext cx="8229600" cy="4724400"/>
          </a:xfrm>
        </p:spPr>
        <p:txBody>
          <a:bodyPr>
            <a:normAutofit fontScale="85000" lnSpcReduction="20000"/>
          </a:bodyPr>
          <a:lstStyle/>
          <a:p>
            <a:r>
              <a:rPr lang="en-US" dirty="0" smtClean="0"/>
              <a:t>ER Diagram</a:t>
            </a:r>
          </a:p>
          <a:p>
            <a:pPr lvl="3">
              <a:buNone/>
            </a:pPr>
            <a:r>
              <a:rPr lang="en-US" dirty="0" smtClean="0"/>
              <a:t>Employee (Strong Entity)</a:t>
            </a:r>
          </a:p>
          <a:p>
            <a:pPr lvl="3">
              <a:buNone/>
            </a:pPr>
            <a:r>
              <a:rPr lang="en-US" dirty="0" smtClean="0"/>
              <a:t>------------------------</a:t>
            </a:r>
          </a:p>
          <a:p>
            <a:pPr lvl="3">
              <a:buNone/>
            </a:pPr>
            <a:r>
              <a:rPr lang="en-US" dirty="0" err="1" smtClean="0"/>
              <a:t>Emp_ID</a:t>
            </a:r>
            <a:r>
              <a:rPr lang="en-US" dirty="0" smtClean="0"/>
              <a:t> (Primary Key)</a:t>
            </a:r>
          </a:p>
          <a:p>
            <a:pPr lvl="3">
              <a:buNone/>
            </a:pPr>
            <a:r>
              <a:rPr lang="en-US" dirty="0" err="1" smtClean="0"/>
              <a:t>Emp_Name</a:t>
            </a:r>
            <a:endParaRPr lang="en-US" dirty="0" smtClean="0"/>
          </a:p>
          <a:p>
            <a:pPr lvl="3">
              <a:buNone/>
            </a:pPr>
            <a:r>
              <a:rPr lang="en-US" dirty="0" smtClean="0"/>
              <a:t>Department</a:t>
            </a:r>
          </a:p>
          <a:p>
            <a:pPr lvl="3">
              <a:buNone/>
            </a:pPr>
            <a:endParaRPr lang="en-US" dirty="0" smtClean="0"/>
          </a:p>
          <a:p>
            <a:pPr lvl="3">
              <a:buNone/>
            </a:pPr>
            <a:r>
              <a:rPr lang="en-US" dirty="0" smtClean="0"/>
              <a:t>            Identifying Relationship</a:t>
            </a:r>
          </a:p>
          <a:p>
            <a:pPr lvl="3">
              <a:buNone/>
            </a:pPr>
            <a:r>
              <a:rPr lang="en-US" dirty="0" smtClean="0"/>
              <a:t>                    │</a:t>
            </a:r>
          </a:p>
          <a:p>
            <a:pPr lvl="3">
              <a:buNone/>
            </a:pPr>
            <a:r>
              <a:rPr lang="en-US" dirty="0" smtClean="0"/>
              <a:t>                    │</a:t>
            </a:r>
          </a:p>
          <a:p>
            <a:pPr lvl="3">
              <a:buNone/>
            </a:pPr>
            <a:r>
              <a:rPr lang="en-US" dirty="0" smtClean="0"/>
              <a:t>Dependent (Weak Entity)</a:t>
            </a:r>
          </a:p>
          <a:p>
            <a:pPr lvl="3">
              <a:buNone/>
            </a:pPr>
            <a:r>
              <a:rPr lang="en-US" dirty="0" smtClean="0"/>
              <a:t>-----------------------</a:t>
            </a:r>
          </a:p>
          <a:p>
            <a:pPr lvl="3">
              <a:buNone/>
            </a:pPr>
            <a:r>
              <a:rPr lang="en-US" dirty="0" err="1" smtClean="0"/>
              <a:t>Dependent_Name</a:t>
            </a:r>
            <a:r>
              <a:rPr lang="en-US" dirty="0" smtClean="0"/>
              <a:t> (Partial Key)</a:t>
            </a:r>
          </a:p>
          <a:p>
            <a:pPr lvl="3">
              <a:buNone/>
            </a:pPr>
            <a:r>
              <a:rPr lang="en-US" dirty="0" smtClean="0"/>
              <a:t>Age</a:t>
            </a:r>
          </a:p>
          <a:p>
            <a:pPr lvl="3">
              <a:buNone/>
            </a:pPr>
            <a:r>
              <a:rPr lang="en-US" dirty="0" smtClean="0"/>
              <a:t>Relation</a:t>
            </a:r>
          </a:p>
          <a:p>
            <a:r>
              <a:rPr lang="en-US" dirty="0" smtClean="0"/>
              <a:t>An employee can have many dependents.</a:t>
            </a:r>
          </a:p>
          <a:p>
            <a:r>
              <a:rPr lang="en-US" dirty="0" smtClean="0"/>
              <a:t>A dependent </a:t>
            </a:r>
            <a:r>
              <a:rPr lang="en-US" b="1" dirty="0" smtClean="0"/>
              <a:t>cannot exist without an employee</a:t>
            </a:r>
            <a:r>
              <a:rPr lang="en-US" dirty="0" smtClean="0"/>
              <a:t>.</a:t>
            </a:r>
          </a:p>
          <a:p>
            <a:endParaRPr lang="en-US" dirty="0" smtClean="0"/>
          </a:p>
          <a:p>
            <a:pPr lvl="3">
              <a:buNone/>
            </a:pPr>
            <a:endParaRPr lang="en-US" dirty="0" smtClean="0"/>
          </a:p>
          <a:p>
            <a:pPr lvl="3">
              <a:buNone/>
            </a:pPr>
            <a:endParaRPr lang="en-US" dirty="0" smtClean="0"/>
          </a:p>
          <a:p>
            <a:pPr lvl="3">
              <a:buNone/>
            </a:pPr>
            <a:endParaRPr lang="en-US" dirty="0"/>
          </a:p>
        </p:txBody>
      </p:sp>
    </p:spTree>
  </p:cSld>
  <p:clrMapOvr>
    <a:masterClrMapping/>
  </p:clrMapOvr>
  <p:timing>
    <p:tnLst>
      <p:par>
        <p:cTn id="1" dur="indefinite" restart="never" nodeType="tmRoot"/>
      </p:par>
    </p:tn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90600"/>
            <a:ext cx="8229600" cy="5334000"/>
          </a:xfrm>
        </p:spPr>
        <p:txBody>
          <a:bodyPr>
            <a:normAutofit lnSpcReduction="10000"/>
          </a:bodyPr>
          <a:lstStyle/>
          <a:p>
            <a:r>
              <a:rPr lang="en-US" dirty="0" smtClean="0"/>
              <a:t>Employee Table</a:t>
            </a:r>
          </a:p>
          <a:p>
            <a:endParaRPr lang="en-US" dirty="0" smtClean="0"/>
          </a:p>
          <a:p>
            <a:endParaRPr lang="en-US" dirty="0" smtClean="0"/>
          </a:p>
          <a:p>
            <a:pPr>
              <a:buNone/>
            </a:pPr>
            <a:endParaRPr lang="en-US" dirty="0" smtClean="0"/>
          </a:p>
          <a:p>
            <a:r>
              <a:rPr lang="en-US" dirty="0" smtClean="0"/>
              <a:t>Dependent Table</a:t>
            </a:r>
          </a:p>
          <a:p>
            <a:endParaRPr lang="en-US" dirty="0" smtClean="0"/>
          </a:p>
          <a:p>
            <a:endParaRPr lang="en-US" dirty="0" smtClean="0"/>
          </a:p>
          <a:p>
            <a:endParaRPr lang="en-US" dirty="0" smtClean="0"/>
          </a:p>
          <a:p>
            <a:endParaRPr lang="en-US" dirty="0" smtClean="0"/>
          </a:p>
          <a:p>
            <a:r>
              <a:rPr lang="en-US" b="1" dirty="0" smtClean="0"/>
              <a:t>Primary Key</a:t>
            </a:r>
          </a:p>
          <a:p>
            <a:pPr>
              <a:buNone/>
            </a:pPr>
            <a:r>
              <a:rPr lang="en-US" dirty="0" smtClean="0"/>
              <a:t>(</a:t>
            </a:r>
            <a:r>
              <a:rPr lang="en-US" dirty="0" err="1" smtClean="0"/>
              <a:t>Emp_ID</a:t>
            </a:r>
            <a:r>
              <a:rPr lang="en-US" dirty="0" smtClean="0"/>
              <a:t>, </a:t>
            </a:r>
            <a:r>
              <a:rPr lang="en-US" dirty="0" err="1" smtClean="0"/>
              <a:t>Dependent_Name</a:t>
            </a:r>
            <a:r>
              <a:rPr lang="en-US" dirty="0" smtClean="0"/>
              <a:t>)</a:t>
            </a:r>
          </a:p>
          <a:p>
            <a:pPr>
              <a:buNone/>
            </a:pPr>
            <a:r>
              <a:rPr lang="en-US" dirty="0" smtClean="0"/>
              <a:t>Because </a:t>
            </a:r>
            <a:r>
              <a:rPr lang="en-US" dirty="0" err="1" smtClean="0"/>
              <a:t>Dependent_Name</a:t>
            </a:r>
            <a:r>
              <a:rPr lang="en-US" dirty="0" smtClean="0"/>
              <a:t> alone is not unique.</a:t>
            </a:r>
          </a:p>
          <a:p>
            <a:endParaRPr lang="en-US" dirty="0" smtClean="0"/>
          </a:p>
          <a:p>
            <a:endParaRPr lang="en-US" dirty="0"/>
          </a:p>
        </p:txBody>
      </p:sp>
      <p:graphicFrame>
        <p:nvGraphicFramePr>
          <p:cNvPr id="4" name="Table 3"/>
          <p:cNvGraphicFramePr>
            <a:graphicFrameLocks noGrp="1"/>
          </p:cNvGraphicFramePr>
          <p:nvPr/>
        </p:nvGraphicFramePr>
        <p:xfrm>
          <a:off x="1752600" y="1524000"/>
          <a:ext cx="6096000" cy="1107440"/>
        </p:xfrm>
        <a:graphic>
          <a:graphicData uri="http://schemas.openxmlformats.org/drawingml/2006/table">
            <a:tbl>
              <a:tblPr firstRow="1" bandRow="1">
                <a:tableStyleId>{5C22544A-7EE6-4342-B048-85BDC9FD1C3A}</a:tableStyleId>
              </a:tblPr>
              <a:tblGrid>
                <a:gridCol w="2032000"/>
                <a:gridCol w="2032000"/>
                <a:gridCol w="2032000"/>
              </a:tblGrid>
              <a:tr h="243840">
                <a:tc>
                  <a:txBody>
                    <a:bodyPr/>
                    <a:lstStyle/>
                    <a:p>
                      <a:r>
                        <a:rPr lang="en-US" dirty="0" err="1"/>
                        <a:t>Emp_ID</a:t>
                      </a:r>
                      <a:r>
                        <a:rPr lang="en-US" dirty="0"/>
                        <a:t> (PK)</a:t>
                      </a:r>
                    </a:p>
                  </a:txBody>
                  <a:tcPr anchor="ctr"/>
                </a:tc>
                <a:tc>
                  <a:txBody>
                    <a:bodyPr/>
                    <a:lstStyle/>
                    <a:p>
                      <a:r>
                        <a:rPr lang="en-US" dirty="0" err="1"/>
                        <a:t>Emp_Name</a:t>
                      </a:r>
                      <a:endParaRPr lang="en-US" dirty="0"/>
                    </a:p>
                  </a:txBody>
                  <a:tcPr anchor="ctr"/>
                </a:tc>
                <a:tc>
                  <a:txBody>
                    <a:bodyPr/>
                    <a:lstStyle/>
                    <a:p>
                      <a:r>
                        <a:rPr lang="en-US"/>
                        <a:t>Department</a:t>
                      </a:r>
                    </a:p>
                  </a:txBody>
                  <a:tcPr anchor="ctr"/>
                </a:tc>
              </a:tr>
              <a:tr h="370840">
                <a:tc>
                  <a:txBody>
                    <a:bodyPr/>
                    <a:lstStyle/>
                    <a:p>
                      <a:r>
                        <a:rPr lang="en-US"/>
                        <a:t>E101</a:t>
                      </a:r>
                    </a:p>
                  </a:txBody>
                  <a:tcPr anchor="ctr"/>
                </a:tc>
                <a:tc>
                  <a:txBody>
                    <a:bodyPr/>
                    <a:lstStyle/>
                    <a:p>
                      <a:r>
                        <a:rPr lang="en-US"/>
                        <a:t>Ravi</a:t>
                      </a:r>
                    </a:p>
                  </a:txBody>
                  <a:tcPr anchor="ctr"/>
                </a:tc>
                <a:tc>
                  <a:txBody>
                    <a:bodyPr/>
                    <a:lstStyle/>
                    <a:p>
                      <a:r>
                        <a:rPr lang="en-US"/>
                        <a:t>HR</a:t>
                      </a:r>
                    </a:p>
                  </a:txBody>
                  <a:tcPr anchor="ctr"/>
                </a:tc>
              </a:tr>
              <a:tr h="370840">
                <a:tc>
                  <a:txBody>
                    <a:bodyPr/>
                    <a:lstStyle/>
                    <a:p>
                      <a:r>
                        <a:rPr lang="en-US"/>
                        <a:t>E102</a:t>
                      </a:r>
                    </a:p>
                  </a:txBody>
                  <a:tcPr anchor="ctr"/>
                </a:tc>
                <a:tc>
                  <a:txBody>
                    <a:bodyPr/>
                    <a:lstStyle/>
                    <a:p>
                      <a:r>
                        <a:rPr lang="en-US"/>
                        <a:t>Neha</a:t>
                      </a:r>
                    </a:p>
                  </a:txBody>
                  <a:tcPr anchor="ctr"/>
                </a:tc>
                <a:tc>
                  <a:txBody>
                    <a:bodyPr/>
                    <a:lstStyle/>
                    <a:p>
                      <a:r>
                        <a:rPr lang="en-US" dirty="0"/>
                        <a:t>IT</a:t>
                      </a:r>
                    </a:p>
                  </a:txBody>
                  <a:tcPr anchor="ctr"/>
                </a:tc>
              </a:tr>
            </a:tbl>
          </a:graphicData>
        </a:graphic>
      </p:graphicFrame>
      <p:graphicFrame>
        <p:nvGraphicFramePr>
          <p:cNvPr id="5" name="Table 4"/>
          <p:cNvGraphicFramePr>
            <a:graphicFrameLocks noGrp="1"/>
          </p:cNvGraphicFramePr>
          <p:nvPr/>
        </p:nvGraphicFramePr>
        <p:xfrm>
          <a:off x="1066800" y="3124200"/>
          <a:ext cx="7239000" cy="1752600"/>
        </p:xfrm>
        <a:graphic>
          <a:graphicData uri="http://schemas.openxmlformats.org/drawingml/2006/table">
            <a:tbl>
              <a:tblPr firstRow="1" bandRow="1">
                <a:tableStyleId>{5C22544A-7EE6-4342-B048-85BDC9FD1C3A}</a:tableStyleId>
              </a:tblPr>
              <a:tblGrid>
                <a:gridCol w="1809750"/>
                <a:gridCol w="2457450"/>
                <a:gridCol w="1162050"/>
                <a:gridCol w="1809750"/>
              </a:tblGrid>
              <a:tr h="370840">
                <a:tc>
                  <a:txBody>
                    <a:bodyPr/>
                    <a:lstStyle/>
                    <a:p>
                      <a:r>
                        <a:rPr lang="en-US" dirty="0" err="1"/>
                        <a:t>Emp_ID</a:t>
                      </a:r>
                      <a:r>
                        <a:rPr lang="en-US" dirty="0"/>
                        <a:t> (FK)</a:t>
                      </a:r>
                    </a:p>
                  </a:txBody>
                  <a:tcPr anchor="ctr"/>
                </a:tc>
                <a:tc>
                  <a:txBody>
                    <a:bodyPr/>
                    <a:lstStyle/>
                    <a:p>
                      <a:r>
                        <a:rPr lang="en-US" dirty="0" err="1"/>
                        <a:t>Dependent_Name</a:t>
                      </a:r>
                      <a:r>
                        <a:rPr lang="en-US" dirty="0"/>
                        <a:t> (Partial Key)</a:t>
                      </a:r>
                    </a:p>
                  </a:txBody>
                  <a:tcPr anchor="ctr"/>
                </a:tc>
                <a:tc>
                  <a:txBody>
                    <a:bodyPr/>
                    <a:lstStyle/>
                    <a:p>
                      <a:r>
                        <a:rPr lang="en-US" dirty="0"/>
                        <a:t>Age</a:t>
                      </a:r>
                    </a:p>
                  </a:txBody>
                  <a:tcPr anchor="ctr"/>
                </a:tc>
                <a:tc>
                  <a:txBody>
                    <a:bodyPr/>
                    <a:lstStyle/>
                    <a:p>
                      <a:r>
                        <a:rPr lang="en-US"/>
                        <a:t>Relation</a:t>
                      </a:r>
                    </a:p>
                  </a:txBody>
                  <a:tcPr anchor="ctr"/>
                </a:tc>
              </a:tr>
              <a:tr h="370840">
                <a:tc>
                  <a:txBody>
                    <a:bodyPr/>
                    <a:lstStyle/>
                    <a:p>
                      <a:r>
                        <a:rPr lang="en-US"/>
                        <a:t>E101</a:t>
                      </a:r>
                    </a:p>
                  </a:txBody>
                  <a:tcPr anchor="ctr"/>
                </a:tc>
                <a:tc>
                  <a:txBody>
                    <a:bodyPr/>
                    <a:lstStyle/>
                    <a:p>
                      <a:r>
                        <a:rPr lang="en-US"/>
                        <a:t>Aman</a:t>
                      </a:r>
                    </a:p>
                  </a:txBody>
                  <a:tcPr anchor="ctr"/>
                </a:tc>
                <a:tc>
                  <a:txBody>
                    <a:bodyPr/>
                    <a:lstStyle/>
                    <a:p>
                      <a:r>
                        <a:rPr lang="en-US"/>
                        <a:t>10</a:t>
                      </a:r>
                    </a:p>
                  </a:txBody>
                  <a:tcPr anchor="ctr"/>
                </a:tc>
                <a:tc>
                  <a:txBody>
                    <a:bodyPr/>
                    <a:lstStyle/>
                    <a:p>
                      <a:r>
                        <a:rPr lang="en-US"/>
                        <a:t>Son</a:t>
                      </a:r>
                    </a:p>
                  </a:txBody>
                  <a:tcPr anchor="ctr"/>
                </a:tc>
              </a:tr>
              <a:tr h="370840">
                <a:tc>
                  <a:txBody>
                    <a:bodyPr/>
                    <a:lstStyle/>
                    <a:p>
                      <a:r>
                        <a:rPr lang="en-US"/>
                        <a:t>E101</a:t>
                      </a:r>
                    </a:p>
                  </a:txBody>
                  <a:tcPr anchor="ctr"/>
                </a:tc>
                <a:tc>
                  <a:txBody>
                    <a:bodyPr/>
                    <a:lstStyle/>
                    <a:p>
                      <a:r>
                        <a:rPr lang="en-US"/>
                        <a:t>Priya</a:t>
                      </a:r>
                    </a:p>
                  </a:txBody>
                  <a:tcPr anchor="ctr"/>
                </a:tc>
                <a:tc>
                  <a:txBody>
                    <a:bodyPr/>
                    <a:lstStyle/>
                    <a:p>
                      <a:r>
                        <a:rPr lang="en-US"/>
                        <a:t>35</a:t>
                      </a:r>
                    </a:p>
                  </a:txBody>
                  <a:tcPr anchor="ctr"/>
                </a:tc>
                <a:tc>
                  <a:txBody>
                    <a:bodyPr/>
                    <a:lstStyle/>
                    <a:p>
                      <a:r>
                        <a:rPr lang="en-US"/>
                        <a:t>Wife</a:t>
                      </a:r>
                    </a:p>
                  </a:txBody>
                  <a:tcPr anchor="ctr"/>
                </a:tc>
              </a:tr>
              <a:tr h="370840">
                <a:tc>
                  <a:txBody>
                    <a:bodyPr/>
                    <a:lstStyle/>
                    <a:p>
                      <a:r>
                        <a:rPr lang="en-US"/>
                        <a:t>E102</a:t>
                      </a:r>
                    </a:p>
                  </a:txBody>
                  <a:tcPr anchor="ctr"/>
                </a:tc>
                <a:tc>
                  <a:txBody>
                    <a:bodyPr/>
                    <a:lstStyle/>
                    <a:p>
                      <a:r>
                        <a:rPr lang="en-US" dirty="0" err="1"/>
                        <a:t>Mohit</a:t>
                      </a:r>
                      <a:endParaRPr lang="en-US" dirty="0"/>
                    </a:p>
                  </a:txBody>
                  <a:tcPr anchor="ctr"/>
                </a:tc>
                <a:tc>
                  <a:txBody>
                    <a:bodyPr/>
                    <a:lstStyle/>
                    <a:p>
                      <a:r>
                        <a:rPr lang="en-US"/>
                        <a:t>8</a:t>
                      </a:r>
                    </a:p>
                  </a:txBody>
                  <a:tcPr anchor="ctr"/>
                </a:tc>
                <a:tc>
                  <a:txBody>
                    <a:bodyPr/>
                    <a:lstStyle/>
                    <a:p>
                      <a:r>
                        <a:rPr lang="en-US" dirty="0"/>
                        <a:t>Son</a:t>
                      </a:r>
                    </a:p>
                  </a:txBody>
                  <a:tcPr anchor="ctr"/>
                </a:tc>
              </a:tr>
            </a:tbl>
          </a:graphicData>
        </a:graphic>
      </p:graphicFrame>
    </p:spTree>
  </p:cSld>
  <p:clrMapOvr>
    <a:masterClrMapping/>
  </p:clrMapOvr>
  <p:timing>
    <p:tnLst>
      <p:par>
        <p:cTn id="1" dur="indefinite" restart="never" nodeType="tmRoot"/>
      </p:par>
    </p:tn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591312"/>
          </a:xfrm>
        </p:spPr>
        <p:txBody>
          <a:bodyPr>
            <a:noAutofit/>
          </a:bodyPr>
          <a:lstStyle/>
          <a:p>
            <a:r>
              <a:rPr lang="en-US" sz="4000" b="1" dirty="0" smtClean="0"/>
              <a:t>Tabular Representation of Relationship Sets</a:t>
            </a:r>
            <a:endParaRPr lang="en-US" sz="4000" dirty="0"/>
          </a:p>
        </p:txBody>
      </p:sp>
      <p:sp>
        <p:nvSpPr>
          <p:cNvPr id="3" name="Content Placeholder 2"/>
          <p:cNvSpPr>
            <a:spLocks noGrp="1"/>
          </p:cNvSpPr>
          <p:nvPr>
            <p:ph idx="1"/>
          </p:nvPr>
        </p:nvSpPr>
        <p:spPr>
          <a:xfrm>
            <a:off x="304800" y="1371600"/>
            <a:ext cx="8382000" cy="4953000"/>
          </a:xfrm>
        </p:spPr>
        <p:txBody>
          <a:bodyPr/>
          <a:lstStyle/>
          <a:p>
            <a:r>
              <a:rPr lang="en-US" sz="2000" dirty="0" smtClean="0"/>
              <a:t>A relationship set represents an association between two or more entity sets in an ER model. During ER-to-Relational Model conversion, the way a relationship is represented depends on its cardinality (1:1, 1:N, M:N) and whether it has its own attributes.</a:t>
            </a:r>
          </a:p>
          <a:p>
            <a:r>
              <a:rPr lang="en-US" dirty="0" smtClean="0"/>
              <a:t>General Rules</a:t>
            </a:r>
          </a:p>
          <a:p>
            <a:endParaRPr lang="en-US" dirty="0" smtClean="0"/>
          </a:p>
          <a:p>
            <a:endParaRPr lang="en-US" dirty="0"/>
          </a:p>
        </p:txBody>
      </p:sp>
      <p:graphicFrame>
        <p:nvGraphicFramePr>
          <p:cNvPr id="4" name="Table 3"/>
          <p:cNvGraphicFramePr>
            <a:graphicFrameLocks noGrp="1"/>
          </p:cNvGraphicFramePr>
          <p:nvPr/>
        </p:nvGraphicFramePr>
        <p:xfrm>
          <a:off x="533400" y="3352800"/>
          <a:ext cx="8305800" cy="3205480"/>
        </p:xfrm>
        <a:graphic>
          <a:graphicData uri="http://schemas.openxmlformats.org/drawingml/2006/table">
            <a:tbl>
              <a:tblPr firstRow="1" bandRow="1">
                <a:tableStyleId>{5C22544A-7EE6-4342-B048-85BDC9FD1C3A}</a:tableStyleId>
              </a:tblPr>
              <a:tblGrid>
                <a:gridCol w="2743200"/>
                <a:gridCol w="5562600"/>
              </a:tblGrid>
              <a:tr h="370840">
                <a:tc>
                  <a:txBody>
                    <a:bodyPr/>
                    <a:lstStyle/>
                    <a:p>
                      <a:r>
                        <a:rPr lang="en-US" dirty="0"/>
                        <a:t>Relationship Type</a:t>
                      </a:r>
                    </a:p>
                  </a:txBody>
                  <a:tcPr anchor="ctr"/>
                </a:tc>
                <a:tc>
                  <a:txBody>
                    <a:bodyPr/>
                    <a:lstStyle/>
                    <a:p>
                      <a:r>
                        <a:rPr lang="en-US"/>
                        <a:t>Tabular Representation</a:t>
                      </a:r>
                    </a:p>
                  </a:txBody>
                  <a:tcPr anchor="ctr"/>
                </a:tc>
              </a:tr>
              <a:tr h="370840">
                <a:tc>
                  <a:txBody>
                    <a:bodyPr/>
                    <a:lstStyle/>
                    <a:p>
                      <a:r>
                        <a:rPr lang="en-US"/>
                        <a:t>One-to-One (1:1)</a:t>
                      </a:r>
                    </a:p>
                  </a:txBody>
                  <a:tcPr anchor="ctr"/>
                </a:tc>
                <a:tc>
                  <a:txBody>
                    <a:bodyPr/>
                    <a:lstStyle/>
                    <a:p>
                      <a:r>
                        <a:rPr lang="en-US" dirty="0"/>
                        <a:t>Add the primary key of one entity as a foreign key in the other entity (or create a separate table if the relationship has attributes).</a:t>
                      </a:r>
                    </a:p>
                  </a:txBody>
                  <a:tcPr anchor="ctr"/>
                </a:tc>
              </a:tr>
              <a:tr h="370840">
                <a:tc>
                  <a:txBody>
                    <a:bodyPr/>
                    <a:lstStyle/>
                    <a:p>
                      <a:r>
                        <a:rPr lang="en-US" dirty="0"/>
                        <a:t>One-to-Many (1:N)</a:t>
                      </a:r>
                    </a:p>
                  </a:txBody>
                  <a:tcPr anchor="ctr"/>
                </a:tc>
                <a:tc>
                  <a:txBody>
                    <a:bodyPr/>
                    <a:lstStyle/>
                    <a:p>
                      <a:r>
                        <a:rPr lang="en-US"/>
                        <a:t>Add the primary key of the "one" side as a foreign key in the "many" side.</a:t>
                      </a:r>
                    </a:p>
                  </a:txBody>
                  <a:tcPr anchor="ctr"/>
                </a:tc>
              </a:tr>
              <a:tr h="370840">
                <a:tc>
                  <a:txBody>
                    <a:bodyPr/>
                    <a:lstStyle/>
                    <a:p>
                      <a:r>
                        <a:rPr lang="en-US"/>
                        <a:t>Many-to-Many (M:N)</a:t>
                      </a:r>
                    </a:p>
                  </a:txBody>
                  <a:tcPr anchor="ctr"/>
                </a:tc>
                <a:tc>
                  <a:txBody>
                    <a:bodyPr/>
                    <a:lstStyle/>
                    <a:p>
                      <a:r>
                        <a:rPr lang="en-US"/>
                        <a:t>Create a separate relationship table containing the primary keys of both entities.</a:t>
                      </a:r>
                    </a:p>
                  </a:txBody>
                  <a:tcPr anchor="ctr"/>
                </a:tc>
              </a:tr>
              <a:tr h="370840">
                <a:tc>
                  <a:txBody>
                    <a:bodyPr/>
                    <a:lstStyle/>
                    <a:p>
                      <a:r>
                        <a:rPr lang="en-US"/>
                        <a:t>Relationship with Attributes</a:t>
                      </a:r>
                    </a:p>
                  </a:txBody>
                  <a:tcPr anchor="ctr"/>
                </a:tc>
                <a:tc>
                  <a:txBody>
                    <a:bodyPr/>
                    <a:lstStyle/>
                    <a:p>
                      <a:r>
                        <a:rPr lang="en-US" dirty="0"/>
                        <a:t>Create a separate table including the foreign keys and the relationship attributes.</a:t>
                      </a:r>
                    </a:p>
                  </a:txBody>
                  <a:tcPr anchor="ctr"/>
                </a:tc>
              </a:tr>
            </a:tbl>
          </a:graphicData>
        </a:graphic>
      </p:graphicFrame>
    </p:spTree>
  </p:cSld>
  <p:clrMapOvr>
    <a:masterClrMapping/>
  </p:clrMapOvr>
  <p:timing>
    <p:tnLst>
      <p:par>
        <p:cTn id="1" dur="indefinite" restart="never" nodeType="tmRoot"/>
      </p:par>
    </p:tn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066800"/>
            <a:ext cx="8229600" cy="5562600"/>
          </a:xfrm>
        </p:spPr>
        <p:txBody>
          <a:bodyPr>
            <a:normAutofit lnSpcReduction="10000"/>
          </a:bodyPr>
          <a:lstStyle/>
          <a:p>
            <a:pPr>
              <a:buNone/>
            </a:pPr>
            <a:r>
              <a:rPr lang="en-US" sz="2000" b="1" dirty="0" smtClean="0"/>
              <a:t>1. One-to-One (1:1) Relationship</a:t>
            </a:r>
          </a:p>
          <a:p>
            <a:pPr>
              <a:buNone/>
            </a:pPr>
            <a:r>
              <a:rPr lang="en-US" sz="2000" b="1" dirty="0" smtClean="0"/>
              <a:t>Example</a:t>
            </a:r>
          </a:p>
          <a:p>
            <a:r>
              <a:rPr lang="en-US" sz="2000" dirty="0" smtClean="0"/>
              <a:t>Each </a:t>
            </a:r>
            <a:r>
              <a:rPr lang="en-US" sz="2000" b="1" dirty="0" smtClean="0"/>
              <a:t>Person</a:t>
            </a:r>
            <a:r>
              <a:rPr lang="en-US" sz="2000" dirty="0" smtClean="0"/>
              <a:t> has one </a:t>
            </a:r>
            <a:r>
              <a:rPr lang="en-US" sz="2000" b="1" dirty="0" smtClean="0"/>
              <a:t>Passport</a:t>
            </a:r>
            <a:r>
              <a:rPr lang="en-US" sz="2000" dirty="0" smtClean="0"/>
              <a:t>, and each </a:t>
            </a:r>
            <a:r>
              <a:rPr lang="en-US" sz="2000" b="1" dirty="0" smtClean="0"/>
              <a:t>Passport</a:t>
            </a:r>
            <a:r>
              <a:rPr lang="en-US" sz="2000" dirty="0" smtClean="0"/>
              <a:t> belongs to only one </a:t>
            </a:r>
            <a:r>
              <a:rPr lang="en-US" sz="2000" b="1" dirty="0" smtClean="0"/>
              <a:t>Person</a:t>
            </a:r>
            <a:r>
              <a:rPr lang="en-US" sz="2000" dirty="0" smtClean="0"/>
              <a:t>.</a:t>
            </a:r>
          </a:p>
          <a:p>
            <a:pPr>
              <a:buNone/>
            </a:pPr>
            <a:r>
              <a:rPr lang="en-US" sz="2000" b="1" dirty="0" smtClean="0"/>
              <a:t>ER Diagram</a:t>
            </a:r>
          </a:p>
          <a:p>
            <a:r>
              <a:rPr lang="en-US" sz="2000" dirty="0" smtClean="0"/>
              <a:t>Person ---------------- Has ---------------- Passport </a:t>
            </a:r>
          </a:p>
          <a:p>
            <a:pPr>
              <a:buNone/>
            </a:pPr>
            <a:r>
              <a:rPr lang="en-US" sz="2000" dirty="0" smtClean="0"/>
              <a:t>		1                                                               1</a:t>
            </a:r>
          </a:p>
          <a:p>
            <a:pPr>
              <a:buNone/>
            </a:pPr>
            <a:r>
              <a:rPr lang="en-US" sz="2000" b="1" dirty="0" smtClean="0"/>
              <a:t>Person Table</a:t>
            </a:r>
          </a:p>
          <a:p>
            <a:pPr>
              <a:buNone/>
            </a:pPr>
            <a:endParaRPr lang="en-US" sz="2000" b="1" dirty="0" smtClean="0"/>
          </a:p>
          <a:p>
            <a:pPr>
              <a:buNone/>
            </a:pPr>
            <a:endParaRPr lang="en-US" sz="2000" b="1" dirty="0" smtClean="0"/>
          </a:p>
          <a:p>
            <a:pPr>
              <a:buNone/>
            </a:pPr>
            <a:endParaRPr lang="en-US" sz="2000" b="1" dirty="0" smtClean="0"/>
          </a:p>
          <a:p>
            <a:pPr>
              <a:buNone/>
            </a:pPr>
            <a:r>
              <a:rPr lang="en-US" sz="2000" b="1" dirty="0" smtClean="0"/>
              <a:t>Passport Table</a:t>
            </a:r>
          </a:p>
          <a:p>
            <a:pPr>
              <a:buNone/>
            </a:pPr>
            <a:endParaRPr lang="en-US" sz="2000" b="1" dirty="0" smtClean="0"/>
          </a:p>
          <a:p>
            <a:pPr>
              <a:buNone/>
            </a:pPr>
            <a:endParaRPr lang="en-US" sz="2000" b="1" dirty="0" smtClean="0"/>
          </a:p>
          <a:p>
            <a:pPr>
              <a:buNone/>
            </a:pPr>
            <a:endParaRPr lang="en-US" sz="2000" b="1" dirty="0" smtClean="0"/>
          </a:p>
          <a:p>
            <a:r>
              <a:rPr lang="en-US" sz="2000" dirty="0" smtClean="0"/>
              <a:t>Here, </a:t>
            </a:r>
            <a:r>
              <a:rPr lang="en-US" sz="2000" b="1" dirty="0" err="1" smtClean="0"/>
              <a:t>Person_ID</a:t>
            </a:r>
            <a:r>
              <a:rPr lang="en-US" sz="2000" dirty="0" smtClean="0"/>
              <a:t> is stored as a </a:t>
            </a:r>
            <a:r>
              <a:rPr lang="en-US" sz="2000" b="1" dirty="0" smtClean="0"/>
              <a:t>Foreign Key</a:t>
            </a:r>
            <a:r>
              <a:rPr lang="en-US" sz="2000" dirty="0" smtClean="0"/>
              <a:t> in the Passport table.</a:t>
            </a:r>
          </a:p>
          <a:p>
            <a:endParaRPr lang="en-US" sz="2000" dirty="0"/>
          </a:p>
        </p:txBody>
      </p:sp>
      <p:graphicFrame>
        <p:nvGraphicFramePr>
          <p:cNvPr id="4" name="Table 3"/>
          <p:cNvGraphicFramePr>
            <a:graphicFrameLocks noGrp="1"/>
          </p:cNvGraphicFramePr>
          <p:nvPr/>
        </p:nvGraphicFramePr>
        <p:xfrm>
          <a:off x="2362200" y="3352800"/>
          <a:ext cx="6096000" cy="1112520"/>
        </p:xfrm>
        <a:graphic>
          <a:graphicData uri="http://schemas.openxmlformats.org/drawingml/2006/table">
            <a:tbl>
              <a:tblPr firstRow="1" bandRow="1">
                <a:tableStyleId>{5C22544A-7EE6-4342-B048-85BDC9FD1C3A}</a:tableStyleId>
              </a:tblPr>
              <a:tblGrid>
                <a:gridCol w="2032000"/>
                <a:gridCol w="2032000"/>
                <a:gridCol w="2032000"/>
              </a:tblGrid>
              <a:tr h="370840">
                <a:tc>
                  <a:txBody>
                    <a:bodyPr/>
                    <a:lstStyle/>
                    <a:p>
                      <a:r>
                        <a:rPr lang="en-US" dirty="0" err="1"/>
                        <a:t>Person_ID</a:t>
                      </a:r>
                      <a:r>
                        <a:rPr lang="en-US" dirty="0"/>
                        <a:t> (PK)</a:t>
                      </a:r>
                    </a:p>
                  </a:txBody>
                  <a:tcPr anchor="ctr"/>
                </a:tc>
                <a:tc>
                  <a:txBody>
                    <a:bodyPr/>
                    <a:lstStyle/>
                    <a:p>
                      <a:r>
                        <a:rPr lang="en-US" dirty="0"/>
                        <a:t>Name</a:t>
                      </a:r>
                    </a:p>
                  </a:txBody>
                  <a:tcPr anchor="ctr"/>
                </a:tc>
                <a:tc>
                  <a:txBody>
                    <a:bodyPr/>
                    <a:lstStyle/>
                    <a:p>
                      <a:r>
                        <a:rPr lang="en-US"/>
                        <a:t>City</a:t>
                      </a:r>
                    </a:p>
                  </a:txBody>
                  <a:tcPr anchor="ctr"/>
                </a:tc>
              </a:tr>
              <a:tr h="370840">
                <a:tc>
                  <a:txBody>
                    <a:bodyPr/>
                    <a:lstStyle/>
                    <a:p>
                      <a:r>
                        <a:rPr lang="en-US"/>
                        <a:t>P101</a:t>
                      </a:r>
                    </a:p>
                  </a:txBody>
                  <a:tcPr anchor="ctr"/>
                </a:tc>
                <a:tc>
                  <a:txBody>
                    <a:bodyPr/>
                    <a:lstStyle/>
                    <a:p>
                      <a:r>
                        <a:rPr lang="en-US" dirty="0" err="1"/>
                        <a:t>Amit</a:t>
                      </a:r>
                      <a:endParaRPr lang="en-US" dirty="0"/>
                    </a:p>
                  </a:txBody>
                  <a:tcPr anchor="ctr"/>
                </a:tc>
                <a:tc>
                  <a:txBody>
                    <a:bodyPr/>
                    <a:lstStyle/>
                    <a:p>
                      <a:r>
                        <a:rPr lang="en-US"/>
                        <a:t>Delhi</a:t>
                      </a:r>
                    </a:p>
                  </a:txBody>
                  <a:tcPr anchor="ctr"/>
                </a:tc>
              </a:tr>
              <a:tr h="370840">
                <a:tc>
                  <a:txBody>
                    <a:bodyPr/>
                    <a:lstStyle/>
                    <a:p>
                      <a:r>
                        <a:rPr lang="en-US"/>
                        <a:t>P102</a:t>
                      </a:r>
                    </a:p>
                  </a:txBody>
                  <a:tcPr anchor="ctr"/>
                </a:tc>
                <a:tc>
                  <a:txBody>
                    <a:bodyPr/>
                    <a:lstStyle/>
                    <a:p>
                      <a:r>
                        <a:rPr lang="en-US"/>
                        <a:t>Priya</a:t>
                      </a:r>
                    </a:p>
                  </a:txBody>
                  <a:tcPr anchor="ctr"/>
                </a:tc>
                <a:tc>
                  <a:txBody>
                    <a:bodyPr/>
                    <a:lstStyle/>
                    <a:p>
                      <a:r>
                        <a:rPr lang="en-US" dirty="0" err="1"/>
                        <a:t>Lucknow</a:t>
                      </a:r>
                      <a:endParaRPr lang="en-US" dirty="0"/>
                    </a:p>
                  </a:txBody>
                  <a:tcPr anchor="ctr"/>
                </a:tc>
              </a:tr>
            </a:tbl>
          </a:graphicData>
        </a:graphic>
      </p:graphicFrame>
      <p:graphicFrame>
        <p:nvGraphicFramePr>
          <p:cNvPr id="5" name="Table 4"/>
          <p:cNvGraphicFramePr>
            <a:graphicFrameLocks noGrp="1"/>
          </p:cNvGraphicFramePr>
          <p:nvPr/>
        </p:nvGraphicFramePr>
        <p:xfrm>
          <a:off x="1905000" y="4953000"/>
          <a:ext cx="7010400" cy="1112520"/>
        </p:xfrm>
        <a:graphic>
          <a:graphicData uri="http://schemas.openxmlformats.org/drawingml/2006/table">
            <a:tbl>
              <a:tblPr firstRow="1" bandRow="1">
                <a:tableStyleId>{5C22544A-7EE6-4342-B048-85BDC9FD1C3A}</a:tableStyleId>
              </a:tblPr>
              <a:tblGrid>
                <a:gridCol w="2336800"/>
                <a:gridCol w="2336800"/>
                <a:gridCol w="2336800"/>
              </a:tblGrid>
              <a:tr h="370840">
                <a:tc>
                  <a:txBody>
                    <a:bodyPr/>
                    <a:lstStyle/>
                    <a:p>
                      <a:r>
                        <a:rPr lang="en-US" dirty="0" err="1"/>
                        <a:t>Passport_No</a:t>
                      </a:r>
                      <a:r>
                        <a:rPr lang="en-US" dirty="0"/>
                        <a:t> (PK)</a:t>
                      </a:r>
                    </a:p>
                  </a:txBody>
                  <a:tcPr anchor="ctr"/>
                </a:tc>
                <a:tc>
                  <a:txBody>
                    <a:bodyPr/>
                    <a:lstStyle/>
                    <a:p>
                      <a:r>
                        <a:rPr lang="en-US"/>
                        <a:t>Issue_Date</a:t>
                      </a:r>
                    </a:p>
                  </a:txBody>
                  <a:tcPr anchor="ctr"/>
                </a:tc>
                <a:tc>
                  <a:txBody>
                    <a:bodyPr/>
                    <a:lstStyle/>
                    <a:p>
                      <a:r>
                        <a:rPr lang="en-US"/>
                        <a:t>Person_ID (FK)</a:t>
                      </a:r>
                    </a:p>
                  </a:txBody>
                  <a:tcPr anchor="ctr"/>
                </a:tc>
              </a:tr>
              <a:tr h="370840">
                <a:tc>
                  <a:txBody>
                    <a:bodyPr/>
                    <a:lstStyle/>
                    <a:p>
                      <a:r>
                        <a:rPr lang="en-US"/>
                        <a:t>A12345</a:t>
                      </a:r>
                    </a:p>
                  </a:txBody>
                  <a:tcPr anchor="ctr"/>
                </a:tc>
                <a:tc>
                  <a:txBody>
                    <a:bodyPr/>
                    <a:lstStyle/>
                    <a:p>
                      <a:r>
                        <a:rPr lang="en-US"/>
                        <a:t>15-Jan-2024</a:t>
                      </a:r>
                    </a:p>
                  </a:txBody>
                  <a:tcPr anchor="ctr"/>
                </a:tc>
                <a:tc>
                  <a:txBody>
                    <a:bodyPr/>
                    <a:lstStyle/>
                    <a:p>
                      <a:r>
                        <a:rPr lang="en-US"/>
                        <a:t>P101</a:t>
                      </a:r>
                    </a:p>
                  </a:txBody>
                  <a:tcPr anchor="ctr"/>
                </a:tc>
              </a:tr>
              <a:tr h="370840">
                <a:tc>
                  <a:txBody>
                    <a:bodyPr/>
                    <a:lstStyle/>
                    <a:p>
                      <a:r>
                        <a:rPr lang="en-US"/>
                        <a:t>B56789</a:t>
                      </a:r>
                    </a:p>
                  </a:txBody>
                  <a:tcPr anchor="ctr"/>
                </a:tc>
                <a:tc>
                  <a:txBody>
                    <a:bodyPr/>
                    <a:lstStyle/>
                    <a:p>
                      <a:r>
                        <a:rPr lang="en-US"/>
                        <a:t>20-Feb-2024</a:t>
                      </a:r>
                    </a:p>
                  </a:txBody>
                  <a:tcPr anchor="ctr"/>
                </a:tc>
                <a:tc>
                  <a:txBody>
                    <a:bodyPr/>
                    <a:lstStyle/>
                    <a:p>
                      <a:r>
                        <a:rPr lang="en-US" dirty="0"/>
                        <a:t>P102</a:t>
                      </a:r>
                    </a:p>
                  </a:txBody>
                  <a:tcPr anchor="ctr"/>
                </a:tc>
              </a:tr>
            </a:tbl>
          </a:graphicData>
        </a:graphic>
      </p:graphicFrame>
    </p:spTree>
  </p:cSld>
  <p:clrMapOvr>
    <a:masterClrMapping/>
  </p:clrMapOvr>
  <p:timing>
    <p:tnLst>
      <p:par>
        <p:cTn id="1" dur="indefinite" restart="never" nodeType="tmRoot"/>
      </p:par>
    </p:tn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6172200"/>
          </a:xfrm>
        </p:spPr>
        <p:txBody>
          <a:bodyPr>
            <a:normAutofit fontScale="77500" lnSpcReduction="20000"/>
          </a:bodyPr>
          <a:lstStyle/>
          <a:p>
            <a:pPr>
              <a:buNone/>
            </a:pPr>
            <a:r>
              <a:rPr lang="en-US" b="1" dirty="0" smtClean="0"/>
              <a:t>2. One-to-Many (1:N) Relationship</a:t>
            </a:r>
          </a:p>
          <a:p>
            <a:pPr>
              <a:buNone/>
            </a:pPr>
            <a:r>
              <a:rPr lang="en-US" b="1" dirty="0" smtClean="0"/>
              <a:t>Example</a:t>
            </a:r>
          </a:p>
          <a:p>
            <a:r>
              <a:rPr lang="en-US" dirty="0" smtClean="0"/>
              <a:t>One </a:t>
            </a:r>
            <a:r>
              <a:rPr lang="en-US" b="1" dirty="0" smtClean="0"/>
              <a:t>Department</a:t>
            </a:r>
            <a:r>
              <a:rPr lang="en-US" dirty="0" smtClean="0"/>
              <a:t> has many </a:t>
            </a:r>
            <a:r>
              <a:rPr lang="en-US" b="1" dirty="0" smtClean="0"/>
              <a:t>Employees</a:t>
            </a:r>
            <a:r>
              <a:rPr lang="en-US" dirty="0" smtClean="0"/>
              <a:t>, but each employee belongs to only one department.</a:t>
            </a:r>
          </a:p>
          <a:p>
            <a:pPr>
              <a:buNone/>
            </a:pPr>
            <a:r>
              <a:rPr lang="en-US" b="1" dirty="0" smtClean="0"/>
              <a:t>ER Diagram</a:t>
            </a:r>
          </a:p>
          <a:p>
            <a:pPr>
              <a:buNone/>
            </a:pPr>
            <a:r>
              <a:rPr lang="en-US" dirty="0" smtClean="0"/>
              <a:t>Department -------- </a:t>
            </a:r>
            <a:r>
              <a:rPr lang="en-US" dirty="0" err="1" smtClean="0"/>
              <a:t>Works_For</a:t>
            </a:r>
            <a:r>
              <a:rPr lang="en-US" dirty="0" smtClean="0"/>
              <a:t> -------- Employee </a:t>
            </a:r>
          </a:p>
          <a:p>
            <a:pPr lvl="1">
              <a:buNone/>
            </a:pPr>
            <a:r>
              <a:rPr lang="en-US" dirty="0" smtClean="0"/>
              <a:t>1                                                                       N</a:t>
            </a:r>
          </a:p>
          <a:p>
            <a:r>
              <a:rPr lang="en-US" b="1" dirty="0" smtClean="0"/>
              <a:t>Department Table</a:t>
            </a:r>
          </a:p>
          <a:p>
            <a:endParaRPr lang="en-US" b="1" dirty="0" smtClean="0"/>
          </a:p>
          <a:p>
            <a:endParaRPr lang="en-US" b="1" dirty="0" smtClean="0"/>
          </a:p>
          <a:p>
            <a:endParaRPr lang="en-US" b="1" dirty="0" smtClean="0"/>
          </a:p>
          <a:p>
            <a:endParaRPr lang="en-US" b="1" dirty="0" smtClean="0"/>
          </a:p>
          <a:p>
            <a:r>
              <a:rPr lang="en-US" b="1" dirty="0" smtClean="0"/>
              <a:t>Employee Table</a:t>
            </a:r>
          </a:p>
          <a:p>
            <a:endParaRPr lang="en-US" b="1" dirty="0" smtClean="0"/>
          </a:p>
          <a:p>
            <a:endParaRPr lang="en-US" dirty="0" smtClean="0"/>
          </a:p>
          <a:p>
            <a:endParaRPr lang="en-US" dirty="0" smtClean="0"/>
          </a:p>
          <a:p>
            <a:endParaRPr lang="en-US" dirty="0" smtClean="0"/>
          </a:p>
          <a:p>
            <a:endParaRPr lang="en-US" dirty="0" smtClean="0"/>
          </a:p>
          <a:p>
            <a:endParaRPr lang="en-US" dirty="0" smtClean="0"/>
          </a:p>
          <a:p>
            <a:r>
              <a:rPr lang="en-US" dirty="0" smtClean="0"/>
              <a:t>The </a:t>
            </a:r>
            <a:r>
              <a:rPr lang="en-US" b="1" dirty="0" smtClean="0"/>
              <a:t>foreign key</a:t>
            </a:r>
            <a:r>
              <a:rPr lang="en-US" dirty="0" smtClean="0"/>
              <a:t> is placed on the </a:t>
            </a:r>
            <a:r>
              <a:rPr lang="en-US" b="1" dirty="0" smtClean="0"/>
              <a:t>many side</a:t>
            </a:r>
            <a:r>
              <a:rPr lang="en-US" dirty="0" smtClean="0"/>
              <a:t> (Employee).</a:t>
            </a:r>
          </a:p>
          <a:p>
            <a:endParaRPr lang="en-US" dirty="0"/>
          </a:p>
        </p:txBody>
      </p:sp>
      <p:graphicFrame>
        <p:nvGraphicFramePr>
          <p:cNvPr id="4" name="Table 3"/>
          <p:cNvGraphicFramePr>
            <a:graphicFrameLocks noGrp="1"/>
          </p:cNvGraphicFramePr>
          <p:nvPr/>
        </p:nvGraphicFramePr>
        <p:xfrm>
          <a:off x="3048000" y="2819400"/>
          <a:ext cx="4876800" cy="1112520"/>
        </p:xfrm>
        <a:graphic>
          <a:graphicData uri="http://schemas.openxmlformats.org/drawingml/2006/table">
            <a:tbl>
              <a:tblPr firstRow="1" bandRow="1">
                <a:tableStyleId>{5C22544A-7EE6-4342-B048-85BDC9FD1C3A}</a:tableStyleId>
              </a:tblPr>
              <a:tblGrid>
                <a:gridCol w="2438400"/>
                <a:gridCol w="2438400"/>
              </a:tblGrid>
              <a:tr h="370840">
                <a:tc>
                  <a:txBody>
                    <a:bodyPr/>
                    <a:lstStyle/>
                    <a:p>
                      <a:r>
                        <a:rPr lang="en-US" dirty="0" err="1"/>
                        <a:t>Dept_ID</a:t>
                      </a:r>
                      <a:r>
                        <a:rPr lang="en-US" dirty="0"/>
                        <a:t> (PK)</a:t>
                      </a:r>
                    </a:p>
                  </a:txBody>
                  <a:tcPr anchor="ctr"/>
                </a:tc>
                <a:tc>
                  <a:txBody>
                    <a:bodyPr/>
                    <a:lstStyle/>
                    <a:p>
                      <a:r>
                        <a:rPr lang="en-US"/>
                        <a:t>Department_Name</a:t>
                      </a:r>
                    </a:p>
                  </a:txBody>
                  <a:tcPr anchor="ctr"/>
                </a:tc>
              </a:tr>
              <a:tr h="370840">
                <a:tc>
                  <a:txBody>
                    <a:bodyPr/>
                    <a:lstStyle/>
                    <a:p>
                      <a:r>
                        <a:rPr lang="en-US"/>
                        <a:t>D101</a:t>
                      </a:r>
                    </a:p>
                  </a:txBody>
                  <a:tcPr anchor="ctr"/>
                </a:tc>
                <a:tc>
                  <a:txBody>
                    <a:bodyPr/>
                    <a:lstStyle/>
                    <a:p>
                      <a:r>
                        <a:rPr lang="en-US"/>
                        <a:t>CSE</a:t>
                      </a:r>
                    </a:p>
                  </a:txBody>
                  <a:tcPr anchor="ctr"/>
                </a:tc>
              </a:tr>
              <a:tr h="370840">
                <a:tc>
                  <a:txBody>
                    <a:bodyPr/>
                    <a:lstStyle/>
                    <a:p>
                      <a:r>
                        <a:rPr lang="en-US"/>
                        <a:t>D102</a:t>
                      </a:r>
                    </a:p>
                  </a:txBody>
                  <a:tcPr anchor="ctr"/>
                </a:tc>
                <a:tc>
                  <a:txBody>
                    <a:bodyPr/>
                    <a:lstStyle/>
                    <a:p>
                      <a:r>
                        <a:rPr lang="en-US" dirty="0"/>
                        <a:t>IT</a:t>
                      </a:r>
                    </a:p>
                  </a:txBody>
                  <a:tcPr anchor="ctr"/>
                </a:tc>
              </a:tr>
            </a:tbl>
          </a:graphicData>
        </a:graphic>
      </p:graphicFrame>
      <p:graphicFrame>
        <p:nvGraphicFramePr>
          <p:cNvPr id="5" name="Table 4"/>
          <p:cNvGraphicFramePr>
            <a:graphicFrameLocks noGrp="1"/>
          </p:cNvGraphicFramePr>
          <p:nvPr/>
        </p:nvGraphicFramePr>
        <p:xfrm>
          <a:off x="2057400" y="4419600"/>
          <a:ext cx="6096000" cy="1752600"/>
        </p:xfrm>
        <a:graphic>
          <a:graphicData uri="http://schemas.openxmlformats.org/drawingml/2006/table">
            <a:tbl>
              <a:tblPr firstRow="1" bandRow="1">
                <a:tableStyleId>{5C22544A-7EE6-4342-B048-85BDC9FD1C3A}</a:tableStyleId>
              </a:tblPr>
              <a:tblGrid>
                <a:gridCol w="1524000"/>
                <a:gridCol w="1524000"/>
                <a:gridCol w="1524000"/>
                <a:gridCol w="1524000"/>
              </a:tblGrid>
              <a:tr h="370840">
                <a:tc>
                  <a:txBody>
                    <a:bodyPr/>
                    <a:lstStyle/>
                    <a:p>
                      <a:r>
                        <a:rPr lang="en-US" dirty="0" err="1"/>
                        <a:t>Emp_ID</a:t>
                      </a:r>
                      <a:r>
                        <a:rPr lang="en-US" dirty="0"/>
                        <a:t> (PK)</a:t>
                      </a:r>
                    </a:p>
                  </a:txBody>
                  <a:tcPr anchor="ctr"/>
                </a:tc>
                <a:tc>
                  <a:txBody>
                    <a:bodyPr/>
                    <a:lstStyle/>
                    <a:p>
                      <a:r>
                        <a:rPr lang="en-US"/>
                        <a:t>Name</a:t>
                      </a:r>
                    </a:p>
                  </a:txBody>
                  <a:tcPr anchor="ctr"/>
                </a:tc>
                <a:tc>
                  <a:txBody>
                    <a:bodyPr/>
                    <a:lstStyle/>
                    <a:p>
                      <a:r>
                        <a:rPr lang="en-US"/>
                        <a:t>Salary</a:t>
                      </a:r>
                    </a:p>
                  </a:txBody>
                  <a:tcPr anchor="ctr"/>
                </a:tc>
                <a:tc>
                  <a:txBody>
                    <a:bodyPr/>
                    <a:lstStyle/>
                    <a:p>
                      <a:r>
                        <a:rPr lang="en-US"/>
                        <a:t>Dept_ID (FK)</a:t>
                      </a:r>
                    </a:p>
                  </a:txBody>
                  <a:tcPr anchor="ctr"/>
                </a:tc>
              </a:tr>
              <a:tr h="370840">
                <a:tc>
                  <a:txBody>
                    <a:bodyPr/>
                    <a:lstStyle/>
                    <a:p>
                      <a:r>
                        <a:rPr lang="en-US"/>
                        <a:t>E101</a:t>
                      </a:r>
                    </a:p>
                  </a:txBody>
                  <a:tcPr anchor="ctr"/>
                </a:tc>
                <a:tc>
                  <a:txBody>
                    <a:bodyPr/>
                    <a:lstStyle/>
                    <a:p>
                      <a:r>
                        <a:rPr lang="en-US" dirty="0"/>
                        <a:t>Ravi</a:t>
                      </a:r>
                    </a:p>
                  </a:txBody>
                  <a:tcPr anchor="ctr"/>
                </a:tc>
                <a:tc>
                  <a:txBody>
                    <a:bodyPr/>
                    <a:lstStyle/>
                    <a:p>
                      <a:r>
                        <a:rPr lang="en-US"/>
                        <a:t>45000</a:t>
                      </a:r>
                    </a:p>
                  </a:txBody>
                  <a:tcPr anchor="ctr"/>
                </a:tc>
                <a:tc>
                  <a:txBody>
                    <a:bodyPr/>
                    <a:lstStyle/>
                    <a:p>
                      <a:r>
                        <a:rPr lang="en-US"/>
                        <a:t>D101</a:t>
                      </a:r>
                    </a:p>
                  </a:txBody>
                  <a:tcPr anchor="ctr"/>
                </a:tc>
              </a:tr>
              <a:tr h="370840">
                <a:tc>
                  <a:txBody>
                    <a:bodyPr/>
                    <a:lstStyle/>
                    <a:p>
                      <a:r>
                        <a:rPr lang="en-US"/>
                        <a:t>E102</a:t>
                      </a:r>
                    </a:p>
                  </a:txBody>
                  <a:tcPr anchor="ctr"/>
                </a:tc>
                <a:tc>
                  <a:txBody>
                    <a:bodyPr/>
                    <a:lstStyle/>
                    <a:p>
                      <a:r>
                        <a:rPr lang="en-US"/>
                        <a:t>Neha</a:t>
                      </a:r>
                    </a:p>
                  </a:txBody>
                  <a:tcPr anchor="ctr"/>
                </a:tc>
                <a:tc>
                  <a:txBody>
                    <a:bodyPr/>
                    <a:lstStyle/>
                    <a:p>
                      <a:r>
                        <a:rPr lang="en-US"/>
                        <a:t>52000</a:t>
                      </a:r>
                    </a:p>
                  </a:txBody>
                  <a:tcPr anchor="ctr"/>
                </a:tc>
                <a:tc>
                  <a:txBody>
                    <a:bodyPr/>
                    <a:lstStyle/>
                    <a:p>
                      <a:r>
                        <a:rPr lang="en-US"/>
                        <a:t>D101</a:t>
                      </a:r>
                    </a:p>
                  </a:txBody>
                  <a:tcPr anchor="ctr"/>
                </a:tc>
              </a:tr>
              <a:tr h="370840">
                <a:tc>
                  <a:txBody>
                    <a:bodyPr/>
                    <a:lstStyle/>
                    <a:p>
                      <a:r>
                        <a:rPr lang="en-US"/>
                        <a:t>E103</a:t>
                      </a:r>
                    </a:p>
                  </a:txBody>
                  <a:tcPr anchor="ctr"/>
                </a:tc>
                <a:tc>
                  <a:txBody>
                    <a:bodyPr/>
                    <a:lstStyle/>
                    <a:p>
                      <a:r>
                        <a:rPr lang="en-US"/>
                        <a:t>Mohit</a:t>
                      </a:r>
                    </a:p>
                  </a:txBody>
                  <a:tcPr anchor="ctr"/>
                </a:tc>
                <a:tc>
                  <a:txBody>
                    <a:bodyPr/>
                    <a:lstStyle/>
                    <a:p>
                      <a:r>
                        <a:rPr lang="en-US"/>
                        <a:t>48000</a:t>
                      </a:r>
                    </a:p>
                  </a:txBody>
                  <a:tcPr anchor="ctr"/>
                </a:tc>
                <a:tc>
                  <a:txBody>
                    <a:bodyPr/>
                    <a:lstStyle/>
                    <a:p>
                      <a:r>
                        <a:rPr lang="en-US" dirty="0"/>
                        <a:t>D102</a:t>
                      </a:r>
                    </a:p>
                  </a:txBody>
                  <a:tcPr anchor="ctr"/>
                </a:tc>
              </a:tr>
            </a:tbl>
          </a:graphicData>
        </a:graphic>
      </p:graphicFrame>
    </p:spTree>
  </p:cSld>
  <p:clrMapOvr>
    <a:masterClrMapping/>
  </p:clrMapOvr>
  <p:timing>
    <p:tnLst>
      <p:par>
        <p:cTn id="1" dur="indefinite" restart="never" nodeType="tmRoot"/>
      </p:par>
    </p:tn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85800"/>
            <a:ext cx="8229600" cy="6096000"/>
          </a:xfrm>
        </p:spPr>
        <p:txBody>
          <a:bodyPr>
            <a:normAutofit fontScale="55000" lnSpcReduction="20000"/>
          </a:bodyPr>
          <a:lstStyle/>
          <a:p>
            <a:pPr>
              <a:buNone/>
            </a:pPr>
            <a:r>
              <a:rPr lang="en-US" b="1" dirty="0" smtClean="0"/>
              <a:t>3. Many-to-Many (M:N) Relationship</a:t>
            </a:r>
          </a:p>
          <a:p>
            <a:pPr>
              <a:buNone/>
            </a:pPr>
            <a:r>
              <a:rPr lang="en-US" b="1" dirty="0" smtClean="0"/>
              <a:t>Example</a:t>
            </a:r>
          </a:p>
          <a:p>
            <a:r>
              <a:rPr lang="en-US" dirty="0" smtClean="0"/>
              <a:t>A </a:t>
            </a:r>
            <a:r>
              <a:rPr lang="en-US" b="1" dirty="0" smtClean="0"/>
              <a:t>Student</a:t>
            </a:r>
            <a:r>
              <a:rPr lang="en-US" dirty="0" smtClean="0"/>
              <a:t> can enroll in many </a:t>
            </a:r>
            <a:r>
              <a:rPr lang="en-US" b="1" dirty="0" smtClean="0"/>
              <a:t>Courses</a:t>
            </a:r>
            <a:r>
              <a:rPr lang="en-US" dirty="0" smtClean="0"/>
              <a:t>, and a </a:t>
            </a:r>
            <a:r>
              <a:rPr lang="en-US" b="1" dirty="0" smtClean="0"/>
              <a:t>Course</a:t>
            </a:r>
            <a:r>
              <a:rPr lang="en-US" dirty="0" smtClean="0"/>
              <a:t> can have many </a:t>
            </a:r>
            <a:r>
              <a:rPr lang="en-US" b="1" dirty="0" smtClean="0"/>
              <a:t>Students</a:t>
            </a:r>
            <a:r>
              <a:rPr lang="en-US" dirty="0" smtClean="0"/>
              <a:t>.</a:t>
            </a:r>
          </a:p>
          <a:p>
            <a:pPr>
              <a:buNone/>
            </a:pPr>
            <a:r>
              <a:rPr lang="en-US" b="1" dirty="0" smtClean="0"/>
              <a:t>ER Diagram</a:t>
            </a:r>
          </a:p>
          <a:p>
            <a:pPr>
              <a:buNone/>
            </a:pPr>
            <a:r>
              <a:rPr lang="en-US" dirty="0" smtClean="0"/>
              <a:t>Student -------- Enrolls -------- Course </a:t>
            </a:r>
          </a:p>
          <a:p>
            <a:pPr>
              <a:buNone/>
            </a:pPr>
            <a:r>
              <a:rPr lang="en-US" dirty="0" smtClean="0"/>
              <a:t>	M                                                N</a:t>
            </a:r>
          </a:p>
          <a:p>
            <a:pPr>
              <a:buNone/>
            </a:pPr>
            <a:r>
              <a:rPr lang="en-US" b="1" dirty="0" smtClean="0"/>
              <a:t>Student Table</a:t>
            </a:r>
          </a:p>
          <a:p>
            <a:pPr>
              <a:buNone/>
            </a:pPr>
            <a:endParaRPr lang="en-US" b="1" dirty="0" smtClean="0"/>
          </a:p>
          <a:p>
            <a:endParaRPr lang="en-US" b="1" dirty="0" smtClean="0"/>
          </a:p>
          <a:p>
            <a:endParaRPr lang="en-US" b="1" dirty="0" smtClean="0"/>
          </a:p>
          <a:p>
            <a:endParaRPr lang="en-US" b="1" dirty="0" smtClean="0"/>
          </a:p>
          <a:p>
            <a:endParaRPr lang="en-US" b="1" dirty="0" smtClean="0"/>
          </a:p>
          <a:p>
            <a:pPr>
              <a:buNone/>
            </a:pPr>
            <a:r>
              <a:rPr lang="en-US" b="1" dirty="0" smtClean="0"/>
              <a:t>Course Table</a:t>
            </a:r>
          </a:p>
          <a:p>
            <a:endParaRPr lang="en-US" b="1" dirty="0" smtClean="0"/>
          </a:p>
          <a:p>
            <a:endParaRPr lang="en-US" b="1" dirty="0" smtClean="0"/>
          </a:p>
          <a:p>
            <a:endParaRPr lang="en-US" b="1" dirty="0" smtClean="0"/>
          </a:p>
          <a:p>
            <a:endParaRPr lang="en-US" b="1" dirty="0" smtClean="0"/>
          </a:p>
          <a:p>
            <a:endParaRPr lang="en-US" b="1" dirty="0" smtClean="0"/>
          </a:p>
          <a:p>
            <a:pPr>
              <a:buNone/>
            </a:pPr>
            <a:r>
              <a:rPr lang="en-US" b="1" dirty="0" smtClean="0"/>
              <a:t>Enrollment (Relationship) Table</a:t>
            </a:r>
          </a:p>
          <a:p>
            <a:endParaRPr lang="en-US" b="1" dirty="0" smtClean="0"/>
          </a:p>
          <a:p>
            <a:endParaRPr lang="en-US" b="1" dirty="0" smtClean="0"/>
          </a:p>
          <a:p>
            <a:endParaRPr lang="en-US" b="1" dirty="0" smtClean="0"/>
          </a:p>
          <a:p>
            <a:endParaRPr lang="en-US" b="1" dirty="0" smtClean="0"/>
          </a:p>
          <a:p>
            <a:endParaRPr lang="en-US" b="1" dirty="0" smtClean="0"/>
          </a:p>
          <a:p>
            <a:endParaRPr lang="en-US" b="1" dirty="0" smtClean="0"/>
          </a:p>
          <a:p>
            <a:pPr>
              <a:buNone/>
            </a:pPr>
            <a:r>
              <a:rPr lang="en-US" b="1" dirty="0" smtClean="0"/>
              <a:t>Primary Key</a:t>
            </a:r>
          </a:p>
          <a:p>
            <a:pPr>
              <a:buNone/>
            </a:pPr>
            <a:r>
              <a:rPr lang="en-US" b="1" dirty="0" smtClean="0"/>
              <a:t>(</a:t>
            </a:r>
            <a:r>
              <a:rPr lang="en-US" b="1" dirty="0" err="1" smtClean="0"/>
              <a:t>Roll_No</a:t>
            </a:r>
            <a:r>
              <a:rPr lang="en-US" b="1" dirty="0" smtClean="0"/>
              <a:t>, </a:t>
            </a:r>
            <a:r>
              <a:rPr lang="en-US" b="1" dirty="0" err="1" smtClean="0"/>
              <a:t>Course_ID</a:t>
            </a:r>
            <a:r>
              <a:rPr lang="en-US" b="1" dirty="0" smtClean="0"/>
              <a:t>)</a:t>
            </a:r>
            <a:endParaRPr lang="en-US" dirty="0" smtClean="0"/>
          </a:p>
          <a:p>
            <a:pPr>
              <a:buNone/>
            </a:pPr>
            <a:r>
              <a:rPr lang="en-US" dirty="0" smtClean="0"/>
              <a:t>This table stores the relationship between students and courses.</a:t>
            </a:r>
          </a:p>
          <a:p>
            <a:endParaRPr lang="en-US" dirty="0"/>
          </a:p>
        </p:txBody>
      </p:sp>
      <p:graphicFrame>
        <p:nvGraphicFramePr>
          <p:cNvPr id="4" name="Table 3"/>
          <p:cNvGraphicFramePr>
            <a:graphicFrameLocks noGrp="1"/>
          </p:cNvGraphicFramePr>
          <p:nvPr/>
        </p:nvGraphicFramePr>
        <p:xfrm>
          <a:off x="1981200" y="1981200"/>
          <a:ext cx="5867400" cy="1112520"/>
        </p:xfrm>
        <a:graphic>
          <a:graphicData uri="http://schemas.openxmlformats.org/drawingml/2006/table">
            <a:tbl>
              <a:tblPr firstRow="1" bandRow="1">
                <a:tableStyleId>{5C22544A-7EE6-4342-B048-85BDC9FD1C3A}</a:tableStyleId>
              </a:tblPr>
              <a:tblGrid>
                <a:gridCol w="2933700"/>
                <a:gridCol w="2933700"/>
              </a:tblGrid>
              <a:tr h="370840">
                <a:tc>
                  <a:txBody>
                    <a:bodyPr/>
                    <a:lstStyle/>
                    <a:p>
                      <a:r>
                        <a:rPr lang="en-US" dirty="0" err="1"/>
                        <a:t>Roll_No</a:t>
                      </a:r>
                      <a:r>
                        <a:rPr lang="en-US" dirty="0"/>
                        <a:t> (PK)</a:t>
                      </a:r>
                    </a:p>
                  </a:txBody>
                  <a:tcPr anchor="ctr"/>
                </a:tc>
                <a:tc>
                  <a:txBody>
                    <a:bodyPr/>
                    <a:lstStyle/>
                    <a:p>
                      <a:r>
                        <a:rPr lang="en-US"/>
                        <a:t>Name</a:t>
                      </a:r>
                    </a:p>
                  </a:txBody>
                  <a:tcPr anchor="ctr"/>
                </a:tc>
              </a:tr>
              <a:tr h="370840">
                <a:tc>
                  <a:txBody>
                    <a:bodyPr/>
                    <a:lstStyle/>
                    <a:p>
                      <a:r>
                        <a:rPr lang="en-US"/>
                        <a:t>101</a:t>
                      </a:r>
                    </a:p>
                  </a:txBody>
                  <a:tcPr anchor="ctr"/>
                </a:tc>
                <a:tc>
                  <a:txBody>
                    <a:bodyPr/>
                    <a:lstStyle/>
                    <a:p>
                      <a:r>
                        <a:rPr lang="en-US"/>
                        <a:t>Amit</a:t>
                      </a:r>
                    </a:p>
                  </a:txBody>
                  <a:tcPr anchor="ctr"/>
                </a:tc>
              </a:tr>
              <a:tr h="370840">
                <a:tc>
                  <a:txBody>
                    <a:bodyPr/>
                    <a:lstStyle/>
                    <a:p>
                      <a:r>
                        <a:rPr lang="en-US" dirty="0"/>
                        <a:t>102</a:t>
                      </a:r>
                    </a:p>
                  </a:txBody>
                  <a:tcPr anchor="ctr"/>
                </a:tc>
                <a:tc>
                  <a:txBody>
                    <a:bodyPr/>
                    <a:lstStyle/>
                    <a:p>
                      <a:r>
                        <a:rPr lang="en-US" dirty="0" err="1"/>
                        <a:t>Priya</a:t>
                      </a:r>
                      <a:endParaRPr lang="en-US" dirty="0"/>
                    </a:p>
                  </a:txBody>
                  <a:tcPr anchor="ctr"/>
                </a:tc>
              </a:tr>
            </a:tbl>
          </a:graphicData>
        </a:graphic>
      </p:graphicFrame>
      <p:graphicFrame>
        <p:nvGraphicFramePr>
          <p:cNvPr id="5" name="Table 4"/>
          <p:cNvGraphicFramePr>
            <a:graphicFrameLocks noGrp="1"/>
          </p:cNvGraphicFramePr>
          <p:nvPr/>
        </p:nvGraphicFramePr>
        <p:xfrm>
          <a:off x="2057400" y="3200400"/>
          <a:ext cx="5943600" cy="1112520"/>
        </p:xfrm>
        <a:graphic>
          <a:graphicData uri="http://schemas.openxmlformats.org/drawingml/2006/table">
            <a:tbl>
              <a:tblPr firstRow="1" bandRow="1">
                <a:tableStyleId>{5C22544A-7EE6-4342-B048-85BDC9FD1C3A}</a:tableStyleId>
              </a:tblPr>
              <a:tblGrid>
                <a:gridCol w="2971800"/>
                <a:gridCol w="2971800"/>
              </a:tblGrid>
              <a:tr h="370840">
                <a:tc>
                  <a:txBody>
                    <a:bodyPr/>
                    <a:lstStyle/>
                    <a:p>
                      <a:r>
                        <a:rPr lang="en-US" dirty="0" err="1"/>
                        <a:t>Course_ID</a:t>
                      </a:r>
                      <a:r>
                        <a:rPr lang="en-US" dirty="0"/>
                        <a:t> (PK)</a:t>
                      </a:r>
                    </a:p>
                  </a:txBody>
                  <a:tcPr anchor="ctr"/>
                </a:tc>
                <a:tc>
                  <a:txBody>
                    <a:bodyPr/>
                    <a:lstStyle/>
                    <a:p>
                      <a:r>
                        <a:rPr lang="en-US"/>
                        <a:t>Course_Name</a:t>
                      </a:r>
                    </a:p>
                  </a:txBody>
                  <a:tcPr anchor="ctr"/>
                </a:tc>
              </a:tr>
              <a:tr h="370840">
                <a:tc>
                  <a:txBody>
                    <a:bodyPr/>
                    <a:lstStyle/>
                    <a:p>
                      <a:r>
                        <a:rPr lang="en-US" dirty="0"/>
                        <a:t>C101</a:t>
                      </a:r>
                    </a:p>
                  </a:txBody>
                  <a:tcPr anchor="ctr"/>
                </a:tc>
                <a:tc>
                  <a:txBody>
                    <a:bodyPr/>
                    <a:lstStyle/>
                    <a:p>
                      <a:r>
                        <a:rPr lang="en-US"/>
                        <a:t>DBMS</a:t>
                      </a:r>
                    </a:p>
                  </a:txBody>
                  <a:tcPr anchor="ctr"/>
                </a:tc>
              </a:tr>
              <a:tr h="370840">
                <a:tc>
                  <a:txBody>
                    <a:bodyPr/>
                    <a:lstStyle/>
                    <a:p>
                      <a:r>
                        <a:rPr lang="en-US"/>
                        <a:t>C102</a:t>
                      </a:r>
                    </a:p>
                  </a:txBody>
                  <a:tcPr anchor="ctr"/>
                </a:tc>
                <a:tc>
                  <a:txBody>
                    <a:bodyPr/>
                    <a:lstStyle/>
                    <a:p>
                      <a:r>
                        <a:rPr lang="en-US" dirty="0"/>
                        <a:t>AI</a:t>
                      </a:r>
                    </a:p>
                  </a:txBody>
                  <a:tcPr anchor="ctr"/>
                </a:tc>
              </a:tr>
            </a:tbl>
          </a:graphicData>
        </a:graphic>
      </p:graphicFrame>
      <p:graphicFrame>
        <p:nvGraphicFramePr>
          <p:cNvPr id="6" name="Table 5"/>
          <p:cNvGraphicFramePr>
            <a:graphicFrameLocks noGrp="1"/>
          </p:cNvGraphicFramePr>
          <p:nvPr/>
        </p:nvGraphicFramePr>
        <p:xfrm>
          <a:off x="3733800" y="4572000"/>
          <a:ext cx="4495800" cy="1483360"/>
        </p:xfrm>
        <a:graphic>
          <a:graphicData uri="http://schemas.openxmlformats.org/drawingml/2006/table">
            <a:tbl>
              <a:tblPr firstRow="1" bandRow="1">
                <a:tableStyleId>{5C22544A-7EE6-4342-B048-85BDC9FD1C3A}</a:tableStyleId>
              </a:tblPr>
              <a:tblGrid>
                <a:gridCol w="2247900"/>
                <a:gridCol w="2247900"/>
              </a:tblGrid>
              <a:tr h="370840">
                <a:tc>
                  <a:txBody>
                    <a:bodyPr/>
                    <a:lstStyle/>
                    <a:p>
                      <a:r>
                        <a:rPr lang="en-US" dirty="0" err="1"/>
                        <a:t>Roll_No</a:t>
                      </a:r>
                      <a:r>
                        <a:rPr lang="en-US" dirty="0"/>
                        <a:t> (FK)</a:t>
                      </a:r>
                    </a:p>
                  </a:txBody>
                  <a:tcPr anchor="ctr"/>
                </a:tc>
                <a:tc>
                  <a:txBody>
                    <a:bodyPr/>
                    <a:lstStyle/>
                    <a:p>
                      <a:r>
                        <a:rPr lang="en-US"/>
                        <a:t>Course_ID (FK)</a:t>
                      </a:r>
                    </a:p>
                  </a:txBody>
                  <a:tcPr anchor="ctr"/>
                </a:tc>
              </a:tr>
              <a:tr h="370840">
                <a:tc>
                  <a:txBody>
                    <a:bodyPr/>
                    <a:lstStyle/>
                    <a:p>
                      <a:r>
                        <a:rPr lang="en-US" dirty="0"/>
                        <a:t>101</a:t>
                      </a:r>
                    </a:p>
                  </a:txBody>
                  <a:tcPr anchor="ctr"/>
                </a:tc>
                <a:tc>
                  <a:txBody>
                    <a:bodyPr/>
                    <a:lstStyle/>
                    <a:p>
                      <a:r>
                        <a:rPr lang="en-US" dirty="0"/>
                        <a:t>C101</a:t>
                      </a:r>
                    </a:p>
                  </a:txBody>
                  <a:tcPr anchor="ctr"/>
                </a:tc>
              </a:tr>
              <a:tr h="370840">
                <a:tc>
                  <a:txBody>
                    <a:bodyPr/>
                    <a:lstStyle/>
                    <a:p>
                      <a:r>
                        <a:rPr lang="en-US"/>
                        <a:t>101</a:t>
                      </a:r>
                    </a:p>
                  </a:txBody>
                  <a:tcPr anchor="ctr"/>
                </a:tc>
                <a:tc>
                  <a:txBody>
                    <a:bodyPr/>
                    <a:lstStyle/>
                    <a:p>
                      <a:r>
                        <a:rPr lang="en-US"/>
                        <a:t>C102</a:t>
                      </a:r>
                    </a:p>
                  </a:txBody>
                  <a:tcPr anchor="ctr"/>
                </a:tc>
              </a:tr>
              <a:tr h="370840">
                <a:tc>
                  <a:txBody>
                    <a:bodyPr/>
                    <a:lstStyle/>
                    <a:p>
                      <a:r>
                        <a:rPr lang="en-US"/>
                        <a:t>102</a:t>
                      </a:r>
                    </a:p>
                  </a:txBody>
                  <a:tcPr anchor="ctr"/>
                </a:tc>
                <a:tc>
                  <a:txBody>
                    <a:bodyPr/>
                    <a:lstStyle/>
                    <a:p>
                      <a:r>
                        <a:rPr lang="en-US" dirty="0"/>
                        <a:t>C101</a:t>
                      </a:r>
                    </a:p>
                  </a:txBody>
                  <a:tcPr anchor="ctr"/>
                </a:tc>
              </a:tr>
            </a:tbl>
          </a:graphicData>
        </a:graphic>
      </p:graphicFrame>
    </p:spTree>
  </p:cSld>
  <p:clrMapOvr>
    <a:masterClrMapping/>
  </p:clrMapOvr>
  <p:timing>
    <p:tnLst>
      <p:par>
        <p:cTn id="1" dur="indefinite" restart="never" nodeType="tmRoot"/>
      </p:par>
    </p:tn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09600"/>
            <a:ext cx="8229600" cy="5715000"/>
          </a:xfrm>
        </p:spPr>
        <p:txBody>
          <a:bodyPr>
            <a:normAutofit/>
          </a:bodyPr>
          <a:lstStyle/>
          <a:p>
            <a:pPr>
              <a:buNone/>
            </a:pPr>
            <a:r>
              <a:rPr lang="en-US" sz="2200" b="1" dirty="0" smtClean="0"/>
              <a:t>4. Relationship Set with Attributes</a:t>
            </a:r>
          </a:p>
          <a:p>
            <a:r>
              <a:rPr lang="en-US" sz="2200" dirty="0" smtClean="0"/>
              <a:t>Sometimes a relationship has its own attributes.</a:t>
            </a:r>
          </a:p>
          <a:p>
            <a:pPr>
              <a:buNone/>
            </a:pPr>
            <a:r>
              <a:rPr lang="en-US" sz="2200" b="1" dirty="0" smtClean="0"/>
              <a:t>Example</a:t>
            </a:r>
          </a:p>
          <a:p>
            <a:r>
              <a:rPr lang="en-US" sz="2200" dirty="0" smtClean="0"/>
              <a:t>A student enrolls in a course, and the relationship stores:</a:t>
            </a:r>
          </a:p>
          <a:p>
            <a:pPr lvl="1"/>
            <a:r>
              <a:rPr lang="en-US" sz="2200" dirty="0" smtClean="0"/>
              <a:t>Semester </a:t>
            </a:r>
          </a:p>
          <a:p>
            <a:pPr lvl="1"/>
            <a:r>
              <a:rPr lang="en-US" sz="2200" dirty="0" smtClean="0"/>
              <a:t>Grade </a:t>
            </a:r>
          </a:p>
          <a:p>
            <a:pPr lvl="1">
              <a:buNone/>
            </a:pPr>
            <a:endParaRPr lang="en-US" sz="2200" dirty="0" smtClean="0"/>
          </a:p>
          <a:p>
            <a:pPr>
              <a:buNone/>
            </a:pPr>
            <a:r>
              <a:rPr lang="en-US" sz="2200" b="1" dirty="0" smtClean="0"/>
              <a:t>ER Diagram</a:t>
            </a:r>
          </a:p>
          <a:p>
            <a:r>
              <a:rPr lang="en-US" sz="2200" dirty="0" smtClean="0"/>
              <a:t>Student ----- Enrolls ----- Course </a:t>
            </a:r>
          </a:p>
          <a:p>
            <a:pPr lvl="2">
              <a:buNone/>
            </a:pPr>
            <a:r>
              <a:rPr lang="en-US" sz="2200" dirty="0" smtClean="0"/>
              <a:t>                    | </a:t>
            </a:r>
          </a:p>
          <a:p>
            <a:pPr lvl="2">
              <a:buNone/>
            </a:pPr>
            <a:r>
              <a:rPr lang="en-US" sz="2200" dirty="0" smtClean="0"/>
              <a:t>         Semester, Grade</a:t>
            </a:r>
            <a:endParaRPr lang="en-US" sz="2200" b="1" dirty="0" smtClean="0"/>
          </a:p>
          <a:p>
            <a:endParaRPr lang="en-US" sz="2200" b="1" dirty="0" smtClean="0"/>
          </a:p>
          <a:p>
            <a:endParaRPr lang="en-US" sz="2200" b="1" dirty="0" smtClean="0"/>
          </a:p>
          <a:p>
            <a:endParaRPr lang="en-US" sz="2200" b="1" dirty="0" smtClean="0"/>
          </a:p>
          <a:p>
            <a:endParaRPr lang="en-US" sz="2200" dirty="0"/>
          </a:p>
        </p:txBody>
      </p:sp>
    </p:spTree>
  </p:cSld>
  <p:clrMapOvr>
    <a:masterClrMapping/>
  </p:clrMapOvr>
  <p:timing>
    <p:tnLst>
      <p:par>
        <p:cTn id="1" dur="indefinite" restart="never" nodeType="tmRoot"/>
      </p:par>
    </p:tn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09600"/>
            <a:ext cx="8229600" cy="6096000"/>
          </a:xfrm>
        </p:spPr>
        <p:txBody>
          <a:bodyPr>
            <a:normAutofit fontScale="70000" lnSpcReduction="20000"/>
          </a:bodyPr>
          <a:lstStyle/>
          <a:p>
            <a:pPr>
              <a:buNone/>
            </a:pPr>
            <a:r>
              <a:rPr lang="en-US" b="1" dirty="0" smtClean="0"/>
              <a:t> Student Table</a:t>
            </a:r>
          </a:p>
          <a:p>
            <a:pPr>
              <a:buNone/>
            </a:pPr>
            <a:endParaRPr lang="en-US" b="1" dirty="0" smtClean="0"/>
          </a:p>
          <a:p>
            <a:endParaRPr lang="en-US" b="1" dirty="0" smtClean="0"/>
          </a:p>
          <a:p>
            <a:endParaRPr lang="en-US" b="1" dirty="0" smtClean="0"/>
          </a:p>
          <a:p>
            <a:endParaRPr lang="en-US" b="1" dirty="0" smtClean="0"/>
          </a:p>
          <a:p>
            <a:endParaRPr lang="en-US" b="1" dirty="0" smtClean="0"/>
          </a:p>
          <a:p>
            <a:pPr>
              <a:buNone/>
            </a:pPr>
            <a:r>
              <a:rPr lang="en-US" b="1" dirty="0" smtClean="0"/>
              <a:t>Course Table</a:t>
            </a:r>
          </a:p>
          <a:p>
            <a:endParaRPr lang="en-US" b="1" dirty="0" smtClean="0"/>
          </a:p>
          <a:p>
            <a:endParaRPr lang="en-US" b="1" dirty="0" smtClean="0"/>
          </a:p>
          <a:p>
            <a:endParaRPr lang="en-US" b="1" dirty="0" smtClean="0"/>
          </a:p>
          <a:p>
            <a:endParaRPr lang="en-US" b="1" dirty="0" smtClean="0"/>
          </a:p>
          <a:p>
            <a:endParaRPr lang="en-US" b="1" dirty="0" smtClean="0"/>
          </a:p>
          <a:p>
            <a:pPr>
              <a:buNone/>
            </a:pPr>
            <a:r>
              <a:rPr lang="en-US" b="1" dirty="0" smtClean="0"/>
              <a:t>Enrollment (Relationship) Table</a:t>
            </a:r>
          </a:p>
          <a:p>
            <a:endParaRPr lang="en-US" b="1" dirty="0" smtClean="0"/>
          </a:p>
          <a:p>
            <a:endParaRPr lang="en-US" b="1" dirty="0" smtClean="0"/>
          </a:p>
          <a:p>
            <a:endParaRPr lang="en-US" b="1" dirty="0" smtClean="0"/>
          </a:p>
          <a:p>
            <a:endParaRPr lang="en-US" b="1" dirty="0" smtClean="0"/>
          </a:p>
          <a:p>
            <a:endParaRPr lang="en-US" b="1" dirty="0" smtClean="0"/>
          </a:p>
          <a:p>
            <a:endParaRPr lang="en-US" b="1" dirty="0" smtClean="0"/>
          </a:p>
          <a:p>
            <a:pPr>
              <a:buNone/>
            </a:pPr>
            <a:endParaRPr lang="en-US" b="1" dirty="0" smtClean="0"/>
          </a:p>
          <a:p>
            <a:pPr>
              <a:buNone/>
            </a:pPr>
            <a:r>
              <a:rPr lang="en-US" b="1" dirty="0" smtClean="0"/>
              <a:t>Primary Key</a:t>
            </a:r>
          </a:p>
          <a:p>
            <a:pPr>
              <a:buNone/>
            </a:pPr>
            <a:r>
              <a:rPr lang="en-US" b="1" dirty="0" smtClean="0"/>
              <a:t>(</a:t>
            </a:r>
            <a:r>
              <a:rPr lang="en-US" b="1" dirty="0" err="1" smtClean="0"/>
              <a:t>Roll_No</a:t>
            </a:r>
            <a:r>
              <a:rPr lang="en-US" b="1" dirty="0" smtClean="0"/>
              <a:t>, </a:t>
            </a:r>
            <a:r>
              <a:rPr lang="en-US" b="1" dirty="0" err="1" smtClean="0"/>
              <a:t>Course_ID</a:t>
            </a:r>
            <a:r>
              <a:rPr lang="en-US" b="1" dirty="0" smtClean="0"/>
              <a:t>)</a:t>
            </a:r>
            <a:endParaRPr lang="en-US" dirty="0" smtClean="0"/>
          </a:p>
        </p:txBody>
      </p:sp>
      <p:graphicFrame>
        <p:nvGraphicFramePr>
          <p:cNvPr id="4" name="Table 3"/>
          <p:cNvGraphicFramePr>
            <a:graphicFrameLocks noGrp="1"/>
          </p:cNvGraphicFramePr>
          <p:nvPr/>
        </p:nvGraphicFramePr>
        <p:xfrm>
          <a:off x="1447800" y="990600"/>
          <a:ext cx="5867400" cy="1112520"/>
        </p:xfrm>
        <a:graphic>
          <a:graphicData uri="http://schemas.openxmlformats.org/drawingml/2006/table">
            <a:tbl>
              <a:tblPr firstRow="1" bandRow="1">
                <a:tableStyleId>{5C22544A-7EE6-4342-B048-85BDC9FD1C3A}</a:tableStyleId>
              </a:tblPr>
              <a:tblGrid>
                <a:gridCol w="2933700"/>
                <a:gridCol w="2933700"/>
              </a:tblGrid>
              <a:tr h="370840">
                <a:tc>
                  <a:txBody>
                    <a:bodyPr/>
                    <a:lstStyle/>
                    <a:p>
                      <a:r>
                        <a:rPr lang="en-US" dirty="0" err="1"/>
                        <a:t>Roll_No</a:t>
                      </a:r>
                      <a:r>
                        <a:rPr lang="en-US" dirty="0"/>
                        <a:t> (PK)</a:t>
                      </a:r>
                    </a:p>
                  </a:txBody>
                  <a:tcPr anchor="ctr"/>
                </a:tc>
                <a:tc>
                  <a:txBody>
                    <a:bodyPr/>
                    <a:lstStyle/>
                    <a:p>
                      <a:r>
                        <a:rPr lang="en-US"/>
                        <a:t>Name</a:t>
                      </a:r>
                    </a:p>
                  </a:txBody>
                  <a:tcPr anchor="ctr"/>
                </a:tc>
              </a:tr>
              <a:tr h="370840">
                <a:tc>
                  <a:txBody>
                    <a:bodyPr/>
                    <a:lstStyle/>
                    <a:p>
                      <a:r>
                        <a:rPr lang="en-US" dirty="0"/>
                        <a:t>101</a:t>
                      </a:r>
                    </a:p>
                  </a:txBody>
                  <a:tcPr anchor="ctr"/>
                </a:tc>
                <a:tc>
                  <a:txBody>
                    <a:bodyPr/>
                    <a:lstStyle/>
                    <a:p>
                      <a:r>
                        <a:rPr lang="en-US"/>
                        <a:t>Amit</a:t>
                      </a:r>
                    </a:p>
                  </a:txBody>
                  <a:tcPr anchor="ctr"/>
                </a:tc>
              </a:tr>
              <a:tr h="370840">
                <a:tc>
                  <a:txBody>
                    <a:bodyPr/>
                    <a:lstStyle/>
                    <a:p>
                      <a:r>
                        <a:rPr lang="en-US" dirty="0"/>
                        <a:t>102</a:t>
                      </a:r>
                    </a:p>
                  </a:txBody>
                  <a:tcPr anchor="ctr"/>
                </a:tc>
                <a:tc>
                  <a:txBody>
                    <a:bodyPr/>
                    <a:lstStyle/>
                    <a:p>
                      <a:r>
                        <a:rPr lang="en-US" dirty="0" err="1"/>
                        <a:t>Priya</a:t>
                      </a:r>
                      <a:endParaRPr lang="en-US" dirty="0"/>
                    </a:p>
                  </a:txBody>
                  <a:tcPr anchor="ctr"/>
                </a:tc>
              </a:tr>
            </a:tbl>
          </a:graphicData>
        </a:graphic>
      </p:graphicFrame>
      <p:graphicFrame>
        <p:nvGraphicFramePr>
          <p:cNvPr id="5" name="Table 4"/>
          <p:cNvGraphicFramePr>
            <a:graphicFrameLocks noGrp="1"/>
          </p:cNvGraphicFramePr>
          <p:nvPr/>
        </p:nvGraphicFramePr>
        <p:xfrm>
          <a:off x="1752600" y="2590800"/>
          <a:ext cx="5943600" cy="1112520"/>
        </p:xfrm>
        <a:graphic>
          <a:graphicData uri="http://schemas.openxmlformats.org/drawingml/2006/table">
            <a:tbl>
              <a:tblPr firstRow="1" bandRow="1">
                <a:tableStyleId>{5C22544A-7EE6-4342-B048-85BDC9FD1C3A}</a:tableStyleId>
              </a:tblPr>
              <a:tblGrid>
                <a:gridCol w="2971800"/>
                <a:gridCol w="2971800"/>
              </a:tblGrid>
              <a:tr h="370840">
                <a:tc>
                  <a:txBody>
                    <a:bodyPr/>
                    <a:lstStyle/>
                    <a:p>
                      <a:r>
                        <a:rPr lang="en-US" dirty="0" err="1"/>
                        <a:t>Course_ID</a:t>
                      </a:r>
                      <a:r>
                        <a:rPr lang="en-US" dirty="0"/>
                        <a:t> (PK)</a:t>
                      </a:r>
                    </a:p>
                  </a:txBody>
                  <a:tcPr anchor="ctr"/>
                </a:tc>
                <a:tc>
                  <a:txBody>
                    <a:bodyPr/>
                    <a:lstStyle/>
                    <a:p>
                      <a:r>
                        <a:rPr lang="en-US"/>
                        <a:t>Course_Name</a:t>
                      </a:r>
                    </a:p>
                  </a:txBody>
                  <a:tcPr anchor="ctr"/>
                </a:tc>
              </a:tr>
              <a:tr h="370840">
                <a:tc>
                  <a:txBody>
                    <a:bodyPr/>
                    <a:lstStyle/>
                    <a:p>
                      <a:r>
                        <a:rPr lang="en-US" dirty="0"/>
                        <a:t>C101</a:t>
                      </a:r>
                    </a:p>
                  </a:txBody>
                  <a:tcPr anchor="ctr"/>
                </a:tc>
                <a:tc>
                  <a:txBody>
                    <a:bodyPr/>
                    <a:lstStyle/>
                    <a:p>
                      <a:r>
                        <a:rPr lang="en-US"/>
                        <a:t>DBMS</a:t>
                      </a:r>
                    </a:p>
                  </a:txBody>
                  <a:tcPr anchor="ctr"/>
                </a:tc>
              </a:tr>
              <a:tr h="370840">
                <a:tc>
                  <a:txBody>
                    <a:bodyPr/>
                    <a:lstStyle/>
                    <a:p>
                      <a:r>
                        <a:rPr lang="en-US"/>
                        <a:t>C102</a:t>
                      </a:r>
                    </a:p>
                  </a:txBody>
                  <a:tcPr anchor="ctr"/>
                </a:tc>
                <a:tc>
                  <a:txBody>
                    <a:bodyPr/>
                    <a:lstStyle/>
                    <a:p>
                      <a:r>
                        <a:rPr lang="en-US" dirty="0"/>
                        <a:t>AI</a:t>
                      </a:r>
                    </a:p>
                  </a:txBody>
                  <a:tcPr anchor="ctr"/>
                </a:tc>
              </a:tr>
            </a:tbl>
          </a:graphicData>
        </a:graphic>
      </p:graphicFrame>
      <p:graphicFrame>
        <p:nvGraphicFramePr>
          <p:cNvPr id="6" name="Table 5"/>
          <p:cNvGraphicFramePr>
            <a:graphicFrameLocks noGrp="1"/>
          </p:cNvGraphicFramePr>
          <p:nvPr/>
        </p:nvGraphicFramePr>
        <p:xfrm>
          <a:off x="1219200" y="4267200"/>
          <a:ext cx="6781800" cy="1752600"/>
        </p:xfrm>
        <a:graphic>
          <a:graphicData uri="http://schemas.openxmlformats.org/drawingml/2006/table">
            <a:tbl>
              <a:tblPr firstRow="1" bandRow="1">
                <a:tableStyleId>{5C22544A-7EE6-4342-B048-85BDC9FD1C3A}</a:tableStyleId>
              </a:tblPr>
              <a:tblGrid>
                <a:gridCol w="1695450"/>
                <a:gridCol w="1695450"/>
                <a:gridCol w="1695450"/>
                <a:gridCol w="1695450"/>
              </a:tblGrid>
              <a:tr h="370840">
                <a:tc>
                  <a:txBody>
                    <a:bodyPr/>
                    <a:lstStyle/>
                    <a:p>
                      <a:r>
                        <a:rPr lang="en-US" dirty="0" err="1"/>
                        <a:t>Roll_No</a:t>
                      </a:r>
                      <a:r>
                        <a:rPr lang="en-US" dirty="0"/>
                        <a:t> (FK)</a:t>
                      </a:r>
                    </a:p>
                  </a:txBody>
                  <a:tcPr anchor="ctr"/>
                </a:tc>
                <a:tc>
                  <a:txBody>
                    <a:bodyPr/>
                    <a:lstStyle/>
                    <a:p>
                      <a:r>
                        <a:rPr lang="en-US" dirty="0" err="1"/>
                        <a:t>Course_ID</a:t>
                      </a:r>
                      <a:r>
                        <a:rPr lang="en-US" dirty="0"/>
                        <a:t> (FK)</a:t>
                      </a:r>
                    </a:p>
                  </a:txBody>
                  <a:tcPr anchor="ctr"/>
                </a:tc>
                <a:tc>
                  <a:txBody>
                    <a:bodyPr/>
                    <a:lstStyle/>
                    <a:p>
                      <a:r>
                        <a:rPr lang="en-US" dirty="0" smtClean="0"/>
                        <a:t>Semester</a:t>
                      </a:r>
                      <a:endParaRPr lang="en-US" dirty="0"/>
                    </a:p>
                  </a:txBody>
                  <a:tcPr anchor="ctr"/>
                </a:tc>
                <a:tc>
                  <a:txBody>
                    <a:bodyPr/>
                    <a:lstStyle/>
                    <a:p>
                      <a:r>
                        <a:rPr lang="en-US" dirty="0" smtClean="0"/>
                        <a:t>Grade</a:t>
                      </a:r>
                      <a:endParaRPr lang="en-US" dirty="0"/>
                    </a:p>
                  </a:txBody>
                  <a:tcPr anchor="ctr"/>
                </a:tc>
              </a:tr>
              <a:tr h="370840">
                <a:tc>
                  <a:txBody>
                    <a:bodyPr/>
                    <a:lstStyle/>
                    <a:p>
                      <a:r>
                        <a:rPr lang="en-US" dirty="0"/>
                        <a:t>101</a:t>
                      </a:r>
                    </a:p>
                  </a:txBody>
                  <a:tcPr anchor="ctr"/>
                </a:tc>
                <a:tc>
                  <a:txBody>
                    <a:bodyPr/>
                    <a:lstStyle/>
                    <a:p>
                      <a:r>
                        <a:rPr lang="en-US" dirty="0"/>
                        <a:t>C101</a:t>
                      </a:r>
                    </a:p>
                  </a:txBody>
                  <a:tcPr anchor="ctr"/>
                </a:tc>
                <a:tc>
                  <a:txBody>
                    <a:bodyPr/>
                    <a:lstStyle/>
                    <a:p>
                      <a:r>
                        <a:rPr lang="en-US" dirty="0" smtClean="0"/>
                        <a:t>3</a:t>
                      </a:r>
                      <a:endParaRPr lang="en-US" dirty="0"/>
                    </a:p>
                  </a:txBody>
                  <a:tcPr anchor="ctr"/>
                </a:tc>
                <a:tc>
                  <a:txBody>
                    <a:bodyPr/>
                    <a:lstStyle/>
                    <a:p>
                      <a:r>
                        <a:rPr lang="en-US" dirty="0" smtClean="0"/>
                        <a:t>A</a:t>
                      </a:r>
                      <a:endParaRPr lang="en-US" dirty="0"/>
                    </a:p>
                  </a:txBody>
                  <a:tcPr anchor="ctr"/>
                </a:tc>
              </a:tr>
              <a:tr h="370840">
                <a:tc>
                  <a:txBody>
                    <a:bodyPr/>
                    <a:lstStyle/>
                    <a:p>
                      <a:r>
                        <a:rPr lang="en-US" dirty="0"/>
                        <a:t>101</a:t>
                      </a:r>
                    </a:p>
                  </a:txBody>
                  <a:tcPr anchor="ctr"/>
                </a:tc>
                <a:tc>
                  <a:txBody>
                    <a:bodyPr/>
                    <a:lstStyle/>
                    <a:p>
                      <a:r>
                        <a:rPr lang="en-US"/>
                        <a:t>C102</a:t>
                      </a:r>
                    </a:p>
                  </a:txBody>
                  <a:tcPr anchor="ctr"/>
                </a:tc>
                <a:tc>
                  <a:txBody>
                    <a:bodyPr/>
                    <a:lstStyle/>
                    <a:p>
                      <a:r>
                        <a:rPr lang="en-US" dirty="0" smtClean="0"/>
                        <a:t>3</a:t>
                      </a:r>
                      <a:endParaRPr lang="en-US" dirty="0"/>
                    </a:p>
                  </a:txBody>
                  <a:tcPr anchor="ctr"/>
                </a:tc>
                <a:tc>
                  <a:txBody>
                    <a:bodyPr/>
                    <a:lstStyle/>
                    <a:p>
                      <a:r>
                        <a:rPr lang="en-US" dirty="0" smtClean="0"/>
                        <a:t>B+</a:t>
                      </a:r>
                      <a:endParaRPr lang="en-US" dirty="0"/>
                    </a:p>
                  </a:txBody>
                  <a:tcPr anchor="ctr"/>
                </a:tc>
              </a:tr>
              <a:tr h="370840">
                <a:tc>
                  <a:txBody>
                    <a:bodyPr/>
                    <a:lstStyle/>
                    <a:p>
                      <a:r>
                        <a:rPr lang="en-US"/>
                        <a:t>102</a:t>
                      </a:r>
                    </a:p>
                  </a:txBody>
                  <a:tcPr anchor="ctr"/>
                </a:tc>
                <a:tc>
                  <a:txBody>
                    <a:bodyPr/>
                    <a:lstStyle/>
                    <a:p>
                      <a:r>
                        <a:rPr lang="en-US" dirty="0"/>
                        <a:t>C101</a:t>
                      </a:r>
                    </a:p>
                  </a:txBody>
                  <a:tcPr anchor="ctr"/>
                </a:tc>
                <a:tc>
                  <a:txBody>
                    <a:bodyPr/>
                    <a:lstStyle/>
                    <a:p>
                      <a:r>
                        <a:rPr lang="en-US" dirty="0" smtClean="0"/>
                        <a:t>3</a:t>
                      </a:r>
                      <a:endParaRPr lang="en-US" dirty="0"/>
                    </a:p>
                  </a:txBody>
                  <a:tcPr anchor="ctr"/>
                </a:tc>
                <a:tc>
                  <a:txBody>
                    <a:bodyPr/>
                    <a:lstStyle/>
                    <a:p>
                      <a:r>
                        <a:rPr lang="en-US" dirty="0" smtClean="0"/>
                        <a:t>A+</a:t>
                      </a:r>
                      <a:endParaRPr lang="en-US" dirty="0"/>
                    </a:p>
                  </a:txBody>
                  <a:tcPr anchor="ctr"/>
                </a:tc>
              </a:tr>
            </a:tbl>
          </a:graphicData>
        </a:graphic>
      </p:graphicFrame>
    </p:spTree>
  </p:cSld>
  <p:clrMapOvr>
    <a:masterClrMapping/>
  </p:clrMapOvr>
  <p:timing>
    <p:tnLst>
      <p:par>
        <p:cTn id="1" dur="indefinite" restart="never" nodeType="tmRoot"/>
      </p:par>
    </p:tn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066800"/>
            <a:ext cx="8229600" cy="5257800"/>
          </a:xfrm>
        </p:spPr>
        <p:txBody>
          <a:bodyPr>
            <a:normAutofit/>
          </a:bodyPr>
          <a:lstStyle/>
          <a:p>
            <a:pPr>
              <a:buNone/>
            </a:pPr>
            <a:r>
              <a:rPr lang="en-US" b="1" dirty="0" smtClean="0"/>
              <a:t>5. Ternary Relationship (Three Entities)</a:t>
            </a:r>
          </a:p>
          <a:p>
            <a:pPr>
              <a:buNone/>
            </a:pPr>
            <a:endParaRPr lang="en-US" dirty="0" smtClean="0"/>
          </a:p>
          <a:p>
            <a:pPr>
              <a:buNone/>
            </a:pPr>
            <a:r>
              <a:rPr lang="en-US" dirty="0" smtClean="0"/>
              <a:t>Suppose a </a:t>
            </a:r>
            <a:r>
              <a:rPr lang="en-US" b="1" dirty="0" smtClean="0"/>
              <a:t>Supplier</a:t>
            </a:r>
            <a:r>
              <a:rPr lang="en-US" dirty="0" smtClean="0"/>
              <a:t> supplies a </a:t>
            </a:r>
            <a:r>
              <a:rPr lang="en-US" b="1" dirty="0" smtClean="0"/>
              <a:t>Product</a:t>
            </a:r>
            <a:r>
              <a:rPr lang="en-US" dirty="0" smtClean="0"/>
              <a:t> to a </a:t>
            </a:r>
            <a:r>
              <a:rPr lang="en-US" b="1" dirty="0" smtClean="0"/>
              <a:t>Project</a:t>
            </a:r>
            <a:r>
              <a:rPr lang="en-US" dirty="0" smtClean="0"/>
              <a:t>.</a:t>
            </a:r>
          </a:p>
          <a:p>
            <a:pPr>
              <a:buNone/>
            </a:pPr>
            <a:endParaRPr lang="en-US" dirty="0" smtClean="0"/>
          </a:p>
          <a:p>
            <a:pPr>
              <a:buNone/>
            </a:pPr>
            <a:r>
              <a:rPr lang="en-US" b="1" dirty="0" smtClean="0"/>
              <a:t>ER Diagram</a:t>
            </a:r>
          </a:p>
          <a:p>
            <a:pPr>
              <a:buNone/>
            </a:pPr>
            <a:r>
              <a:rPr lang="en-US" dirty="0" smtClean="0"/>
              <a:t>			Supplier </a:t>
            </a:r>
          </a:p>
          <a:p>
            <a:pPr>
              <a:buNone/>
            </a:pPr>
            <a:r>
              <a:rPr lang="en-US" dirty="0" smtClean="0"/>
              <a:t>			      \</a:t>
            </a:r>
          </a:p>
          <a:p>
            <a:pPr>
              <a:buNone/>
            </a:pPr>
            <a:r>
              <a:rPr lang="en-US" dirty="0" smtClean="0"/>
              <a:t>			Supplies </a:t>
            </a:r>
          </a:p>
          <a:p>
            <a:pPr>
              <a:buNone/>
            </a:pPr>
            <a:r>
              <a:rPr lang="en-US" dirty="0" smtClean="0"/>
              <a:t>			/          \ </a:t>
            </a:r>
          </a:p>
          <a:p>
            <a:pPr>
              <a:buNone/>
            </a:pPr>
            <a:r>
              <a:rPr lang="en-US" dirty="0" smtClean="0"/>
              <a:t>		Product        Project</a:t>
            </a:r>
          </a:p>
          <a:p>
            <a:endParaRPr lang="en-US" dirty="0"/>
          </a:p>
        </p:txBody>
      </p:sp>
    </p:spTree>
  </p:cSld>
  <p:clrMapOvr>
    <a:masterClrMapping/>
  </p:clrMapOvr>
  <p:timing>
    <p:tnLst>
      <p:par>
        <p:cTn id="1" dur="indefinite" restart="never" nodeType="tmRoot"/>
      </p:par>
    </p:tnLst>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6172200"/>
          </a:xfrm>
        </p:spPr>
        <p:txBody>
          <a:bodyPr>
            <a:normAutofit fontScale="92500" lnSpcReduction="10000"/>
          </a:bodyPr>
          <a:lstStyle/>
          <a:p>
            <a:r>
              <a:rPr lang="en-US" dirty="0" smtClean="0"/>
              <a:t>Supplier Table</a:t>
            </a:r>
          </a:p>
          <a:p>
            <a:endParaRPr lang="en-US" dirty="0" smtClean="0"/>
          </a:p>
          <a:p>
            <a:endParaRPr lang="en-US" dirty="0" smtClean="0"/>
          </a:p>
          <a:p>
            <a:r>
              <a:rPr lang="en-US" dirty="0" smtClean="0"/>
              <a:t>Product Table</a:t>
            </a:r>
          </a:p>
          <a:p>
            <a:endParaRPr lang="en-US" dirty="0" smtClean="0"/>
          </a:p>
          <a:p>
            <a:endParaRPr lang="en-US" dirty="0" smtClean="0"/>
          </a:p>
          <a:p>
            <a:r>
              <a:rPr lang="en-US" dirty="0" smtClean="0"/>
              <a:t>Project Table</a:t>
            </a:r>
          </a:p>
          <a:p>
            <a:endParaRPr lang="en-US" dirty="0" smtClean="0"/>
          </a:p>
          <a:p>
            <a:endParaRPr lang="en-US" dirty="0" smtClean="0"/>
          </a:p>
          <a:p>
            <a:r>
              <a:rPr lang="en-US" dirty="0" smtClean="0"/>
              <a:t>Supplies Table</a:t>
            </a:r>
          </a:p>
          <a:p>
            <a:endParaRPr lang="en-US" dirty="0" smtClean="0"/>
          </a:p>
          <a:p>
            <a:endParaRPr lang="en-US" dirty="0" smtClean="0"/>
          </a:p>
          <a:p>
            <a:endParaRPr lang="en-US" dirty="0" smtClean="0"/>
          </a:p>
          <a:p>
            <a:pPr>
              <a:buNone/>
            </a:pPr>
            <a:r>
              <a:rPr lang="en-US" b="1" dirty="0" smtClean="0"/>
              <a:t>	Primary Key</a:t>
            </a:r>
          </a:p>
          <a:p>
            <a:pPr>
              <a:buNone/>
            </a:pPr>
            <a:r>
              <a:rPr lang="en-US" b="1" dirty="0" smtClean="0"/>
              <a:t>	(</a:t>
            </a:r>
            <a:r>
              <a:rPr lang="en-US" b="1" dirty="0" err="1" smtClean="0"/>
              <a:t>Supplier_ID</a:t>
            </a:r>
            <a:r>
              <a:rPr lang="en-US" b="1" dirty="0" smtClean="0"/>
              <a:t>, </a:t>
            </a:r>
            <a:r>
              <a:rPr lang="en-US" b="1" dirty="0" err="1" smtClean="0"/>
              <a:t>Product_ID</a:t>
            </a:r>
            <a:r>
              <a:rPr lang="en-US" b="1" dirty="0" smtClean="0"/>
              <a:t>, </a:t>
            </a:r>
            <a:r>
              <a:rPr lang="en-US" b="1" dirty="0" err="1" smtClean="0"/>
              <a:t>Project_ID</a:t>
            </a:r>
            <a:r>
              <a:rPr lang="en-US" b="1" dirty="0" smtClean="0"/>
              <a:t>)</a:t>
            </a:r>
            <a:endParaRPr lang="en-US" dirty="0" smtClean="0"/>
          </a:p>
          <a:p>
            <a:endParaRPr lang="en-US" dirty="0" smtClean="0"/>
          </a:p>
          <a:p>
            <a:endParaRPr lang="en-US" dirty="0" smtClean="0"/>
          </a:p>
          <a:p>
            <a:pPr lvl="1"/>
            <a:endParaRPr lang="en-US" dirty="0"/>
          </a:p>
        </p:txBody>
      </p:sp>
      <p:graphicFrame>
        <p:nvGraphicFramePr>
          <p:cNvPr id="4" name="Table 3"/>
          <p:cNvGraphicFramePr>
            <a:graphicFrameLocks noGrp="1"/>
          </p:cNvGraphicFramePr>
          <p:nvPr/>
        </p:nvGraphicFramePr>
        <p:xfrm>
          <a:off x="1752600" y="838200"/>
          <a:ext cx="6096000" cy="741680"/>
        </p:xfrm>
        <a:graphic>
          <a:graphicData uri="http://schemas.openxmlformats.org/drawingml/2006/table">
            <a:tbl>
              <a:tblPr firstRow="1" bandRow="1">
                <a:tableStyleId>{5C22544A-7EE6-4342-B048-85BDC9FD1C3A}</a:tableStyleId>
              </a:tblPr>
              <a:tblGrid>
                <a:gridCol w="3048000"/>
                <a:gridCol w="3048000"/>
              </a:tblGrid>
              <a:tr h="370840">
                <a:tc>
                  <a:txBody>
                    <a:bodyPr/>
                    <a:lstStyle/>
                    <a:p>
                      <a:r>
                        <a:rPr lang="en-US" dirty="0" err="1"/>
                        <a:t>Supplier_ID</a:t>
                      </a:r>
                      <a:r>
                        <a:rPr lang="en-US" dirty="0"/>
                        <a:t> (PK)</a:t>
                      </a:r>
                    </a:p>
                  </a:txBody>
                  <a:tcPr anchor="ctr"/>
                </a:tc>
                <a:tc>
                  <a:txBody>
                    <a:bodyPr/>
                    <a:lstStyle/>
                    <a:p>
                      <a:r>
                        <a:rPr lang="en-US"/>
                        <a:t>Supplier_Name</a:t>
                      </a:r>
                    </a:p>
                  </a:txBody>
                  <a:tcPr anchor="ctr"/>
                </a:tc>
              </a:tr>
              <a:tr h="370840">
                <a:tc>
                  <a:txBody>
                    <a:bodyPr/>
                    <a:lstStyle/>
                    <a:p>
                      <a:r>
                        <a:rPr lang="en-US" dirty="0"/>
                        <a:t>S101</a:t>
                      </a:r>
                    </a:p>
                  </a:txBody>
                  <a:tcPr anchor="ctr"/>
                </a:tc>
                <a:tc>
                  <a:txBody>
                    <a:bodyPr/>
                    <a:lstStyle/>
                    <a:p>
                      <a:r>
                        <a:rPr lang="en-US" dirty="0"/>
                        <a:t>ABC Ltd.</a:t>
                      </a:r>
                    </a:p>
                  </a:txBody>
                  <a:tcPr anchor="ctr"/>
                </a:tc>
              </a:tr>
            </a:tbl>
          </a:graphicData>
        </a:graphic>
      </p:graphicFrame>
      <p:graphicFrame>
        <p:nvGraphicFramePr>
          <p:cNvPr id="5" name="Table 4"/>
          <p:cNvGraphicFramePr>
            <a:graphicFrameLocks noGrp="1"/>
          </p:cNvGraphicFramePr>
          <p:nvPr/>
        </p:nvGraphicFramePr>
        <p:xfrm>
          <a:off x="1752600" y="1981200"/>
          <a:ext cx="6096000" cy="741680"/>
        </p:xfrm>
        <a:graphic>
          <a:graphicData uri="http://schemas.openxmlformats.org/drawingml/2006/table">
            <a:tbl>
              <a:tblPr firstRow="1" bandRow="1">
                <a:tableStyleId>{5C22544A-7EE6-4342-B048-85BDC9FD1C3A}</a:tableStyleId>
              </a:tblPr>
              <a:tblGrid>
                <a:gridCol w="3048000"/>
                <a:gridCol w="3048000"/>
              </a:tblGrid>
              <a:tr h="370840">
                <a:tc>
                  <a:txBody>
                    <a:bodyPr/>
                    <a:lstStyle/>
                    <a:p>
                      <a:r>
                        <a:rPr lang="en-US" dirty="0" err="1"/>
                        <a:t>Product_ID</a:t>
                      </a:r>
                      <a:r>
                        <a:rPr lang="en-US" dirty="0"/>
                        <a:t> (PK)</a:t>
                      </a:r>
                    </a:p>
                  </a:txBody>
                  <a:tcPr anchor="ctr"/>
                </a:tc>
                <a:tc>
                  <a:txBody>
                    <a:bodyPr/>
                    <a:lstStyle/>
                    <a:p>
                      <a:r>
                        <a:rPr lang="en-US"/>
                        <a:t>Product_Name</a:t>
                      </a:r>
                    </a:p>
                  </a:txBody>
                  <a:tcPr anchor="ctr"/>
                </a:tc>
              </a:tr>
              <a:tr h="370840">
                <a:tc>
                  <a:txBody>
                    <a:bodyPr/>
                    <a:lstStyle/>
                    <a:p>
                      <a:r>
                        <a:rPr lang="en-US"/>
                        <a:t>P101</a:t>
                      </a:r>
                    </a:p>
                  </a:txBody>
                  <a:tcPr anchor="ctr"/>
                </a:tc>
                <a:tc>
                  <a:txBody>
                    <a:bodyPr/>
                    <a:lstStyle/>
                    <a:p>
                      <a:r>
                        <a:rPr lang="en-US" dirty="0"/>
                        <a:t>Laptop</a:t>
                      </a:r>
                    </a:p>
                  </a:txBody>
                  <a:tcPr anchor="ctr"/>
                </a:tc>
              </a:tr>
            </a:tbl>
          </a:graphicData>
        </a:graphic>
      </p:graphicFrame>
      <p:graphicFrame>
        <p:nvGraphicFramePr>
          <p:cNvPr id="6" name="Table 5"/>
          <p:cNvGraphicFramePr>
            <a:graphicFrameLocks noGrp="1"/>
          </p:cNvGraphicFramePr>
          <p:nvPr/>
        </p:nvGraphicFramePr>
        <p:xfrm>
          <a:off x="1828800" y="3352800"/>
          <a:ext cx="6096000" cy="741680"/>
        </p:xfrm>
        <a:graphic>
          <a:graphicData uri="http://schemas.openxmlformats.org/drawingml/2006/table">
            <a:tbl>
              <a:tblPr firstRow="1" bandRow="1">
                <a:tableStyleId>{5C22544A-7EE6-4342-B048-85BDC9FD1C3A}</a:tableStyleId>
              </a:tblPr>
              <a:tblGrid>
                <a:gridCol w="3048000"/>
                <a:gridCol w="3048000"/>
              </a:tblGrid>
              <a:tr h="370840">
                <a:tc>
                  <a:txBody>
                    <a:bodyPr/>
                    <a:lstStyle/>
                    <a:p>
                      <a:r>
                        <a:rPr lang="en-US" dirty="0" err="1"/>
                        <a:t>Project_ID</a:t>
                      </a:r>
                      <a:r>
                        <a:rPr lang="en-US" dirty="0"/>
                        <a:t> (PK)</a:t>
                      </a:r>
                    </a:p>
                  </a:txBody>
                  <a:tcPr anchor="ctr"/>
                </a:tc>
                <a:tc>
                  <a:txBody>
                    <a:bodyPr/>
                    <a:lstStyle/>
                    <a:p>
                      <a:r>
                        <a:rPr lang="en-US"/>
                        <a:t>Project_Name</a:t>
                      </a:r>
                    </a:p>
                  </a:txBody>
                  <a:tcPr anchor="ctr"/>
                </a:tc>
              </a:tr>
              <a:tr h="370840">
                <a:tc>
                  <a:txBody>
                    <a:bodyPr/>
                    <a:lstStyle/>
                    <a:p>
                      <a:r>
                        <a:rPr lang="en-US" dirty="0"/>
                        <a:t>PR101</a:t>
                      </a:r>
                    </a:p>
                  </a:txBody>
                  <a:tcPr anchor="ctr"/>
                </a:tc>
                <a:tc>
                  <a:txBody>
                    <a:bodyPr/>
                    <a:lstStyle/>
                    <a:p>
                      <a:r>
                        <a:rPr lang="en-US" dirty="0"/>
                        <a:t>AI Lab</a:t>
                      </a:r>
                    </a:p>
                  </a:txBody>
                  <a:tcPr anchor="ctr"/>
                </a:tc>
              </a:tr>
            </a:tbl>
          </a:graphicData>
        </a:graphic>
      </p:graphicFrame>
      <p:graphicFrame>
        <p:nvGraphicFramePr>
          <p:cNvPr id="7" name="Table 6"/>
          <p:cNvGraphicFramePr>
            <a:graphicFrameLocks noGrp="1"/>
          </p:cNvGraphicFramePr>
          <p:nvPr/>
        </p:nvGraphicFramePr>
        <p:xfrm>
          <a:off x="1295400" y="4495800"/>
          <a:ext cx="6781800" cy="1010920"/>
        </p:xfrm>
        <a:graphic>
          <a:graphicData uri="http://schemas.openxmlformats.org/drawingml/2006/table">
            <a:tbl>
              <a:tblPr firstRow="1" bandRow="1">
                <a:tableStyleId>{5C22544A-7EE6-4342-B048-85BDC9FD1C3A}</a:tableStyleId>
              </a:tblPr>
              <a:tblGrid>
                <a:gridCol w="1695450"/>
                <a:gridCol w="1695450"/>
                <a:gridCol w="1695450"/>
                <a:gridCol w="1695450"/>
              </a:tblGrid>
              <a:tr h="370840">
                <a:tc>
                  <a:txBody>
                    <a:bodyPr/>
                    <a:lstStyle/>
                    <a:p>
                      <a:r>
                        <a:rPr lang="en-US" dirty="0" err="1"/>
                        <a:t>Supplier_ID</a:t>
                      </a:r>
                      <a:r>
                        <a:rPr lang="en-US" dirty="0"/>
                        <a:t> (FK)</a:t>
                      </a:r>
                    </a:p>
                  </a:txBody>
                  <a:tcPr anchor="ctr"/>
                </a:tc>
                <a:tc>
                  <a:txBody>
                    <a:bodyPr/>
                    <a:lstStyle/>
                    <a:p>
                      <a:r>
                        <a:rPr lang="en-US" dirty="0" err="1"/>
                        <a:t>Product_ID</a:t>
                      </a:r>
                      <a:r>
                        <a:rPr lang="en-US" dirty="0"/>
                        <a:t> (FK)</a:t>
                      </a:r>
                    </a:p>
                  </a:txBody>
                  <a:tcPr anchor="ctr"/>
                </a:tc>
                <a:tc>
                  <a:txBody>
                    <a:bodyPr/>
                    <a:lstStyle/>
                    <a:p>
                      <a:r>
                        <a:rPr lang="en-US"/>
                        <a:t>Project_ID (FK)</a:t>
                      </a:r>
                    </a:p>
                  </a:txBody>
                  <a:tcPr anchor="ctr"/>
                </a:tc>
                <a:tc>
                  <a:txBody>
                    <a:bodyPr/>
                    <a:lstStyle/>
                    <a:p>
                      <a:r>
                        <a:rPr lang="en-US"/>
                        <a:t>Quantity</a:t>
                      </a:r>
                    </a:p>
                  </a:txBody>
                  <a:tcPr anchor="ctr"/>
                </a:tc>
              </a:tr>
              <a:tr h="370840">
                <a:tc>
                  <a:txBody>
                    <a:bodyPr/>
                    <a:lstStyle/>
                    <a:p>
                      <a:r>
                        <a:rPr lang="en-US" dirty="0"/>
                        <a:t>S101</a:t>
                      </a:r>
                    </a:p>
                  </a:txBody>
                  <a:tcPr anchor="ctr"/>
                </a:tc>
                <a:tc>
                  <a:txBody>
                    <a:bodyPr/>
                    <a:lstStyle/>
                    <a:p>
                      <a:r>
                        <a:rPr lang="en-US" dirty="0"/>
                        <a:t>P101</a:t>
                      </a:r>
                    </a:p>
                  </a:txBody>
                  <a:tcPr anchor="ctr"/>
                </a:tc>
                <a:tc>
                  <a:txBody>
                    <a:bodyPr/>
                    <a:lstStyle/>
                    <a:p>
                      <a:r>
                        <a:rPr lang="en-US"/>
                        <a:t>PR101</a:t>
                      </a:r>
                    </a:p>
                  </a:txBody>
                  <a:tcPr anchor="ctr"/>
                </a:tc>
                <a:tc>
                  <a:txBody>
                    <a:bodyPr/>
                    <a:lstStyle/>
                    <a:p>
                      <a:r>
                        <a:rPr lang="en-US" dirty="0"/>
                        <a:t>25</a:t>
                      </a:r>
                    </a:p>
                  </a:txBody>
                  <a:tcPr anchor="ctr"/>
                </a:tc>
              </a:tr>
            </a:tbl>
          </a:graphicData>
        </a:graphic>
      </p:graphicFrame>
    </p:spTree>
  </p:cSld>
  <p:clrMapOvr>
    <a:masterClrMapping/>
  </p:clrMapOvr>
  <p:timing>
    <p:tnLst>
      <p:par>
        <p:cTn id="1" dur="indefinite" restart="never" nodeType="tmRoot"/>
      </p:par>
    </p:tn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819912"/>
          </a:xfrm>
        </p:spPr>
        <p:txBody>
          <a:bodyPr>
            <a:normAutofit/>
          </a:bodyPr>
          <a:lstStyle/>
          <a:p>
            <a:r>
              <a:rPr lang="en-US" sz="4000" dirty="0" smtClean="0"/>
              <a:t>Converting Generalization into Tables</a:t>
            </a:r>
            <a:endParaRPr lang="en-US" sz="4000" dirty="0"/>
          </a:p>
        </p:txBody>
      </p:sp>
      <p:sp>
        <p:nvSpPr>
          <p:cNvPr id="3" name="Content Placeholder 2"/>
          <p:cNvSpPr>
            <a:spLocks noGrp="1"/>
          </p:cNvSpPr>
          <p:nvPr>
            <p:ph idx="1"/>
          </p:nvPr>
        </p:nvSpPr>
        <p:spPr/>
        <p:txBody>
          <a:bodyPr/>
          <a:lstStyle/>
          <a:p>
            <a:r>
              <a:rPr lang="en-US" dirty="0" smtClean="0"/>
              <a:t>Method 1: One Table for </a:t>
            </a:r>
            <a:r>
              <a:rPr lang="en-US" dirty="0" err="1" smtClean="0"/>
              <a:t>Superclass</a:t>
            </a:r>
            <a:r>
              <a:rPr lang="en-US" dirty="0" smtClean="0"/>
              <a:t> and One Table for Each Subclass (Most Common)</a:t>
            </a:r>
          </a:p>
          <a:p>
            <a:endParaRPr lang="en-US" dirty="0" smtClean="0"/>
          </a:p>
          <a:p>
            <a:r>
              <a:rPr lang="en-US" b="1" dirty="0" smtClean="0"/>
              <a:t>Advantages</a:t>
            </a:r>
          </a:p>
          <a:p>
            <a:pPr lvl="1"/>
            <a:r>
              <a:rPr lang="en-US" dirty="0" smtClean="0"/>
              <a:t>No duplication of common attributes. </a:t>
            </a:r>
          </a:p>
          <a:p>
            <a:pPr lvl="1"/>
            <a:r>
              <a:rPr lang="en-US" dirty="0" smtClean="0"/>
              <a:t>Easy to maintain. </a:t>
            </a:r>
          </a:p>
          <a:p>
            <a:pPr lvl="1"/>
            <a:r>
              <a:rPr lang="en-US" dirty="0" smtClean="0"/>
              <a:t>Most widely used in database design. </a:t>
            </a:r>
          </a:p>
          <a:p>
            <a:endParaRPr lang="en-US" dirty="0"/>
          </a:p>
        </p:txBody>
      </p:sp>
    </p:spTree>
  </p:cSld>
  <p:clrMapOvr>
    <a:masterClrMapping/>
  </p:clrMapOvr>
  <p:timing>
    <p:tnLst>
      <p:par>
        <p:cTn id="1" dur="indefinite" restart="never" nodeType="tmRoot"/>
      </p:par>
    </p:tnLst>
  </p:timing>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591312"/>
          </a:xfrm>
        </p:spPr>
        <p:txBody>
          <a:bodyPr>
            <a:normAutofit/>
          </a:bodyPr>
          <a:lstStyle/>
          <a:p>
            <a:r>
              <a:rPr lang="en-US" sz="3200" dirty="0" smtClean="0"/>
              <a:t>Example</a:t>
            </a:r>
            <a:endParaRPr lang="en-US" sz="3200" dirty="0"/>
          </a:p>
        </p:txBody>
      </p:sp>
      <p:sp>
        <p:nvSpPr>
          <p:cNvPr id="3" name="Content Placeholder 2"/>
          <p:cNvSpPr>
            <a:spLocks noGrp="1"/>
          </p:cNvSpPr>
          <p:nvPr>
            <p:ph idx="1"/>
          </p:nvPr>
        </p:nvSpPr>
        <p:spPr>
          <a:xfrm>
            <a:off x="457200" y="1371600"/>
            <a:ext cx="8229600" cy="4953000"/>
          </a:xfrm>
        </p:spPr>
        <p:txBody>
          <a:bodyPr/>
          <a:lstStyle/>
          <a:p>
            <a:r>
              <a:rPr lang="en-US" dirty="0" err="1" smtClean="0"/>
              <a:t>SuperClass</a:t>
            </a:r>
            <a:r>
              <a:rPr lang="en-US" dirty="0" smtClean="0"/>
              <a:t>: Person</a:t>
            </a:r>
          </a:p>
          <a:p>
            <a:endParaRPr lang="en-US" dirty="0" smtClean="0"/>
          </a:p>
          <a:p>
            <a:endParaRPr lang="en-US" dirty="0" smtClean="0"/>
          </a:p>
          <a:p>
            <a:pPr>
              <a:buNone/>
            </a:pPr>
            <a:endParaRPr lang="en-US" dirty="0" smtClean="0"/>
          </a:p>
          <a:p>
            <a:r>
              <a:rPr lang="en-US" dirty="0" smtClean="0"/>
              <a:t>Student Table</a:t>
            </a:r>
          </a:p>
          <a:p>
            <a:endParaRPr lang="en-US" dirty="0" smtClean="0"/>
          </a:p>
          <a:p>
            <a:endParaRPr lang="en-US" dirty="0" smtClean="0"/>
          </a:p>
          <a:p>
            <a:r>
              <a:rPr lang="en-US" dirty="0" smtClean="0"/>
              <a:t>Faculty Table</a:t>
            </a:r>
          </a:p>
          <a:p>
            <a:endParaRPr lang="en-US" dirty="0" smtClean="0"/>
          </a:p>
        </p:txBody>
      </p:sp>
      <p:graphicFrame>
        <p:nvGraphicFramePr>
          <p:cNvPr id="4" name="Table 3"/>
          <p:cNvGraphicFramePr>
            <a:graphicFrameLocks noGrp="1"/>
          </p:cNvGraphicFramePr>
          <p:nvPr/>
        </p:nvGraphicFramePr>
        <p:xfrm>
          <a:off x="1143000" y="1828800"/>
          <a:ext cx="7086600" cy="1483360"/>
        </p:xfrm>
        <a:graphic>
          <a:graphicData uri="http://schemas.openxmlformats.org/drawingml/2006/table">
            <a:tbl>
              <a:tblPr firstRow="1" bandRow="1">
                <a:tableStyleId>{5C22544A-7EE6-4342-B048-85BDC9FD1C3A}</a:tableStyleId>
              </a:tblPr>
              <a:tblGrid>
                <a:gridCol w="2057400"/>
                <a:gridCol w="1485900"/>
                <a:gridCol w="1771650"/>
                <a:gridCol w="1771650"/>
              </a:tblGrid>
              <a:tr h="370840">
                <a:tc>
                  <a:txBody>
                    <a:bodyPr/>
                    <a:lstStyle/>
                    <a:p>
                      <a:r>
                        <a:rPr lang="en-US" dirty="0" err="1"/>
                        <a:t>Person_ID</a:t>
                      </a:r>
                      <a:r>
                        <a:rPr lang="en-US" dirty="0"/>
                        <a:t> (PK)</a:t>
                      </a:r>
                    </a:p>
                  </a:txBody>
                  <a:tcPr anchor="ctr"/>
                </a:tc>
                <a:tc>
                  <a:txBody>
                    <a:bodyPr/>
                    <a:lstStyle/>
                    <a:p>
                      <a:r>
                        <a:rPr lang="en-US"/>
                        <a:t>Name</a:t>
                      </a:r>
                    </a:p>
                  </a:txBody>
                  <a:tcPr anchor="ctr"/>
                </a:tc>
                <a:tc>
                  <a:txBody>
                    <a:bodyPr/>
                    <a:lstStyle/>
                    <a:p>
                      <a:r>
                        <a:rPr lang="en-US"/>
                        <a:t>Address</a:t>
                      </a:r>
                    </a:p>
                  </a:txBody>
                  <a:tcPr anchor="ctr"/>
                </a:tc>
                <a:tc>
                  <a:txBody>
                    <a:bodyPr/>
                    <a:lstStyle/>
                    <a:p>
                      <a:r>
                        <a:rPr lang="en-US"/>
                        <a:t>Phone</a:t>
                      </a:r>
                    </a:p>
                  </a:txBody>
                  <a:tcPr anchor="ctr"/>
                </a:tc>
              </a:tr>
              <a:tr h="370840">
                <a:tc>
                  <a:txBody>
                    <a:bodyPr/>
                    <a:lstStyle/>
                    <a:p>
                      <a:r>
                        <a:rPr lang="en-US"/>
                        <a:t>P101</a:t>
                      </a:r>
                    </a:p>
                  </a:txBody>
                  <a:tcPr anchor="ctr"/>
                </a:tc>
                <a:tc>
                  <a:txBody>
                    <a:bodyPr/>
                    <a:lstStyle/>
                    <a:p>
                      <a:r>
                        <a:rPr lang="en-US"/>
                        <a:t>Amit</a:t>
                      </a:r>
                    </a:p>
                  </a:txBody>
                  <a:tcPr anchor="ctr"/>
                </a:tc>
                <a:tc>
                  <a:txBody>
                    <a:bodyPr/>
                    <a:lstStyle/>
                    <a:p>
                      <a:r>
                        <a:rPr lang="en-US"/>
                        <a:t>Delhi</a:t>
                      </a:r>
                    </a:p>
                  </a:txBody>
                  <a:tcPr anchor="ctr"/>
                </a:tc>
                <a:tc>
                  <a:txBody>
                    <a:bodyPr/>
                    <a:lstStyle/>
                    <a:p>
                      <a:r>
                        <a:rPr lang="en-US"/>
                        <a:t>9876543210</a:t>
                      </a:r>
                    </a:p>
                  </a:txBody>
                  <a:tcPr anchor="ctr"/>
                </a:tc>
              </a:tr>
              <a:tr h="370840">
                <a:tc>
                  <a:txBody>
                    <a:bodyPr/>
                    <a:lstStyle/>
                    <a:p>
                      <a:r>
                        <a:rPr lang="en-US"/>
                        <a:t>P102</a:t>
                      </a:r>
                    </a:p>
                  </a:txBody>
                  <a:tcPr anchor="ctr"/>
                </a:tc>
                <a:tc>
                  <a:txBody>
                    <a:bodyPr/>
                    <a:lstStyle/>
                    <a:p>
                      <a:r>
                        <a:rPr lang="en-US"/>
                        <a:t>Neha</a:t>
                      </a:r>
                    </a:p>
                  </a:txBody>
                  <a:tcPr anchor="ctr"/>
                </a:tc>
                <a:tc>
                  <a:txBody>
                    <a:bodyPr/>
                    <a:lstStyle/>
                    <a:p>
                      <a:r>
                        <a:rPr lang="en-US"/>
                        <a:t>Lucknow</a:t>
                      </a:r>
                    </a:p>
                  </a:txBody>
                  <a:tcPr anchor="ctr"/>
                </a:tc>
                <a:tc>
                  <a:txBody>
                    <a:bodyPr/>
                    <a:lstStyle/>
                    <a:p>
                      <a:r>
                        <a:rPr lang="en-US"/>
                        <a:t>9988776655</a:t>
                      </a:r>
                    </a:p>
                  </a:txBody>
                  <a:tcPr anchor="ctr"/>
                </a:tc>
              </a:tr>
              <a:tr h="370840">
                <a:tc>
                  <a:txBody>
                    <a:bodyPr/>
                    <a:lstStyle/>
                    <a:p>
                      <a:r>
                        <a:rPr lang="en-US" dirty="0"/>
                        <a:t>P103</a:t>
                      </a:r>
                    </a:p>
                  </a:txBody>
                  <a:tcPr anchor="ctr"/>
                </a:tc>
                <a:tc>
                  <a:txBody>
                    <a:bodyPr/>
                    <a:lstStyle/>
                    <a:p>
                      <a:r>
                        <a:rPr lang="en-US"/>
                        <a:t>Ravi</a:t>
                      </a:r>
                    </a:p>
                  </a:txBody>
                  <a:tcPr anchor="ctr"/>
                </a:tc>
                <a:tc>
                  <a:txBody>
                    <a:bodyPr/>
                    <a:lstStyle/>
                    <a:p>
                      <a:r>
                        <a:rPr lang="en-US"/>
                        <a:t>Kanpur</a:t>
                      </a:r>
                    </a:p>
                  </a:txBody>
                  <a:tcPr anchor="ctr"/>
                </a:tc>
                <a:tc>
                  <a:txBody>
                    <a:bodyPr/>
                    <a:lstStyle/>
                    <a:p>
                      <a:r>
                        <a:rPr lang="en-US" dirty="0"/>
                        <a:t>9876501234</a:t>
                      </a:r>
                    </a:p>
                  </a:txBody>
                  <a:tcPr anchor="ctr"/>
                </a:tc>
              </a:tr>
            </a:tbl>
          </a:graphicData>
        </a:graphic>
      </p:graphicFrame>
      <p:graphicFrame>
        <p:nvGraphicFramePr>
          <p:cNvPr id="5" name="Table 4"/>
          <p:cNvGraphicFramePr>
            <a:graphicFrameLocks noGrp="1"/>
          </p:cNvGraphicFramePr>
          <p:nvPr/>
        </p:nvGraphicFramePr>
        <p:xfrm>
          <a:off x="1295400" y="3733800"/>
          <a:ext cx="6934200" cy="1097280"/>
        </p:xfrm>
        <a:graphic>
          <a:graphicData uri="http://schemas.openxmlformats.org/drawingml/2006/table">
            <a:tbl>
              <a:tblPr firstRow="1" bandRow="1">
                <a:tableStyleId>{5C22544A-7EE6-4342-B048-85BDC9FD1C3A}</a:tableStyleId>
              </a:tblPr>
              <a:tblGrid>
                <a:gridCol w="2335731"/>
                <a:gridCol w="1131369"/>
                <a:gridCol w="1733550"/>
                <a:gridCol w="1733550"/>
              </a:tblGrid>
              <a:tr h="330200">
                <a:tc>
                  <a:txBody>
                    <a:bodyPr/>
                    <a:lstStyle/>
                    <a:p>
                      <a:r>
                        <a:rPr lang="en-US" dirty="0" err="1"/>
                        <a:t>Person_ID</a:t>
                      </a:r>
                      <a:r>
                        <a:rPr lang="en-US" dirty="0"/>
                        <a:t> (PK, FK)</a:t>
                      </a:r>
                    </a:p>
                  </a:txBody>
                  <a:tcPr anchor="ctr"/>
                </a:tc>
                <a:tc>
                  <a:txBody>
                    <a:bodyPr/>
                    <a:lstStyle/>
                    <a:p>
                      <a:r>
                        <a:rPr lang="en-US"/>
                        <a:t>Roll_No</a:t>
                      </a:r>
                    </a:p>
                  </a:txBody>
                  <a:tcPr anchor="ctr"/>
                </a:tc>
                <a:tc>
                  <a:txBody>
                    <a:bodyPr/>
                    <a:lstStyle/>
                    <a:p>
                      <a:r>
                        <a:rPr lang="en-US"/>
                        <a:t>Branch</a:t>
                      </a:r>
                    </a:p>
                  </a:txBody>
                  <a:tcPr anchor="ctr"/>
                </a:tc>
                <a:tc>
                  <a:txBody>
                    <a:bodyPr/>
                    <a:lstStyle/>
                    <a:p>
                      <a:r>
                        <a:rPr lang="en-US"/>
                        <a:t>Semester</a:t>
                      </a:r>
                    </a:p>
                  </a:txBody>
                  <a:tcPr anchor="ctr"/>
                </a:tc>
              </a:tr>
              <a:tr h="330200">
                <a:tc>
                  <a:txBody>
                    <a:bodyPr/>
                    <a:lstStyle/>
                    <a:p>
                      <a:r>
                        <a:rPr lang="en-US"/>
                        <a:t>P101</a:t>
                      </a:r>
                    </a:p>
                  </a:txBody>
                  <a:tcPr anchor="ctr"/>
                </a:tc>
                <a:tc>
                  <a:txBody>
                    <a:bodyPr/>
                    <a:lstStyle/>
                    <a:p>
                      <a:r>
                        <a:rPr lang="en-US"/>
                        <a:t>101</a:t>
                      </a:r>
                    </a:p>
                  </a:txBody>
                  <a:tcPr anchor="ctr"/>
                </a:tc>
                <a:tc>
                  <a:txBody>
                    <a:bodyPr/>
                    <a:lstStyle/>
                    <a:p>
                      <a:r>
                        <a:rPr lang="en-US"/>
                        <a:t>CSE</a:t>
                      </a:r>
                    </a:p>
                  </a:txBody>
                  <a:tcPr anchor="ctr"/>
                </a:tc>
                <a:tc>
                  <a:txBody>
                    <a:bodyPr/>
                    <a:lstStyle/>
                    <a:p>
                      <a:r>
                        <a:rPr lang="en-US"/>
                        <a:t>3</a:t>
                      </a:r>
                    </a:p>
                  </a:txBody>
                  <a:tcPr anchor="ctr"/>
                </a:tc>
              </a:tr>
              <a:tr h="330200">
                <a:tc>
                  <a:txBody>
                    <a:bodyPr/>
                    <a:lstStyle/>
                    <a:p>
                      <a:r>
                        <a:rPr lang="en-US" dirty="0"/>
                        <a:t>P102</a:t>
                      </a:r>
                    </a:p>
                  </a:txBody>
                  <a:tcPr anchor="ctr"/>
                </a:tc>
                <a:tc>
                  <a:txBody>
                    <a:bodyPr/>
                    <a:lstStyle/>
                    <a:p>
                      <a:r>
                        <a:rPr lang="en-US"/>
                        <a:t>102</a:t>
                      </a:r>
                    </a:p>
                  </a:txBody>
                  <a:tcPr anchor="ctr"/>
                </a:tc>
                <a:tc>
                  <a:txBody>
                    <a:bodyPr/>
                    <a:lstStyle/>
                    <a:p>
                      <a:r>
                        <a:rPr lang="en-US" dirty="0"/>
                        <a:t>IT</a:t>
                      </a:r>
                    </a:p>
                  </a:txBody>
                  <a:tcPr anchor="ctr"/>
                </a:tc>
                <a:tc>
                  <a:txBody>
                    <a:bodyPr/>
                    <a:lstStyle/>
                    <a:p>
                      <a:r>
                        <a:rPr lang="en-US" dirty="0"/>
                        <a:t>5</a:t>
                      </a:r>
                    </a:p>
                  </a:txBody>
                  <a:tcPr anchor="ctr"/>
                </a:tc>
              </a:tr>
            </a:tbl>
          </a:graphicData>
        </a:graphic>
      </p:graphicFrame>
      <p:graphicFrame>
        <p:nvGraphicFramePr>
          <p:cNvPr id="7" name="Table 6"/>
          <p:cNvGraphicFramePr>
            <a:graphicFrameLocks noGrp="1"/>
          </p:cNvGraphicFramePr>
          <p:nvPr/>
        </p:nvGraphicFramePr>
        <p:xfrm>
          <a:off x="1295400" y="5334000"/>
          <a:ext cx="6781800" cy="741680"/>
        </p:xfrm>
        <a:graphic>
          <a:graphicData uri="http://schemas.openxmlformats.org/drawingml/2006/table">
            <a:tbl>
              <a:tblPr firstRow="1" bandRow="1">
                <a:tableStyleId>{5C22544A-7EE6-4342-B048-85BDC9FD1C3A}</a:tableStyleId>
              </a:tblPr>
              <a:tblGrid>
                <a:gridCol w="2286000"/>
                <a:gridCol w="1104900"/>
                <a:gridCol w="1695450"/>
                <a:gridCol w="1695450"/>
              </a:tblGrid>
              <a:tr h="370840">
                <a:tc>
                  <a:txBody>
                    <a:bodyPr/>
                    <a:lstStyle/>
                    <a:p>
                      <a:r>
                        <a:rPr lang="en-US" dirty="0" err="1"/>
                        <a:t>Person_ID</a:t>
                      </a:r>
                      <a:r>
                        <a:rPr lang="en-US" dirty="0"/>
                        <a:t> (PK, FK)</a:t>
                      </a:r>
                    </a:p>
                  </a:txBody>
                  <a:tcPr anchor="ctr"/>
                </a:tc>
                <a:tc>
                  <a:txBody>
                    <a:bodyPr/>
                    <a:lstStyle/>
                    <a:p>
                      <a:r>
                        <a:rPr lang="en-US" dirty="0" err="1"/>
                        <a:t>Emp_No</a:t>
                      </a:r>
                      <a:endParaRPr lang="en-US" dirty="0"/>
                    </a:p>
                  </a:txBody>
                  <a:tcPr anchor="ctr"/>
                </a:tc>
                <a:tc>
                  <a:txBody>
                    <a:bodyPr/>
                    <a:lstStyle/>
                    <a:p>
                      <a:r>
                        <a:rPr lang="en-US"/>
                        <a:t>Designation</a:t>
                      </a:r>
                    </a:p>
                  </a:txBody>
                  <a:tcPr anchor="ctr"/>
                </a:tc>
                <a:tc>
                  <a:txBody>
                    <a:bodyPr/>
                    <a:lstStyle/>
                    <a:p>
                      <a:r>
                        <a:rPr lang="en-US"/>
                        <a:t>Salary</a:t>
                      </a:r>
                    </a:p>
                  </a:txBody>
                  <a:tcPr anchor="ctr"/>
                </a:tc>
              </a:tr>
              <a:tr h="370840">
                <a:tc>
                  <a:txBody>
                    <a:bodyPr/>
                    <a:lstStyle/>
                    <a:p>
                      <a:r>
                        <a:rPr lang="en-US" dirty="0"/>
                        <a:t>P103</a:t>
                      </a:r>
                    </a:p>
                  </a:txBody>
                  <a:tcPr anchor="ctr"/>
                </a:tc>
                <a:tc>
                  <a:txBody>
                    <a:bodyPr/>
                    <a:lstStyle/>
                    <a:p>
                      <a:r>
                        <a:rPr lang="en-US"/>
                        <a:t>E101</a:t>
                      </a:r>
                    </a:p>
                  </a:txBody>
                  <a:tcPr anchor="ctr"/>
                </a:tc>
                <a:tc>
                  <a:txBody>
                    <a:bodyPr/>
                    <a:lstStyle/>
                    <a:p>
                      <a:r>
                        <a:rPr lang="en-US"/>
                        <a:t>Professor</a:t>
                      </a:r>
                    </a:p>
                  </a:txBody>
                  <a:tcPr anchor="ctr"/>
                </a:tc>
                <a:tc>
                  <a:txBody>
                    <a:bodyPr/>
                    <a:lstStyle/>
                    <a:p>
                      <a:r>
                        <a:rPr lang="en-US" dirty="0"/>
                        <a:t>85000</a:t>
                      </a:r>
                    </a:p>
                  </a:txBody>
                  <a:tcPr anchor="ctr"/>
                </a:tc>
              </a:tr>
            </a:tbl>
          </a:graphicData>
        </a:graphic>
      </p:graphicFrame>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867400"/>
          </a:xfrm>
        </p:spPr>
        <p:txBody>
          <a:bodyPr/>
          <a:lstStyle/>
          <a:p>
            <a:pPr>
              <a:buNone/>
            </a:pPr>
            <a:r>
              <a:rPr lang="en-US" b="1" dirty="0" smtClean="0"/>
              <a:t>Method 2: Separate Table for Each Subclass Only</a:t>
            </a:r>
          </a:p>
          <a:p>
            <a:r>
              <a:rPr lang="en-US" dirty="0" smtClean="0"/>
              <a:t>In this approach, </a:t>
            </a:r>
            <a:r>
              <a:rPr lang="en-US" b="1" dirty="0" smtClean="0"/>
              <a:t>no </a:t>
            </a:r>
            <a:r>
              <a:rPr lang="en-US" b="1" dirty="0" err="1" smtClean="0"/>
              <a:t>superclass</a:t>
            </a:r>
            <a:r>
              <a:rPr lang="en-US" b="1" dirty="0" smtClean="0"/>
              <a:t> table is created</a:t>
            </a:r>
            <a:r>
              <a:rPr lang="en-US" dirty="0" smtClean="0"/>
              <a:t>.</a:t>
            </a:r>
          </a:p>
          <a:p>
            <a:r>
              <a:rPr lang="en-US" dirty="0" smtClean="0"/>
              <a:t>Each subclass stores both:</a:t>
            </a:r>
          </a:p>
          <a:p>
            <a:pPr lvl="1"/>
            <a:r>
              <a:rPr lang="en-US" dirty="0" smtClean="0"/>
              <a:t>Common attributes </a:t>
            </a:r>
          </a:p>
          <a:p>
            <a:pPr lvl="1"/>
            <a:r>
              <a:rPr lang="en-US" dirty="0" smtClean="0"/>
              <a:t>Specialized attributes</a:t>
            </a:r>
          </a:p>
          <a:p>
            <a:pPr lvl="1"/>
            <a:endParaRPr lang="en-US" dirty="0" smtClean="0"/>
          </a:p>
          <a:p>
            <a:r>
              <a:rPr lang="en-US" b="1" dirty="0" smtClean="0"/>
              <a:t>Advantages</a:t>
            </a:r>
          </a:p>
          <a:p>
            <a:pPr lvl="1"/>
            <a:r>
              <a:rPr lang="en-US" dirty="0" smtClean="0"/>
              <a:t>Fewer joins during queries. </a:t>
            </a:r>
          </a:p>
          <a:p>
            <a:r>
              <a:rPr lang="en-US" b="1" dirty="0" smtClean="0"/>
              <a:t>Disadvantages</a:t>
            </a:r>
          </a:p>
          <a:p>
            <a:pPr lvl="1"/>
            <a:r>
              <a:rPr lang="en-US" dirty="0" smtClean="0"/>
              <a:t>Common information is duplicated. </a:t>
            </a:r>
          </a:p>
          <a:p>
            <a:pPr lvl="1"/>
            <a:r>
              <a:rPr lang="en-US" dirty="0" smtClean="0"/>
              <a:t>Updating common attributes requires changes in multiple tables. </a:t>
            </a:r>
          </a:p>
          <a:p>
            <a:endParaRPr lang="en-US" dirty="0"/>
          </a:p>
        </p:txBody>
      </p:sp>
    </p:spTree>
  </p:cSld>
  <p:clrMapOvr>
    <a:masterClrMapping/>
  </p:clrMapOvr>
  <p:timing>
    <p:tnLst>
      <p:par>
        <p:cTn id="1" dur="indefinite" restart="never" nodeType="tmRoot"/>
      </p:par>
    </p:tnLst>
  </p:timing>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667512"/>
          </a:xfrm>
        </p:spPr>
        <p:txBody>
          <a:bodyPr>
            <a:normAutofit/>
          </a:bodyPr>
          <a:lstStyle/>
          <a:p>
            <a:r>
              <a:rPr lang="en-US" sz="3200" dirty="0" smtClean="0"/>
              <a:t>Example</a:t>
            </a:r>
            <a:endParaRPr lang="en-US" sz="3200" dirty="0"/>
          </a:p>
        </p:txBody>
      </p:sp>
      <p:sp>
        <p:nvSpPr>
          <p:cNvPr id="3" name="Content Placeholder 2"/>
          <p:cNvSpPr>
            <a:spLocks noGrp="1"/>
          </p:cNvSpPr>
          <p:nvPr>
            <p:ph idx="1"/>
          </p:nvPr>
        </p:nvSpPr>
        <p:spPr>
          <a:xfrm>
            <a:off x="457200" y="1447800"/>
            <a:ext cx="8229600" cy="4876800"/>
          </a:xfrm>
        </p:spPr>
        <p:txBody>
          <a:bodyPr/>
          <a:lstStyle/>
          <a:p>
            <a:r>
              <a:rPr lang="en-US" dirty="0" smtClean="0"/>
              <a:t>Student Table</a:t>
            </a:r>
          </a:p>
          <a:p>
            <a:endParaRPr lang="en-US" dirty="0" smtClean="0"/>
          </a:p>
          <a:p>
            <a:endParaRPr lang="en-US" dirty="0" smtClean="0"/>
          </a:p>
          <a:p>
            <a:endParaRPr lang="en-US" dirty="0" smtClean="0"/>
          </a:p>
          <a:p>
            <a:r>
              <a:rPr lang="en-US" dirty="0" smtClean="0"/>
              <a:t>Faculty Table</a:t>
            </a:r>
          </a:p>
          <a:p>
            <a:endParaRPr lang="en-US" dirty="0" smtClean="0"/>
          </a:p>
          <a:p>
            <a:endParaRPr lang="en-US" dirty="0"/>
          </a:p>
        </p:txBody>
      </p:sp>
      <p:graphicFrame>
        <p:nvGraphicFramePr>
          <p:cNvPr id="4" name="Table 3"/>
          <p:cNvGraphicFramePr>
            <a:graphicFrameLocks noGrp="1"/>
          </p:cNvGraphicFramePr>
          <p:nvPr/>
        </p:nvGraphicFramePr>
        <p:xfrm>
          <a:off x="762001" y="2133600"/>
          <a:ext cx="7848599" cy="1010920"/>
        </p:xfrm>
        <a:graphic>
          <a:graphicData uri="http://schemas.openxmlformats.org/drawingml/2006/table">
            <a:tbl>
              <a:tblPr firstRow="1" bandRow="1">
                <a:tableStyleId>{5C22544A-7EE6-4342-B048-85BDC9FD1C3A}</a:tableStyleId>
              </a:tblPr>
              <a:tblGrid>
                <a:gridCol w="1121228"/>
                <a:gridCol w="859971"/>
                <a:gridCol w="1143000"/>
                <a:gridCol w="1360715"/>
                <a:gridCol w="1077685"/>
                <a:gridCol w="990600"/>
                <a:gridCol w="1295400"/>
              </a:tblGrid>
              <a:tr h="370840">
                <a:tc>
                  <a:txBody>
                    <a:bodyPr/>
                    <a:lstStyle/>
                    <a:p>
                      <a:r>
                        <a:rPr lang="en-US" dirty="0" err="1"/>
                        <a:t>Person_ID</a:t>
                      </a:r>
                      <a:r>
                        <a:rPr lang="en-US" dirty="0"/>
                        <a:t> (PK)</a:t>
                      </a:r>
                    </a:p>
                  </a:txBody>
                  <a:tcPr anchor="ctr"/>
                </a:tc>
                <a:tc>
                  <a:txBody>
                    <a:bodyPr/>
                    <a:lstStyle/>
                    <a:p>
                      <a:r>
                        <a:rPr lang="en-US"/>
                        <a:t>Name</a:t>
                      </a:r>
                    </a:p>
                  </a:txBody>
                  <a:tcPr anchor="ctr"/>
                </a:tc>
                <a:tc>
                  <a:txBody>
                    <a:bodyPr/>
                    <a:lstStyle/>
                    <a:p>
                      <a:r>
                        <a:rPr lang="en-US"/>
                        <a:t>Address</a:t>
                      </a:r>
                    </a:p>
                  </a:txBody>
                  <a:tcPr anchor="ctr"/>
                </a:tc>
                <a:tc>
                  <a:txBody>
                    <a:bodyPr/>
                    <a:lstStyle/>
                    <a:p>
                      <a:r>
                        <a:rPr lang="en-US"/>
                        <a:t>Phone</a:t>
                      </a:r>
                    </a:p>
                  </a:txBody>
                  <a:tcPr anchor="ctr"/>
                </a:tc>
                <a:tc>
                  <a:txBody>
                    <a:bodyPr/>
                    <a:lstStyle/>
                    <a:p>
                      <a:r>
                        <a:rPr lang="en-US"/>
                        <a:t>Roll_No</a:t>
                      </a:r>
                    </a:p>
                  </a:txBody>
                  <a:tcPr anchor="ctr"/>
                </a:tc>
                <a:tc>
                  <a:txBody>
                    <a:bodyPr/>
                    <a:lstStyle/>
                    <a:p>
                      <a:r>
                        <a:rPr lang="en-US"/>
                        <a:t>Branch</a:t>
                      </a:r>
                    </a:p>
                  </a:txBody>
                  <a:tcPr anchor="ctr"/>
                </a:tc>
                <a:tc>
                  <a:txBody>
                    <a:bodyPr/>
                    <a:lstStyle/>
                    <a:p>
                      <a:r>
                        <a:rPr lang="en-US"/>
                        <a:t>Semester</a:t>
                      </a:r>
                    </a:p>
                  </a:txBody>
                  <a:tcPr anchor="ctr"/>
                </a:tc>
              </a:tr>
              <a:tr h="370840">
                <a:tc>
                  <a:txBody>
                    <a:bodyPr/>
                    <a:lstStyle/>
                    <a:p>
                      <a:r>
                        <a:rPr lang="en-US"/>
                        <a:t>P101</a:t>
                      </a:r>
                    </a:p>
                  </a:txBody>
                  <a:tcPr anchor="ctr"/>
                </a:tc>
                <a:tc>
                  <a:txBody>
                    <a:bodyPr/>
                    <a:lstStyle/>
                    <a:p>
                      <a:r>
                        <a:rPr lang="en-US"/>
                        <a:t>Amit</a:t>
                      </a:r>
                    </a:p>
                  </a:txBody>
                  <a:tcPr anchor="ctr"/>
                </a:tc>
                <a:tc>
                  <a:txBody>
                    <a:bodyPr/>
                    <a:lstStyle/>
                    <a:p>
                      <a:r>
                        <a:rPr lang="en-US"/>
                        <a:t>Delhi</a:t>
                      </a:r>
                    </a:p>
                  </a:txBody>
                  <a:tcPr anchor="ctr"/>
                </a:tc>
                <a:tc>
                  <a:txBody>
                    <a:bodyPr/>
                    <a:lstStyle/>
                    <a:p>
                      <a:r>
                        <a:rPr lang="en-US"/>
                        <a:t>9876543210</a:t>
                      </a:r>
                    </a:p>
                  </a:txBody>
                  <a:tcPr anchor="ctr"/>
                </a:tc>
                <a:tc>
                  <a:txBody>
                    <a:bodyPr/>
                    <a:lstStyle/>
                    <a:p>
                      <a:r>
                        <a:rPr lang="en-US"/>
                        <a:t>101</a:t>
                      </a:r>
                    </a:p>
                  </a:txBody>
                  <a:tcPr anchor="ctr"/>
                </a:tc>
                <a:tc>
                  <a:txBody>
                    <a:bodyPr/>
                    <a:lstStyle/>
                    <a:p>
                      <a:r>
                        <a:rPr lang="en-US"/>
                        <a:t>CSE</a:t>
                      </a:r>
                    </a:p>
                  </a:txBody>
                  <a:tcPr anchor="ctr"/>
                </a:tc>
                <a:tc>
                  <a:txBody>
                    <a:bodyPr/>
                    <a:lstStyle/>
                    <a:p>
                      <a:r>
                        <a:rPr lang="en-US" dirty="0"/>
                        <a:t>3</a:t>
                      </a:r>
                    </a:p>
                  </a:txBody>
                  <a:tcPr anchor="ctr"/>
                </a:tc>
              </a:tr>
            </a:tbl>
          </a:graphicData>
        </a:graphic>
      </p:graphicFrame>
      <p:graphicFrame>
        <p:nvGraphicFramePr>
          <p:cNvPr id="5" name="Table 4"/>
          <p:cNvGraphicFramePr>
            <a:graphicFrameLocks noGrp="1"/>
          </p:cNvGraphicFramePr>
          <p:nvPr/>
        </p:nvGraphicFramePr>
        <p:xfrm>
          <a:off x="762000" y="4038600"/>
          <a:ext cx="7772401" cy="1010920"/>
        </p:xfrm>
        <a:graphic>
          <a:graphicData uri="http://schemas.openxmlformats.org/drawingml/2006/table">
            <a:tbl>
              <a:tblPr firstRow="1" bandRow="1">
                <a:tableStyleId>{5C22544A-7EE6-4342-B048-85BDC9FD1C3A}</a:tableStyleId>
              </a:tblPr>
              <a:tblGrid>
                <a:gridCol w="1110343"/>
                <a:gridCol w="870857"/>
                <a:gridCol w="1143000"/>
                <a:gridCol w="1317172"/>
                <a:gridCol w="1110343"/>
                <a:gridCol w="1110343"/>
                <a:gridCol w="1110343"/>
              </a:tblGrid>
              <a:tr h="370840">
                <a:tc>
                  <a:txBody>
                    <a:bodyPr/>
                    <a:lstStyle/>
                    <a:p>
                      <a:r>
                        <a:rPr lang="en-US" dirty="0" err="1"/>
                        <a:t>Person_ID</a:t>
                      </a:r>
                      <a:r>
                        <a:rPr lang="en-US" dirty="0"/>
                        <a:t> (PK)</a:t>
                      </a:r>
                    </a:p>
                  </a:txBody>
                  <a:tcPr anchor="ctr"/>
                </a:tc>
                <a:tc>
                  <a:txBody>
                    <a:bodyPr/>
                    <a:lstStyle/>
                    <a:p>
                      <a:r>
                        <a:rPr lang="en-US"/>
                        <a:t>Name</a:t>
                      </a:r>
                    </a:p>
                  </a:txBody>
                  <a:tcPr anchor="ctr"/>
                </a:tc>
                <a:tc>
                  <a:txBody>
                    <a:bodyPr/>
                    <a:lstStyle/>
                    <a:p>
                      <a:r>
                        <a:rPr lang="en-US"/>
                        <a:t>Address</a:t>
                      </a:r>
                    </a:p>
                  </a:txBody>
                  <a:tcPr anchor="ctr"/>
                </a:tc>
                <a:tc>
                  <a:txBody>
                    <a:bodyPr/>
                    <a:lstStyle/>
                    <a:p>
                      <a:r>
                        <a:rPr lang="en-US"/>
                        <a:t>Phone</a:t>
                      </a:r>
                    </a:p>
                  </a:txBody>
                  <a:tcPr anchor="ctr"/>
                </a:tc>
                <a:tc>
                  <a:txBody>
                    <a:bodyPr/>
                    <a:lstStyle/>
                    <a:p>
                      <a:r>
                        <a:rPr lang="en-US"/>
                        <a:t>Emp_No</a:t>
                      </a:r>
                    </a:p>
                  </a:txBody>
                  <a:tcPr anchor="ctr"/>
                </a:tc>
                <a:tc>
                  <a:txBody>
                    <a:bodyPr/>
                    <a:lstStyle/>
                    <a:p>
                      <a:r>
                        <a:rPr lang="en-US"/>
                        <a:t>Designation</a:t>
                      </a:r>
                    </a:p>
                  </a:txBody>
                  <a:tcPr anchor="ctr"/>
                </a:tc>
                <a:tc>
                  <a:txBody>
                    <a:bodyPr/>
                    <a:lstStyle/>
                    <a:p>
                      <a:r>
                        <a:rPr lang="en-US"/>
                        <a:t>Salary</a:t>
                      </a:r>
                    </a:p>
                  </a:txBody>
                  <a:tcPr anchor="ctr"/>
                </a:tc>
              </a:tr>
              <a:tr h="370840">
                <a:tc>
                  <a:txBody>
                    <a:bodyPr/>
                    <a:lstStyle/>
                    <a:p>
                      <a:r>
                        <a:rPr lang="en-US"/>
                        <a:t>P103</a:t>
                      </a:r>
                    </a:p>
                  </a:txBody>
                  <a:tcPr anchor="ctr"/>
                </a:tc>
                <a:tc>
                  <a:txBody>
                    <a:bodyPr/>
                    <a:lstStyle/>
                    <a:p>
                      <a:r>
                        <a:rPr lang="en-US"/>
                        <a:t>Ravi</a:t>
                      </a:r>
                    </a:p>
                  </a:txBody>
                  <a:tcPr anchor="ctr"/>
                </a:tc>
                <a:tc>
                  <a:txBody>
                    <a:bodyPr/>
                    <a:lstStyle/>
                    <a:p>
                      <a:r>
                        <a:rPr lang="en-US"/>
                        <a:t>Kanpur</a:t>
                      </a:r>
                    </a:p>
                  </a:txBody>
                  <a:tcPr anchor="ctr"/>
                </a:tc>
                <a:tc>
                  <a:txBody>
                    <a:bodyPr/>
                    <a:lstStyle/>
                    <a:p>
                      <a:r>
                        <a:rPr lang="en-US"/>
                        <a:t>9876501234</a:t>
                      </a:r>
                    </a:p>
                  </a:txBody>
                  <a:tcPr anchor="ctr"/>
                </a:tc>
                <a:tc>
                  <a:txBody>
                    <a:bodyPr/>
                    <a:lstStyle/>
                    <a:p>
                      <a:r>
                        <a:rPr lang="en-US"/>
                        <a:t>E101</a:t>
                      </a:r>
                    </a:p>
                  </a:txBody>
                  <a:tcPr anchor="ctr"/>
                </a:tc>
                <a:tc>
                  <a:txBody>
                    <a:bodyPr/>
                    <a:lstStyle/>
                    <a:p>
                      <a:r>
                        <a:rPr lang="en-US"/>
                        <a:t>Professor</a:t>
                      </a:r>
                    </a:p>
                  </a:txBody>
                  <a:tcPr anchor="ctr"/>
                </a:tc>
                <a:tc>
                  <a:txBody>
                    <a:bodyPr/>
                    <a:lstStyle/>
                    <a:p>
                      <a:r>
                        <a:rPr lang="en-US" dirty="0"/>
                        <a:t>85000</a:t>
                      </a:r>
                    </a:p>
                  </a:txBody>
                  <a:tcPr anchor="ctr"/>
                </a:tc>
              </a:tr>
            </a:tbl>
          </a:graphicData>
        </a:graphic>
      </p:graphicFrame>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14400"/>
            <a:ext cx="8229600" cy="5410200"/>
          </a:xfrm>
        </p:spPr>
        <p:txBody>
          <a:bodyPr>
            <a:normAutofit fontScale="92500"/>
          </a:bodyPr>
          <a:lstStyle/>
          <a:p>
            <a:r>
              <a:rPr lang="en-US" b="1" dirty="0" smtClean="0"/>
              <a:t>Method 3: Single Table for Entire Hierarchy</a:t>
            </a:r>
          </a:p>
          <a:p>
            <a:pPr lvl="1">
              <a:buNone/>
            </a:pPr>
            <a:r>
              <a:rPr lang="en-US" dirty="0" smtClean="0"/>
              <a:t>All </a:t>
            </a:r>
            <a:r>
              <a:rPr lang="en-US" dirty="0" err="1" smtClean="0"/>
              <a:t>superclass</a:t>
            </a:r>
            <a:r>
              <a:rPr lang="en-US" dirty="0" smtClean="0"/>
              <a:t> and subclass attributes are stored in one table.</a:t>
            </a:r>
          </a:p>
          <a:p>
            <a:pPr lvl="1">
              <a:buNone/>
            </a:pPr>
            <a:endParaRPr lang="en-US" dirty="0" smtClean="0"/>
          </a:p>
          <a:p>
            <a:pPr lvl="1">
              <a:buNone/>
            </a:pPr>
            <a:endParaRPr lang="en-US" dirty="0" smtClean="0"/>
          </a:p>
          <a:p>
            <a:pPr lvl="1">
              <a:buNone/>
            </a:pPr>
            <a:endParaRPr lang="en-US" dirty="0" smtClean="0"/>
          </a:p>
          <a:p>
            <a:pPr lvl="1">
              <a:buNone/>
            </a:pPr>
            <a:endParaRPr lang="en-US" dirty="0" smtClean="0"/>
          </a:p>
          <a:p>
            <a:pPr lvl="1">
              <a:buNone/>
            </a:pPr>
            <a:endParaRPr lang="en-US" dirty="0" smtClean="0"/>
          </a:p>
          <a:p>
            <a:pPr lvl="1">
              <a:buNone/>
            </a:pPr>
            <a:endParaRPr lang="en-US" dirty="0" smtClean="0"/>
          </a:p>
          <a:p>
            <a:pPr lvl="1">
              <a:buNone/>
            </a:pPr>
            <a:endParaRPr lang="en-US" dirty="0" smtClean="0"/>
          </a:p>
          <a:p>
            <a:pPr>
              <a:buNone/>
            </a:pPr>
            <a:r>
              <a:rPr lang="en-US" dirty="0" smtClean="0"/>
              <a:t>Here:</a:t>
            </a:r>
          </a:p>
          <a:p>
            <a:r>
              <a:rPr lang="en-US" b="1" dirty="0" smtClean="0"/>
              <a:t>Type</a:t>
            </a:r>
            <a:r>
              <a:rPr lang="en-US" dirty="0" smtClean="0"/>
              <a:t> identifies whether the record is a Student or Faculty. </a:t>
            </a:r>
          </a:p>
          <a:p>
            <a:r>
              <a:rPr lang="en-US" dirty="0" smtClean="0"/>
              <a:t>Unused subclass attributes contain </a:t>
            </a:r>
            <a:r>
              <a:rPr lang="en-US" b="1" dirty="0" smtClean="0"/>
              <a:t>NULL</a:t>
            </a:r>
            <a:r>
              <a:rPr lang="en-US" dirty="0" smtClean="0"/>
              <a:t> values.</a:t>
            </a:r>
          </a:p>
          <a:p>
            <a:pPr lvl="1">
              <a:buNone/>
            </a:pPr>
            <a:endParaRPr lang="en-US" dirty="0" smtClean="0"/>
          </a:p>
          <a:p>
            <a:pPr lvl="1">
              <a:buNone/>
            </a:pPr>
            <a:endParaRPr lang="en-US" dirty="0" smtClean="0"/>
          </a:p>
          <a:p>
            <a:endParaRPr lang="en-US" dirty="0"/>
          </a:p>
        </p:txBody>
      </p:sp>
      <p:graphicFrame>
        <p:nvGraphicFramePr>
          <p:cNvPr id="4" name="Table 3"/>
          <p:cNvGraphicFramePr>
            <a:graphicFrameLocks noGrp="1"/>
          </p:cNvGraphicFramePr>
          <p:nvPr/>
        </p:nvGraphicFramePr>
        <p:xfrm>
          <a:off x="0" y="1828800"/>
          <a:ext cx="8991598" cy="2834640"/>
        </p:xfrm>
        <a:graphic>
          <a:graphicData uri="http://schemas.openxmlformats.org/drawingml/2006/table">
            <a:tbl>
              <a:tblPr firstRow="1" bandRow="1">
                <a:tableStyleId>{5C22544A-7EE6-4342-B048-85BDC9FD1C3A}</a:tableStyleId>
              </a:tblPr>
              <a:tblGrid>
                <a:gridCol w="817418"/>
                <a:gridCol w="817418"/>
                <a:gridCol w="817418"/>
                <a:gridCol w="817418"/>
                <a:gridCol w="817418"/>
                <a:gridCol w="817418"/>
                <a:gridCol w="817418"/>
                <a:gridCol w="817418"/>
                <a:gridCol w="817418"/>
                <a:gridCol w="817418"/>
                <a:gridCol w="817418"/>
              </a:tblGrid>
              <a:tr h="370840">
                <a:tc>
                  <a:txBody>
                    <a:bodyPr/>
                    <a:lstStyle/>
                    <a:p>
                      <a:r>
                        <a:rPr lang="en-US" dirty="0" err="1"/>
                        <a:t>Person_ID</a:t>
                      </a:r>
                      <a:endParaRPr lang="en-US" dirty="0"/>
                    </a:p>
                  </a:txBody>
                  <a:tcPr anchor="ctr"/>
                </a:tc>
                <a:tc>
                  <a:txBody>
                    <a:bodyPr/>
                    <a:lstStyle/>
                    <a:p>
                      <a:r>
                        <a:rPr lang="en-US"/>
                        <a:t>Name</a:t>
                      </a:r>
                    </a:p>
                  </a:txBody>
                  <a:tcPr anchor="ctr"/>
                </a:tc>
                <a:tc>
                  <a:txBody>
                    <a:bodyPr/>
                    <a:lstStyle/>
                    <a:p>
                      <a:r>
                        <a:rPr lang="en-US"/>
                        <a:t>Address</a:t>
                      </a:r>
                    </a:p>
                  </a:txBody>
                  <a:tcPr anchor="ctr"/>
                </a:tc>
                <a:tc>
                  <a:txBody>
                    <a:bodyPr/>
                    <a:lstStyle/>
                    <a:p>
                      <a:r>
                        <a:rPr lang="en-US"/>
                        <a:t>Phone</a:t>
                      </a:r>
                    </a:p>
                  </a:txBody>
                  <a:tcPr anchor="ctr"/>
                </a:tc>
                <a:tc>
                  <a:txBody>
                    <a:bodyPr/>
                    <a:lstStyle/>
                    <a:p>
                      <a:r>
                        <a:rPr lang="en-US" dirty="0"/>
                        <a:t>Type</a:t>
                      </a:r>
                    </a:p>
                  </a:txBody>
                  <a:tcPr anchor="ctr"/>
                </a:tc>
                <a:tc>
                  <a:txBody>
                    <a:bodyPr/>
                    <a:lstStyle/>
                    <a:p>
                      <a:r>
                        <a:rPr lang="en-US"/>
                        <a:t>Roll_No</a:t>
                      </a:r>
                    </a:p>
                  </a:txBody>
                  <a:tcPr anchor="ctr"/>
                </a:tc>
                <a:tc>
                  <a:txBody>
                    <a:bodyPr/>
                    <a:lstStyle/>
                    <a:p>
                      <a:r>
                        <a:rPr lang="en-US"/>
                        <a:t>Branch</a:t>
                      </a:r>
                    </a:p>
                  </a:txBody>
                  <a:tcPr anchor="ctr"/>
                </a:tc>
                <a:tc>
                  <a:txBody>
                    <a:bodyPr/>
                    <a:lstStyle/>
                    <a:p>
                      <a:r>
                        <a:rPr lang="en-US"/>
                        <a:t>Semester</a:t>
                      </a:r>
                    </a:p>
                  </a:txBody>
                  <a:tcPr anchor="ctr"/>
                </a:tc>
                <a:tc>
                  <a:txBody>
                    <a:bodyPr/>
                    <a:lstStyle/>
                    <a:p>
                      <a:r>
                        <a:rPr lang="en-US"/>
                        <a:t>Emp_No</a:t>
                      </a:r>
                    </a:p>
                  </a:txBody>
                  <a:tcPr anchor="ctr"/>
                </a:tc>
                <a:tc>
                  <a:txBody>
                    <a:bodyPr/>
                    <a:lstStyle/>
                    <a:p>
                      <a:r>
                        <a:rPr lang="en-US"/>
                        <a:t>Designation</a:t>
                      </a:r>
                    </a:p>
                  </a:txBody>
                  <a:tcPr anchor="ctr"/>
                </a:tc>
                <a:tc>
                  <a:txBody>
                    <a:bodyPr/>
                    <a:lstStyle/>
                    <a:p>
                      <a:r>
                        <a:rPr lang="en-US"/>
                        <a:t>Salary</a:t>
                      </a:r>
                    </a:p>
                  </a:txBody>
                  <a:tcPr anchor="ctr"/>
                </a:tc>
              </a:tr>
              <a:tr h="370840">
                <a:tc>
                  <a:txBody>
                    <a:bodyPr/>
                    <a:lstStyle/>
                    <a:p>
                      <a:r>
                        <a:rPr lang="en-US"/>
                        <a:t>P101</a:t>
                      </a:r>
                    </a:p>
                  </a:txBody>
                  <a:tcPr anchor="ctr"/>
                </a:tc>
                <a:tc>
                  <a:txBody>
                    <a:bodyPr/>
                    <a:lstStyle/>
                    <a:p>
                      <a:r>
                        <a:rPr lang="en-US"/>
                        <a:t>Amit</a:t>
                      </a:r>
                    </a:p>
                  </a:txBody>
                  <a:tcPr anchor="ctr"/>
                </a:tc>
                <a:tc>
                  <a:txBody>
                    <a:bodyPr/>
                    <a:lstStyle/>
                    <a:p>
                      <a:r>
                        <a:rPr lang="en-US"/>
                        <a:t>Delhi</a:t>
                      </a:r>
                    </a:p>
                  </a:txBody>
                  <a:tcPr anchor="ctr"/>
                </a:tc>
                <a:tc>
                  <a:txBody>
                    <a:bodyPr/>
                    <a:lstStyle/>
                    <a:p>
                      <a:r>
                        <a:rPr lang="en-US"/>
                        <a:t>9876543210</a:t>
                      </a:r>
                    </a:p>
                  </a:txBody>
                  <a:tcPr anchor="ctr"/>
                </a:tc>
                <a:tc>
                  <a:txBody>
                    <a:bodyPr/>
                    <a:lstStyle/>
                    <a:p>
                      <a:r>
                        <a:rPr lang="en-US"/>
                        <a:t>Student</a:t>
                      </a:r>
                    </a:p>
                  </a:txBody>
                  <a:tcPr anchor="ctr"/>
                </a:tc>
                <a:tc>
                  <a:txBody>
                    <a:bodyPr/>
                    <a:lstStyle/>
                    <a:p>
                      <a:r>
                        <a:rPr lang="en-US"/>
                        <a:t>101</a:t>
                      </a:r>
                    </a:p>
                  </a:txBody>
                  <a:tcPr anchor="ctr"/>
                </a:tc>
                <a:tc>
                  <a:txBody>
                    <a:bodyPr/>
                    <a:lstStyle/>
                    <a:p>
                      <a:r>
                        <a:rPr lang="en-US"/>
                        <a:t>CSE</a:t>
                      </a:r>
                    </a:p>
                  </a:txBody>
                  <a:tcPr anchor="ctr"/>
                </a:tc>
                <a:tc>
                  <a:txBody>
                    <a:bodyPr/>
                    <a:lstStyle/>
                    <a:p>
                      <a:r>
                        <a:rPr lang="en-US"/>
                        <a:t>3</a:t>
                      </a:r>
                    </a:p>
                  </a:txBody>
                  <a:tcPr anchor="ctr"/>
                </a:tc>
                <a:tc>
                  <a:txBody>
                    <a:bodyPr/>
                    <a:lstStyle/>
                    <a:p>
                      <a:r>
                        <a:rPr lang="en-US"/>
                        <a:t>NULL</a:t>
                      </a:r>
                    </a:p>
                  </a:txBody>
                  <a:tcPr anchor="ctr"/>
                </a:tc>
                <a:tc>
                  <a:txBody>
                    <a:bodyPr/>
                    <a:lstStyle/>
                    <a:p>
                      <a:r>
                        <a:rPr lang="en-US"/>
                        <a:t>NULL</a:t>
                      </a:r>
                    </a:p>
                  </a:txBody>
                  <a:tcPr anchor="ctr"/>
                </a:tc>
                <a:tc>
                  <a:txBody>
                    <a:bodyPr/>
                    <a:lstStyle/>
                    <a:p>
                      <a:r>
                        <a:rPr lang="en-US"/>
                        <a:t>NULL</a:t>
                      </a:r>
                    </a:p>
                  </a:txBody>
                  <a:tcPr anchor="ctr"/>
                </a:tc>
              </a:tr>
              <a:tr h="370840">
                <a:tc>
                  <a:txBody>
                    <a:bodyPr/>
                    <a:lstStyle/>
                    <a:p>
                      <a:r>
                        <a:rPr lang="en-US"/>
                        <a:t>P102</a:t>
                      </a:r>
                    </a:p>
                  </a:txBody>
                  <a:tcPr anchor="ctr"/>
                </a:tc>
                <a:tc>
                  <a:txBody>
                    <a:bodyPr/>
                    <a:lstStyle/>
                    <a:p>
                      <a:r>
                        <a:rPr lang="en-US"/>
                        <a:t>Neha</a:t>
                      </a:r>
                    </a:p>
                  </a:txBody>
                  <a:tcPr anchor="ctr"/>
                </a:tc>
                <a:tc>
                  <a:txBody>
                    <a:bodyPr/>
                    <a:lstStyle/>
                    <a:p>
                      <a:r>
                        <a:rPr lang="en-US"/>
                        <a:t>Lucknow</a:t>
                      </a:r>
                    </a:p>
                  </a:txBody>
                  <a:tcPr anchor="ctr"/>
                </a:tc>
                <a:tc>
                  <a:txBody>
                    <a:bodyPr/>
                    <a:lstStyle/>
                    <a:p>
                      <a:r>
                        <a:rPr lang="en-US"/>
                        <a:t>9988776655</a:t>
                      </a:r>
                    </a:p>
                  </a:txBody>
                  <a:tcPr anchor="ctr"/>
                </a:tc>
                <a:tc>
                  <a:txBody>
                    <a:bodyPr/>
                    <a:lstStyle/>
                    <a:p>
                      <a:r>
                        <a:rPr lang="en-US"/>
                        <a:t>Student</a:t>
                      </a:r>
                    </a:p>
                  </a:txBody>
                  <a:tcPr anchor="ctr"/>
                </a:tc>
                <a:tc>
                  <a:txBody>
                    <a:bodyPr/>
                    <a:lstStyle/>
                    <a:p>
                      <a:r>
                        <a:rPr lang="en-US"/>
                        <a:t>102</a:t>
                      </a:r>
                    </a:p>
                  </a:txBody>
                  <a:tcPr anchor="ctr"/>
                </a:tc>
                <a:tc>
                  <a:txBody>
                    <a:bodyPr/>
                    <a:lstStyle/>
                    <a:p>
                      <a:r>
                        <a:rPr lang="en-US"/>
                        <a:t>IT</a:t>
                      </a:r>
                    </a:p>
                  </a:txBody>
                  <a:tcPr anchor="ctr"/>
                </a:tc>
                <a:tc>
                  <a:txBody>
                    <a:bodyPr/>
                    <a:lstStyle/>
                    <a:p>
                      <a:r>
                        <a:rPr lang="en-US"/>
                        <a:t>5</a:t>
                      </a:r>
                    </a:p>
                  </a:txBody>
                  <a:tcPr anchor="ctr"/>
                </a:tc>
                <a:tc>
                  <a:txBody>
                    <a:bodyPr/>
                    <a:lstStyle/>
                    <a:p>
                      <a:r>
                        <a:rPr lang="en-US"/>
                        <a:t>NULL</a:t>
                      </a:r>
                    </a:p>
                  </a:txBody>
                  <a:tcPr anchor="ctr"/>
                </a:tc>
                <a:tc>
                  <a:txBody>
                    <a:bodyPr/>
                    <a:lstStyle/>
                    <a:p>
                      <a:r>
                        <a:rPr lang="en-US"/>
                        <a:t>NULL</a:t>
                      </a:r>
                    </a:p>
                  </a:txBody>
                  <a:tcPr anchor="ctr"/>
                </a:tc>
                <a:tc>
                  <a:txBody>
                    <a:bodyPr/>
                    <a:lstStyle/>
                    <a:p>
                      <a:r>
                        <a:rPr lang="en-US"/>
                        <a:t>NULL</a:t>
                      </a:r>
                    </a:p>
                  </a:txBody>
                  <a:tcPr anchor="ctr"/>
                </a:tc>
              </a:tr>
              <a:tr h="370840">
                <a:tc>
                  <a:txBody>
                    <a:bodyPr/>
                    <a:lstStyle/>
                    <a:p>
                      <a:r>
                        <a:rPr lang="en-US"/>
                        <a:t>P103</a:t>
                      </a:r>
                    </a:p>
                  </a:txBody>
                  <a:tcPr anchor="ctr"/>
                </a:tc>
                <a:tc>
                  <a:txBody>
                    <a:bodyPr/>
                    <a:lstStyle/>
                    <a:p>
                      <a:r>
                        <a:rPr lang="en-US"/>
                        <a:t>Ravi</a:t>
                      </a:r>
                    </a:p>
                  </a:txBody>
                  <a:tcPr anchor="ctr"/>
                </a:tc>
                <a:tc>
                  <a:txBody>
                    <a:bodyPr/>
                    <a:lstStyle/>
                    <a:p>
                      <a:r>
                        <a:rPr lang="en-US"/>
                        <a:t>Kanpur</a:t>
                      </a:r>
                    </a:p>
                  </a:txBody>
                  <a:tcPr anchor="ctr"/>
                </a:tc>
                <a:tc>
                  <a:txBody>
                    <a:bodyPr/>
                    <a:lstStyle/>
                    <a:p>
                      <a:r>
                        <a:rPr lang="en-US"/>
                        <a:t>9876501234</a:t>
                      </a:r>
                    </a:p>
                  </a:txBody>
                  <a:tcPr anchor="ctr"/>
                </a:tc>
                <a:tc>
                  <a:txBody>
                    <a:bodyPr/>
                    <a:lstStyle/>
                    <a:p>
                      <a:r>
                        <a:rPr lang="en-US"/>
                        <a:t>Faculty</a:t>
                      </a:r>
                    </a:p>
                  </a:txBody>
                  <a:tcPr anchor="ctr"/>
                </a:tc>
                <a:tc>
                  <a:txBody>
                    <a:bodyPr/>
                    <a:lstStyle/>
                    <a:p>
                      <a:r>
                        <a:rPr lang="en-US"/>
                        <a:t>NULL</a:t>
                      </a:r>
                    </a:p>
                  </a:txBody>
                  <a:tcPr anchor="ctr"/>
                </a:tc>
                <a:tc>
                  <a:txBody>
                    <a:bodyPr/>
                    <a:lstStyle/>
                    <a:p>
                      <a:r>
                        <a:rPr lang="en-US"/>
                        <a:t>NULL</a:t>
                      </a:r>
                    </a:p>
                  </a:txBody>
                  <a:tcPr anchor="ctr"/>
                </a:tc>
                <a:tc>
                  <a:txBody>
                    <a:bodyPr/>
                    <a:lstStyle/>
                    <a:p>
                      <a:r>
                        <a:rPr lang="en-US"/>
                        <a:t>NULL</a:t>
                      </a:r>
                    </a:p>
                  </a:txBody>
                  <a:tcPr anchor="ctr"/>
                </a:tc>
                <a:tc>
                  <a:txBody>
                    <a:bodyPr/>
                    <a:lstStyle/>
                    <a:p>
                      <a:r>
                        <a:rPr lang="en-US"/>
                        <a:t>E101</a:t>
                      </a:r>
                    </a:p>
                  </a:txBody>
                  <a:tcPr anchor="ctr"/>
                </a:tc>
                <a:tc>
                  <a:txBody>
                    <a:bodyPr/>
                    <a:lstStyle/>
                    <a:p>
                      <a:r>
                        <a:rPr lang="en-US"/>
                        <a:t>Professor</a:t>
                      </a:r>
                    </a:p>
                  </a:txBody>
                  <a:tcPr anchor="ctr"/>
                </a:tc>
                <a:tc>
                  <a:txBody>
                    <a:bodyPr/>
                    <a:lstStyle/>
                    <a:p>
                      <a:r>
                        <a:rPr lang="en-US" dirty="0"/>
                        <a:t>85000</a:t>
                      </a:r>
                    </a:p>
                  </a:txBody>
                  <a:tcPr anchor="ctr"/>
                </a:tc>
              </a:tr>
            </a:tbl>
          </a:graphicData>
        </a:graphic>
      </p:graphicFrame>
    </p:spTree>
  </p:cSld>
  <p:clrMapOvr>
    <a:masterClrMapping/>
  </p:clrMapOvr>
  <p:timing>
    <p:tnLst>
      <p:par>
        <p:cTn id="1" dur="indefinite" restart="never" nodeType="tmRoot"/>
      </p:par>
    </p:tnLst>
  </p:timing>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b="1" dirty="0" smtClean="0"/>
              <a:t>Advantages</a:t>
            </a:r>
          </a:p>
          <a:p>
            <a:pPr lvl="1"/>
            <a:r>
              <a:rPr lang="en-US" dirty="0" smtClean="0"/>
              <a:t>Only one table. </a:t>
            </a:r>
          </a:p>
          <a:p>
            <a:pPr lvl="1"/>
            <a:r>
              <a:rPr lang="en-US" dirty="0" smtClean="0"/>
              <a:t>No joins required. </a:t>
            </a:r>
          </a:p>
          <a:p>
            <a:r>
              <a:rPr lang="en-US" b="1" dirty="0" smtClean="0"/>
              <a:t>Disadvantages</a:t>
            </a:r>
          </a:p>
          <a:p>
            <a:pPr lvl="1"/>
            <a:r>
              <a:rPr lang="en-US" dirty="0" smtClean="0"/>
              <a:t>Many NULL values. </a:t>
            </a:r>
          </a:p>
          <a:p>
            <a:pPr lvl="1"/>
            <a:r>
              <a:rPr lang="en-US" dirty="0" smtClean="0"/>
              <a:t>Wastes storage. </a:t>
            </a:r>
          </a:p>
          <a:p>
            <a:pPr lvl="1"/>
            <a:r>
              <a:rPr lang="en-US" dirty="0" smtClean="0"/>
              <a:t>Less normalized.</a:t>
            </a:r>
          </a:p>
          <a:p>
            <a:endParaRPr lang="en-US" dirty="0"/>
          </a:p>
        </p:txBody>
      </p:sp>
    </p:spTree>
  </p:cSld>
  <p:clrMapOvr>
    <a:masterClrMapping/>
  </p:clrMapOvr>
  <p:timing>
    <p:tnLst>
      <p:par>
        <p:cTn id="1" dur="indefinite" restart="never" nodeType="tmRoot"/>
      </p:par>
    </p:tnLst>
  </p:timing>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819912"/>
          </a:xfrm>
        </p:spPr>
        <p:txBody>
          <a:bodyPr>
            <a:normAutofit/>
          </a:bodyPr>
          <a:lstStyle/>
          <a:p>
            <a:r>
              <a:rPr lang="en-US" sz="4000" dirty="0" smtClean="0"/>
              <a:t>Conversion of Aggregation to Tables</a:t>
            </a:r>
            <a:endParaRPr lang="en-US" sz="4000" dirty="0"/>
          </a:p>
        </p:txBody>
      </p:sp>
      <p:sp>
        <p:nvSpPr>
          <p:cNvPr id="3" name="Content Placeholder 2"/>
          <p:cNvSpPr>
            <a:spLocks noGrp="1"/>
          </p:cNvSpPr>
          <p:nvPr>
            <p:ph idx="1"/>
          </p:nvPr>
        </p:nvSpPr>
        <p:spPr/>
        <p:txBody>
          <a:bodyPr/>
          <a:lstStyle/>
          <a:p>
            <a:r>
              <a:rPr lang="en-US" dirty="0" smtClean="0"/>
              <a:t>Step 1: Create Tables for Strong Entities</a:t>
            </a:r>
          </a:p>
          <a:p>
            <a:r>
              <a:rPr lang="en-US" dirty="0" smtClean="0"/>
              <a:t>Step 2: Create Table for the Aggregated Relationship</a:t>
            </a:r>
          </a:p>
          <a:p>
            <a:r>
              <a:rPr lang="en-US" dirty="0" smtClean="0"/>
              <a:t>Step 3: Create Table for the Relationship Involving the Aggregation</a:t>
            </a:r>
            <a:endParaRPr lang="en-US" dirty="0"/>
          </a:p>
        </p:txBody>
      </p:sp>
    </p:spTree>
  </p:cSld>
  <p:clrMapOvr>
    <a:masterClrMapping/>
  </p:clrMapOvr>
  <p:timing>
    <p:tnLst>
      <p:par>
        <p:cTn id="1" dur="indefinite" restart="never" nodeType="tmRoot"/>
      </p:par>
    </p:tnLst>
  </p:timing>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667512"/>
          </a:xfrm>
        </p:spPr>
        <p:txBody>
          <a:bodyPr>
            <a:normAutofit/>
          </a:bodyPr>
          <a:lstStyle/>
          <a:p>
            <a:r>
              <a:rPr lang="en-US" sz="3200" dirty="0" smtClean="0"/>
              <a:t>Step 1: Create Tables for Strong Entities</a:t>
            </a:r>
          </a:p>
        </p:txBody>
      </p:sp>
      <p:sp>
        <p:nvSpPr>
          <p:cNvPr id="3" name="Content Placeholder 2"/>
          <p:cNvSpPr>
            <a:spLocks noGrp="1"/>
          </p:cNvSpPr>
          <p:nvPr>
            <p:ph idx="1"/>
          </p:nvPr>
        </p:nvSpPr>
        <p:spPr>
          <a:xfrm>
            <a:off x="457200" y="1524000"/>
            <a:ext cx="8229600" cy="4800600"/>
          </a:xfrm>
        </p:spPr>
        <p:txBody>
          <a:bodyPr/>
          <a:lstStyle/>
          <a:p>
            <a:r>
              <a:rPr lang="en-US" dirty="0" smtClean="0"/>
              <a:t>Employee Table</a:t>
            </a:r>
          </a:p>
          <a:p>
            <a:endParaRPr lang="en-US" dirty="0" smtClean="0"/>
          </a:p>
          <a:p>
            <a:endParaRPr lang="en-US" dirty="0" smtClean="0"/>
          </a:p>
          <a:p>
            <a:endParaRPr lang="en-US" dirty="0" smtClean="0"/>
          </a:p>
          <a:p>
            <a:r>
              <a:rPr lang="en-US" dirty="0" smtClean="0"/>
              <a:t>Project Table</a:t>
            </a:r>
          </a:p>
          <a:p>
            <a:endParaRPr lang="en-US" dirty="0" smtClean="0"/>
          </a:p>
          <a:p>
            <a:r>
              <a:rPr lang="en-US" dirty="0" smtClean="0"/>
              <a:t>Manager Table</a:t>
            </a:r>
          </a:p>
          <a:p>
            <a:endParaRPr lang="en-US" dirty="0" smtClean="0"/>
          </a:p>
          <a:p>
            <a:endParaRPr lang="en-US" dirty="0" smtClean="0"/>
          </a:p>
          <a:p>
            <a:endParaRPr lang="en-US" dirty="0"/>
          </a:p>
        </p:txBody>
      </p:sp>
      <p:graphicFrame>
        <p:nvGraphicFramePr>
          <p:cNvPr id="4" name="Table 3"/>
          <p:cNvGraphicFramePr>
            <a:graphicFrameLocks noGrp="1"/>
          </p:cNvGraphicFramePr>
          <p:nvPr/>
        </p:nvGraphicFramePr>
        <p:xfrm>
          <a:off x="2590800" y="1981200"/>
          <a:ext cx="5715000" cy="1112520"/>
        </p:xfrm>
        <a:graphic>
          <a:graphicData uri="http://schemas.openxmlformats.org/drawingml/2006/table">
            <a:tbl>
              <a:tblPr firstRow="1" bandRow="1">
                <a:tableStyleId>{5C22544A-7EE6-4342-B048-85BDC9FD1C3A}</a:tableStyleId>
              </a:tblPr>
              <a:tblGrid>
                <a:gridCol w="1905000"/>
                <a:gridCol w="1905000"/>
                <a:gridCol w="1905000"/>
              </a:tblGrid>
              <a:tr h="370840">
                <a:tc>
                  <a:txBody>
                    <a:bodyPr/>
                    <a:lstStyle/>
                    <a:p>
                      <a:r>
                        <a:rPr lang="en-US" dirty="0" err="1"/>
                        <a:t>Emp_ID</a:t>
                      </a:r>
                      <a:r>
                        <a:rPr lang="en-US" dirty="0"/>
                        <a:t> (PK)</a:t>
                      </a:r>
                    </a:p>
                  </a:txBody>
                  <a:tcPr anchor="ctr"/>
                </a:tc>
                <a:tc>
                  <a:txBody>
                    <a:bodyPr/>
                    <a:lstStyle/>
                    <a:p>
                      <a:r>
                        <a:rPr lang="en-US" dirty="0" err="1"/>
                        <a:t>Emp_Name</a:t>
                      </a:r>
                      <a:endParaRPr lang="en-US" dirty="0"/>
                    </a:p>
                  </a:txBody>
                  <a:tcPr anchor="ctr"/>
                </a:tc>
                <a:tc>
                  <a:txBody>
                    <a:bodyPr/>
                    <a:lstStyle/>
                    <a:p>
                      <a:r>
                        <a:rPr lang="en-US"/>
                        <a:t>Department</a:t>
                      </a:r>
                    </a:p>
                  </a:txBody>
                  <a:tcPr anchor="ctr"/>
                </a:tc>
              </a:tr>
              <a:tr h="370840">
                <a:tc>
                  <a:txBody>
                    <a:bodyPr/>
                    <a:lstStyle/>
                    <a:p>
                      <a:r>
                        <a:rPr lang="en-US"/>
                        <a:t>E101</a:t>
                      </a:r>
                    </a:p>
                  </a:txBody>
                  <a:tcPr anchor="ctr"/>
                </a:tc>
                <a:tc>
                  <a:txBody>
                    <a:bodyPr/>
                    <a:lstStyle/>
                    <a:p>
                      <a:r>
                        <a:rPr lang="en-US"/>
                        <a:t>Amit</a:t>
                      </a:r>
                    </a:p>
                  </a:txBody>
                  <a:tcPr anchor="ctr"/>
                </a:tc>
                <a:tc>
                  <a:txBody>
                    <a:bodyPr/>
                    <a:lstStyle/>
                    <a:p>
                      <a:r>
                        <a:rPr lang="en-US"/>
                        <a:t>IT</a:t>
                      </a:r>
                    </a:p>
                  </a:txBody>
                  <a:tcPr anchor="ctr"/>
                </a:tc>
              </a:tr>
              <a:tr h="370840">
                <a:tc>
                  <a:txBody>
                    <a:bodyPr/>
                    <a:lstStyle/>
                    <a:p>
                      <a:r>
                        <a:rPr lang="en-US" dirty="0"/>
                        <a:t>E102</a:t>
                      </a:r>
                    </a:p>
                  </a:txBody>
                  <a:tcPr anchor="ctr"/>
                </a:tc>
                <a:tc>
                  <a:txBody>
                    <a:bodyPr/>
                    <a:lstStyle/>
                    <a:p>
                      <a:r>
                        <a:rPr lang="en-US" dirty="0" err="1"/>
                        <a:t>Neha</a:t>
                      </a:r>
                      <a:endParaRPr lang="en-US" dirty="0"/>
                    </a:p>
                  </a:txBody>
                  <a:tcPr anchor="ctr"/>
                </a:tc>
                <a:tc>
                  <a:txBody>
                    <a:bodyPr/>
                    <a:lstStyle/>
                    <a:p>
                      <a:r>
                        <a:rPr lang="en-US" dirty="0"/>
                        <a:t>CSE</a:t>
                      </a:r>
                    </a:p>
                  </a:txBody>
                  <a:tcPr anchor="ctr"/>
                </a:tc>
              </a:tr>
            </a:tbl>
          </a:graphicData>
        </a:graphic>
      </p:graphicFrame>
      <p:graphicFrame>
        <p:nvGraphicFramePr>
          <p:cNvPr id="5" name="Table 4"/>
          <p:cNvGraphicFramePr>
            <a:graphicFrameLocks noGrp="1"/>
          </p:cNvGraphicFramePr>
          <p:nvPr/>
        </p:nvGraphicFramePr>
        <p:xfrm>
          <a:off x="2743200" y="3429000"/>
          <a:ext cx="5486400" cy="1112520"/>
        </p:xfrm>
        <a:graphic>
          <a:graphicData uri="http://schemas.openxmlformats.org/drawingml/2006/table">
            <a:tbl>
              <a:tblPr firstRow="1" bandRow="1">
                <a:tableStyleId>{5C22544A-7EE6-4342-B048-85BDC9FD1C3A}</a:tableStyleId>
              </a:tblPr>
              <a:tblGrid>
                <a:gridCol w="2743200"/>
                <a:gridCol w="2743200"/>
              </a:tblGrid>
              <a:tr h="370840">
                <a:tc>
                  <a:txBody>
                    <a:bodyPr/>
                    <a:lstStyle/>
                    <a:p>
                      <a:r>
                        <a:rPr lang="en-US" dirty="0" err="1"/>
                        <a:t>Project_ID</a:t>
                      </a:r>
                      <a:r>
                        <a:rPr lang="en-US" dirty="0"/>
                        <a:t> (PK)</a:t>
                      </a:r>
                    </a:p>
                  </a:txBody>
                  <a:tcPr anchor="ctr"/>
                </a:tc>
                <a:tc>
                  <a:txBody>
                    <a:bodyPr/>
                    <a:lstStyle/>
                    <a:p>
                      <a:r>
                        <a:rPr lang="en-US"/>
                        <a:t>Project_Name</a:t>
                      </a:r>
                    </a:p>
                  </a:txBody>
                  <a:tcPr anchor="ctr"/>
                </a:tc>
              </a:tr>
              <a:tr h="370840">
                <a:tc>
                  <a:txBody>
                    <a:bodyPr/>
                    <a:lstStyle/>
                    <a:p>
                      <a:r>
                        <a:rPr lang="en-US"/>
                        <a:t>P101</a:t>
                      </a:r>
                    </a:p>
                  </a:txBody>
                  <a:tcPr anchor="ctr"/>
                </a:tc>
                <a:tc>
                  <a:txBody>
                    <a:bodyPr/>
                    <a:lstStyle/>
                    <a:p>
                      <a:r>
                        <a:rPr lang="en-US" dirty="0"/>
                        <a:t>AI </a:t>
                      </a:r>
                      <a:r>
                        <a:rPr lang="en-US" dirty="0" err="1"/>
                        <a:t>Chatbot</a:t>
                      </a:r>
                      <a:endParaRPr lang="en-US" dirty="0"/>
                    </a:p>
                  </a:txBody>
                  <a:tcPr anchor="ctr"/>
                </a:tc>
              </a:tr>
              <a:tr h="370840">
                <a:tc>
                  <a:txBody>
                    <a:bodyPr/>
                    <a:lstStyle/>
                    <a:p>
                      <a:r>
                        <a:rPr lang="en-US"/>
                        <a:t>P102</a:t>
                      </a:r>
                    </a:p>
                  </a:txBody>
                  <a:tcPr anchor="ctr"/>
                </a:tc>
                <a:tc>
                  <a:txBody>
                    <a:bodyPr/>
                    <a:lstStyle/>
                    <a:p>
                      <a:r>
                        <a:rPr lang="en-US" dirty="0"/>
                        <a:t>Library System</a:t>
                      </a:r>
                    </a:p>
                  </a:txBody>
                  <a:tcPr anchor="ctr"/>
                </a:tc>
              </a:tr>
            </a:tbl>
          </a:graphicData>
        </a:graphic>
      </p:graphicFrame>
      <p:graphicFrame>
        <p:nvGraphicFramePr>
          <p:cNvPr id="6" name="Table 5"/>
          <p:cNvGraphicFramePr>
            <a:graphicFrameLocks noGrp="1"/>
          </p:cNvGraphicFramePr>
          <p:nvPr/>
        </p:nvGraphicFramePr>
        <p:xfrm>
          <a:off x="2743200" y="5029200"/>
          <a:ext cx="5486400" cy="1112520"/>
        </p:xfrm>
        <a:graphic>
          <a:graphicData uri="http://schemas.openxmlformats.org/drawingml/2006/table">
            <a:tbl>
              <a:tblPr firstRow="1" bandRow="1">
                <a:tableStyleId>{5C22544A-7EE6-4342-B048-85BDC9FD1C3A}</a:tableStyleId>
              </a:tblPr>
              <a:tblGrid>
                <a:gridCol w="2743200"/>
                <a:gridCol w="2743200"/>
              </a:tblGrid>
              <a:tr h="370840">
                <a:tc>
                  <a:txBody>
                    <a:bodyPr/>
                    <a:lstStyle/>
                    <a:p>
                      <a:r>
                        <a:rPr lang="en-US" dirty="0" err="1"/>
                        <a:t>Manager_ID</a:t>
                      </a:r>
                      <a:r>
                        <a:rPr lang="en-US" dirty="0"/>
                        <a:t> (PK)</a:t>
                      </a:r>
                    </a:p>
                  </a:txBody>
                  <a:tcPr anchor="ctr"/>
                </a:tc>
                <a:tc>
                  <a:txBody>
                    <a:bodyPr/>
                    <a:lstStyle/>
                    <a:p>
                      <a:r>
                        <a:rPr lang="en-US"/>
                        <a:t>Manager_Name</a:t>
                      </a:r>
                    </a:p>
                  </a:txBody>
                  <a:tcPr anchor="ctr"/>
                </a:tc>
              </a:tr>
              <a:tr h="370840">
                <a:tc>
                  <a:txBody>
                    <a:bodyPr/>
                    <a:lstStyle/>
                    <a:p>
                      <a:r>
                        <a:rPr lang="en-US"/>
                        <a:t>M101</a:t>
                      </a:r>
                    </a:p>
                  </a:txBody>
                  <a:tcPr anchor="ctr"/>
                </a:tc>
                <a:tc>
                  <a:txBody>
                    <a:bodyPr/>
                    <a:lstStyle/>
                    <a:p>
                      <a:r>
                        <a:rPr lang="en-US" dirty="0"/>
                        <a:t>Rajesh</a:t>
                      </a:r>
                    </a:p>
                  </a:txBody>
                  <a:tcPr anchor="ctr"/>
                </a:tc>
              </a:tr>
              <a:tr h="370840">
                <a:tc>
                  <a:txBody>
                    <a:bodyPr/>
                    <a:lstStyle/>
                    <a:p>
                      <a:r>
                        <a:rPr lang="en-US"/>
                        <a:t>M102</a:t>
                      </a:r>
                    </a:p>
                  </a:txBody>
                  <a:tcPr anchor="ctr"/>
                </a:tc>
                <a:tc>
                  <a:txBody>
                    <a:bodyPr/>
                    <a:lstStyle/>
                    <a:p>
                      <a:r>
                        <a:rPr lang="en-US" dirty="0" err="1"/>
                        <a:t>Sunita</a:t>
                      </a:r>
                      <a:endParaRPr lang="en-US" dirty="0"/>
                    </a:p>
                  </a:txBody>
                  <a:tcPr anchor="ctr"/>
                </a:tc>
              </a:tr>
            </a:tbl>
          </a:graphicData>
        </a:graphic>
      </p:graphicFrame>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704088"/>
            <a:ext cx="8915400" cy="667512"/>
          </a:xfrm>
        </p:spPr>
        <p:txBody>
          <a:bodyPr>
            <a:noAutofit/>
          </a:bodyPr>
          <a:lstStyle/>
          <a:p>
            <a:r>
              <a:rPr lang="en-US" sz="3200" dirty="0" smtClean="0"/>
              <a:t>Step 2: Create Table for the Aggregated Relationship</a:t>
            </a:r>
            <a:endParaRPr lang="en-US" sz="3200" dirty="0"/>
          </a:p>
        </p:txBody>
      </p:sp>
      <p:sp>
        <p:nvSpPr>
          <p:cNvPr id="3" name="Content Placeholder 2"/>
          <p:cNvSpPr>
            <a:spLocks noGrp="1"/>
          </p:cNvSpPr>
          <p:nvPr>
            <p:ph idx="1"/>
          </p:nvPr>
        </p:nvSpPr>
        <p:spPr>
          <a:xfrm>
            <a:off x="457200" y="1524000"/>
            <a:ext cx="8229600" cy="4800600"/>
          </a:xfrm>
        </p:spPr>
        <p:txBody>
          <a:bodyPr/>
          <a:lstStyle/>
          <a:p>
            <a:r>
              <a:rPr lang="en-US" dirty="0" smtClean="0"/>
              <a:t>The </a:t>
            </a:r>
            <a:r>
              <a:rPr lang="en-US" b="1" dirty="0" err="1" smtClean="0"/>
              <a:t>Works_On</a:t>
            </a:r>
            <a:r>
              <a:rPr lang="en-US" dirty="0" smtClean="0"/>
              <a:t> relationship becomes a separate table.</a:t>
            </a:r>
          </a:p>
          <a:p>
            <a:pPr>
              <a:buNone/>
            </a:pPr>
            <a:r>
              <a:rPr lang="en-US" b="1" dirty="0" err="1" smtClean="0"/>
              <a:t>Works_On</a:t>
            </a:r>
            <a:r>
              <a:rPr lang="en-US" b="1" dirty="0" smtClean="0"/>
              <a:t> Table</a:t>
            </a:r>
          </a:p>
          <a:p>
            <a:pPr>
              <a:buNone/>
            </a:pPr>
            <a:endParaRPr lang="en-US" b="1" dirty="0" smtClean="0"/>
          </a:p>
          <a:p>
            <a:pPr>
              <a:buNone/>
            </a:pPr>
            <a:endParaRPr lang="en-US" b="1" dirty="0" smtClean="0"/>
          </a:p>
          <a:p>
            <a:pPr>
              <a:buNone/>
            </a:pPr>
            <a:endParaRPr lang="en-US" b="1" dirty="0" smtClean="0"/>
          </a:p>
          <a:p>
            <a:pPr>
              <a:buNone/>
            </a:pPr>
            <a:endParaRPr lang="en-US" b="1" dirty="0" smtClean="0"/>
          </a:p>
          <a:p>
            <a:pPr>
              <a:buNone/>
            </a:pPr>
            <a:r>
              <a:rPr lang="en-US" b="1" dirty="0" smtClean="0"/>
              <a:t>Primary Key</a:t>
            </a:r>
          </a:p>
          <a:p>
            <a:pPr>
              <a:buNone/>
            </a:pPr>
            <a:r>
              <a:rPr lang="en-US" b="1" dirty="0" smtClean="0"/>
              <a:t>(</a:t>
            </a:r>
            <a:r>
              <a:rPr lang="en-US" b="1" dirty="0" err="1" smtClean="0"/>
              <a:t>Emp_ID</a:t>
            </a:r>
            <a:r>
              <a:rPr lang="en-US" b="1" dirty="0" smtClean="0"/>
              <a:t>, </a:t>
            </a:r>
            <a:r>
              <a:rPr lang="en-US" b="1" dirty="0" err="1" smtClean="0"/>
              <a:t>Project_ID</a:t>
            </a:r>
            <a:r>
              <a:rPr lang="en-US" b="1" dirty="0" smtClean="0"/>
              <a:t>)</a:t>
            </a:r>
            <a:endParaRPr lang="en-US" dirty="0" smtClean="0"/>
          </a:p>
          <a:p>
            <a:pPr>
              <a:buNone/>
            </a:pPr>
            <a:endParaRPr lang="en-US" b="1" dirty="0" smtClean="0"/>
          </a:p>
          <a:p>
            <a:pPr>
              <a:buNone/>
            </a:pPr>
            <a:endParaRPr lang="en-US" b="1" dirty="0" smtClean="0"/>
          </a:p>
          <a:p>
            <a:endParaRPr lang="en-US" dirty="0"/>
          </a:p>
        </p:txBody>
      </p:sp>
      <p:graphicFrame>
        <p:nvGraphicFramePr>
          <p:cNvPr id="4" name="Table 3"/>
          <p:cNvGraphicFramePr>
            <a:graphicFrameLocks noGrp="1"/>
          </p:cNvGraphicFramePr>
          <p:nvPr/>
        </p:nvGraphicFramePr>
        <p:xfrm>
          <a:off x="1371600" y="2667000"/>
          <a:ext cx="6781800" cy="1483360"/>
        </p:xfrm>
        <a:graphic>
          <a:graphicData uri="http://schemas.openxmlformats.org/drawingml/2006/table">
            <a:tbl>
              <a:tblPr firstRow="1" bandRow="1">
                <a:tableStyleId>{5C22544A-7EE6-4342-B048-85BDC9FD1C3A}</a:tableStyleId>
              </a:tblPr>
              <a:tblGrid>
                <a:gridCol w="2260600"/>
                <a:gridCol w="2260600"/>
                <a:gridCol w="2260600"/>
              </a:tblGrid>
              <a:tr h="370840">
                <a:tc>
                  <a:txBody>
                    <a:bodyPr/>
                    <a:lstStyle/>
                    <a:p>
                      <a:r>
                        <a:rPr lang="en-US" dirty="0" err="1"/>
                        <a:t>Emp_ID</a:t>
                      </a:r>
                      <a:r>
                        <a:rPr lang="en-US" dirty="0"/>
                        <a:t> (FK)</a:t>
                      </a:r>
                    </a:p>
                  </a:txBody>
                  <a:tcPr anchor="ctr"/>
                </a:tc>
                <a:tc>
                  <a:txBody>
                    <a:bodyPr/>
                    <a:lstStyle/>
                    <a:p>
                      <a:r>
                        <a:rPr lang="en-US"/>
                        <a:t>Project_ID (FK)</a:t>
                      </a:r>
                    </a:p>
                  </a:txBody>
                  <a:tcPr anchor="ctr"/>
                </a:tc>
                <a:tc>
                  <a:txBody>
                    <a:bodyPr/>
                    <a:lstStyle/>
                    <a:p>
                      <a:r>
                        <a:rPr lang="en-US"/>
                        <a:t>Hours_Per_Week</a:t>
                      </a:r>
                    </a:p>
                  </a:txBody>
                  <a:tcPr anchor="ctr"/>
                </a:tc>
              </a:tr>
              <a:tr h="370840">
                <a:tc>
                  <a:txBody>
                    <a:bodyPr/>
                    <a:lstStyle/>
                    <a:p>
                      <a:r>
                        <a:rPr lang="en-US"/>
                        <a:t>E101</a:t>
                      </a:r>
                    </a:p>
                  </a:txBody>
                  <a:tcPr anchor="ctr"/>
                </a:tc>
                <a:tc>
                  <a:txBody>
                    <a:bodyPr/>
                    <a:lstStyle/>
                    <a:p>
                      <a:r>
                        <a:rPr lang="en-US"/>
                        <a:t>P101</a:t>
                      </a:r>
                    </a:p>
                  </a:txBody>
                  <a:tcPr anchor="ctr"/>
                </a:tc>
                <a:tc>
                  <a:txBody>
                    <a:bodyPr/>
                    <a:lstStyle/>
                    <a:p>
                      <a:r>
                        <a:rPr lang="en-US"/>
                        <a:t>25</a:t>
                      </a:r>
                    </a:p>
                  </a:txBody>
                  <a:tcPr anchor="ctr"/>
                </a:tc>
              </a:tr>
              <a:tr h="370840">
                <a:tc>
                  <a:txBody>
                    <a:bodyPr/>
                    <a:lstStyle/>
                    <a:p>
                      <a:r>
                        <a:rPr lang="en-US"/>
                        <a:t>E101</a:t>
                      </a:r>
                    </a:p>
                  </a:txBody>
                  <a:tcPr anchor="ctr"/>
                </a:tc>
                <a:tc>
                  <a:txBody>
                    <a:bodyPr/>
                    <a:lstStyle/>
                    <a:p>
                      <a:r>
                        <a:rPr lang="en-US"/>
                        <a:t>P102</a:t>
                      </a:r>
                    </a:p>
                  </a:txBody>
                  <a:tcPr anchor="ctr"/>
                </a:tc>
                <a:tc>
                  <a:txBody>
                    <a:bodyPr/>
                    <a:lstStyle/>
                    <a:p>
                      <a:r>
                        <a:rPr lang="en-US"/>
                        <a:t>10</a:t>
                      </a:r>
                    </a:p>
                  </a:txBody>
                  <a:tcPr anchor="ctr"/>
                </a:tc>
              </a:tr>
              <a:tr h="370840">
                <a:tc>
                  <a:txBody>
                    <a:bodyPr/>
                    <a:lstStyle/>
                    <a:p>
                      <a:r>
                        <a:rPr lang="en-US"/>
                        <a:t>E102</a:t>
                      </a:r>
                    </a:p>
                  </a:txBody>
                  <a:tcPr anchor="ctr"/>
                </a:tc>
                <a:tc>
                  <a:txBody>
                    <a:bodyPr/>
                    <a:lstStyle/>
                    <a:p>
                      <a:r>
                        <a:rPr lang="en-US"/>
                        <a:t>P101</a:t>
                      </a:r>
                    </a:p>
                  </a:txBody>
                  <a:tcPr anchor="ctr"/>
                </a:tc>
                <a:tc>
                  <a:txBody>
                    <a:bodyPr/>
                    <a:lstStyle/>
                    <a:p>
                      <a:r>
                        <a:rPr lang="en-US" dirty="0"/>
                        <a:t>30</a:t>
                      </a:r>
                    </a:p>
                  </a:txBody>
                  <a:tcPr anchor="ctr"/>
                </a:tc>
              </a:tr>
            </a:tbl>
          </a:graphicData>
        </a:graphic>
      </p:graphicFrame>
    </p:spTree>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8458200" cy="1124712"/>
          </a:xfrm>
        </p:spPr>
        <p:txBody>
          <a:bodyPr>
            <a:normAutofit/>
          </a:bodyPr>
          <a:lstStyle/>
          <a:p>
            <a:r>
              <a:rPr lang="en-US" sz="3200" dirty="0" smtClean="0"/>
              <a:t>Step 3: Create Table for the Relationship Involving the Aggregation</a:t>
            </a:r>
            <a:endParaRPr lang="en-US" sz="3200" dirty="0"/>
          </a:p>
        </p:txBody>
      </p:sp>
      <p:sp>
        <p:nvSpPr>
          <p:cNvPr id="3" name="Content Placeholder 2"/>
          <p:cNvSpPr>
            <a:spLocks noGrp="1"/>
          </p:cNvSpPr>
          <p:nvPr>
            <p:ph idx="1"/>
          </p:nvPr>
        </p:nvSpPr>
        <p:spPr>
          <a:xfrm>
            <a:off x="457200" y="1676400"/>
            <a:ext cx="8229600" cy="4648200"/>
          </a:xfrm>
        </p:spPr>
        <p:txBody>
          <a:bodyPr/>
          <a:lstStyle/>
          <a:p>
            <a:r>
              <a:rPr lang="en-US" dirty="0" smtClean="0"/>
              <a:t>The </a:t>
            </a:r>
            <a:r>
              <a:rPr lang="en-US" b="1" dirty="0" smtClean="0"/>
              <a:t>Monitors</a:t>
            </a:r>
            <a:r>
              <a:rPr lang="en-US" dirty="0" smtClean="0"/>
              <a:t> relationship connects </a:t>
            </a:r>
            <a:r>
              <a:rPr lang="en-US" b="1" dirty="0" smtClean="0"/>
              <a:t>Manager</a:t>
            </a:r>
            <a:r>
              <a:rPr lang="en-US" dirty="0" smtClean="0"/>
              <a:t> with the aggregated </a:t>
            </a:r>
            <a:r>
              <a:rPr lang="en-US" b="1" dirty="0" err="1" smtClean="0"/>
              <a:t>Works_On</a:t>
            </a:r>
            <a:r>
              <a:rPr lang="en-US" dirty="0" smtClean="0"/>
              <a:t> relationship.</a:t>
            </a:r>
          </a:p>
          <a:p>
            <a:r>
              <a:rPr lang="en-US" b="1" dirty="0" smtClean="0"/>
              <a:t>Monitors Table</a:t>
            </a:r>
          </a:p>
          <a:p>
            <a:endParaRPr lang="en-US" b="1" dirty="0" smtClean="0"/>
          </a:p>
          <a:p>
            <a:endParaRPr lang="en-US" b="1" dirty="0" smtClean="0"/>
          </a:p>
          <a:p>
            <a:endParaRPr lang="en-US" b="1" dirty="0" smtClean="0"/>
          </a:p>
          <a:p>
            <a:endParaRPr lang="en-US" b="1" dirty="0" smtClean="0"/>
          </a:p>
          <a:p>
            <a:pPr>
              <a:buNone/>
            </a:pPr>
            <a:r>
              <a:rPr lang="en-US" b="1" dirty="0" smtClean="0"/>
              <a:t>Primary Key</a:t>
            </a:r>
          </a:p>
          <a:p>
            <a:pPr>
              <a:buNone/>
            </a:pPr>
            <a:r>
              <a:rPr lang="en-US" b="1" dirty="0" smtClean="0"/>
              <a:t>(</a:t>
            </a:r>
            <a:r>
              <a:rPr lang="en-US" b="1" dirty="0" err="1" smtClean="0"/>
              <a:t>Manager_ID</a:t>
            </a:r>
            <a:r>
              <a:rPr lang="en-US" b="1" dirty="0" smtClean="0"/>
              <a:t>, </a:t>
            </a:r>
            <a:r>
              <a:rPr lang="en-US" b="1" dirty="0" err="1" smtClean="0"/>
              <a:t>Emp_ID</a:t>
            </a:r>
            <a:r>
              <a:rPr lang="en-US" b="1" dirty="0" smtClean="0"/>
              <a:t>, </a:t>
            </a:r>
            <a:r>
              <a:rPr lang="en-US" b="1" dirty="0" err="1" smtClean="0"/>
              <a:t>Project_ID</a:t>
            </a:r>
            <a:r>
              <a:rPr lang="en-US" b="1" dirty="0" smtClean="0"/>
              <a:t>)</a:t>
            </a:r>
            <a:endParaRPr lang="en-US" dirty="0" smtClean="0"/>
          </a:p>
          <a:p>
            <a:endParaRPr lang="en-US" b="1" dirty="0" smtClean="0"/>
          </a:p>
          <a:p>
            <a:endParaRPr lang="en-US" b="1" dirty="0" smtClean="0"/>
          </a:p>
          <a:p>
            <a:endParaRPr lang="en-US" dirty="0"/>
          </a:p>
        </p:txBody>
      </p:sp>
      <p:graphicFrame>
        <p:nvGraphicFramePr>
          <p:cNvPr id="4" name="Table 3"/>
          <p:cNvGraphicFramePr>
            <a:graphicFrameLocks noGrp="1"/>
          </p:cNvGraphicFramePr>
          <p:nvPr/>
        </p:nvGraphicFramePr>
        <p:xfrm>
          <a:off x="685800" y="3124200"/>
          <a:ext cx="7924800" cy="1483360"/>
        </p:xfrm>
        <a:graphic>
          <a:graphicData uri="http://schemas.openxmlformats.org/drawingml/2006/table">
            <a:tbl>
              <a:tblPr firstRow="1" bandRow="1">
                <a:tableStyleId>{5C22544A-7EE6-4342-B048-85BDC9FD1C3A}</a:tableStyleId>
              </a:tblPr>
              <a:tblGrid>
                <a:gridCol w="2321406"/>
                <a:gridCol w="1640994"/>
                <a:gridCol w="1981200"/>
                <a:gridCol w="1981200"/>
              </a:tblGrid>
              <a:tr h="370840">
                <a:tc>
                  <a:txBody>
                    <a:bodyPr/>
                    <a:lstStyle/>
                    <a:p>
                      <a:r>
                        <a:rPr lang="en-US" dirty="0" err="1"/>
                        <a:t>Manager_ID</a:t>
                      </a:r>
                      <a:r>
                        <a:rPr lang="en-US" dirty="0"/>
                        <a:t> (FK)</a:t>
                      </a:r>
                    </a:p>
                  </a:txBody>
                  <a:tcPr anchor="ctr"/>
                </a:tc>
                <a:tc>
                  <a:txBody>
                    <a:bodyPr/>
                    <a:lstStyle/>
                    <a:p>
                      <a:r>
                        <a:rPr lang="en-US"/>
                        <a:t>Emp_ID (FK)</a:t>
                      </a:r>
                    </a:p>
                  </a:txBody>
                  <a:tcPr anchor="ctr"/>
                </a:tc>
                <a:tc>
                  <a:txBody>
                    <a:bodyPr/>
                    <a:lstStyle/>
                    <a:p>
                      <a:r>
                        <a:rPr lang="en-US"/>
                        <a:t>Project_ID (FK)</a:t>
                      </a:r>
                    </a:p>
                  </a:txBody>
                  <a:tcPr anchor="ctr"/>
                </a:tc>
                <a:tc>
                  <a:txBody>
                    <a:bodyPr/>
                    <a:lstStyle/>
                    <a:p>
                      <a:r>
                        <a:rPr lang="en-US"/>
                        <a:t>Review_Date</a:t>
                      </a:r>
                    </a:p>
                  </a:txBody>
                  <a:tcPr anchor="ctr"/>
                </a:tc>
              </a:tr>
              <a:tr h="370840">
                <a:tc>
                  <a:txBody>
                    <a:bodyPr/>
                    <a:lstStyle/>
                    <a:p>
                      <a:r>
                        <a:rPr lang="en-US"/>
                        <a:t>M101</a:t>
                      </a:r>
                    </a:p>
                  </a:txBody>
                  <a:tcPr anchor="ctr"/>
                </a:tc>
                <a:tc>
                  <a:txBody>
                    <a:bodyPr/>
                    <a:lstStyle/>
                    <a:p>
                      <a:r>
                        <a:rPr lang="en-US"/>
                        <a:t>E101</a:t>
                      </a:r>
                    </a:p>
                  </a:txBody>
                  <a:tcPr anchor="ctr"/>
                </a:tc>
                <a:tc>
                  <a:txBody>
                    <a:bodyPr/>
                    <a:lstStyle/>
                    <a:p>
                      <a:r>
                        <a:rPr lang="en-US"/>
                        <a:t>P101</a:t>
                      </a:r>
                    </a:p>
                  </a:txBody>
                  <a:tcPr anchor="ctr"/>
                </a:tc>
                <a:tc>
                  <a:txBody>
                    <a:bodyPr/>
                    <a:lstStyle/>
                    <a:p>
                      <a:r>
                        <a:rPr lang="en-US"/>
                        <a:t>10-Jan-2026</a:t>
                      </a:r>
                    </a:p>
                  </a:txBody>
                  <a:tcPr anchor="ctr"/>
                </a:tc>
              </a:tr>
              <a:tr h="370840">
                <a:tc>
                  <a:txBody>
                    <a:bodyPr/>
                    <a:lstStyle/>
                    <a:p>
                      <a:r>
                        <a:rPr lang="en-US"/>
                        <a:t>M101</a:t>
                      </a:r>
                    </a:p>
                  </a:txBody>
                  <a:tcPr anchor="ctr"/>
                </a:tc>
                <a:tc>
                  <a:txBody>
                    <a:bodyPr/>
                    <a:lstStyle/>
                    <a:p>
                      <a:r>
                        <a:rPr lang="en-US"/>
                        <a:t>E102</a:t>
                      </a:r>
                    </a:p>
                  </a:txBody>
                  <a:tcPr anchor="ctr"/>
                </a:tc>
                <a:tc>
                  <a:txBody>
                    <a:bodyPr/>
                    <a:lstStyle/>
                    <a:p>
                      <a:r>
                        <a:rPr lang="en-US"/>
                        <a:t>P101</a:t>
                      </a:r>
                    </a:p>
                  </a:txBody>
                  <a:tcPr anchor="ctr"/>
                </a:tc>
                <a:tc>
                  <a:txBody>
                    <a:bodyPr/>
                    <a:lstStyle/>
                    <a:p>
                      <a:r>
                        <a:rPr lang="en-US"/>
                        <a:t>15-Jan-2026</a:t>
                      </a:r>
                    </a:p>
                  </a:txBody>
                  <a:tcPr anchor="ctr"/>
                </a:tc>
              </a:tr>
              <a:tr h="370840">
                <a:tc>
                  <a:txBody>
                    <a:bodyPr/>
                    <a:lstStyle/>
                    <a:p>
                      <a:r>
                        <a:rPr lang="en-US"/>
                        <a:t>M102</a:t>
                      </a:r>
                    </a:p>
                  </a:txBody>
                  <a:tcPr anchor="ctr"/>
                </a:tc>
                <a:tc>
                  <a:txBody>
                    <a:bodyPr/>
                    <a:lstStyle/>
                    <a:p>
                      <a:r>
                        <a:rPr lang="en-US"/>
                        <a:t>E101</a:t>
                      </a:r>
                    </a:p>
                  </a:txBody>
                  <a:tcPr anchor="ctr"/>
                </a:tc>
                <a:tc>
                  <a:txBody>
                    <a:bodyPr/>
                    <a:lstStyle/>
                    <a:p>
                      <a:r>
                        <a:rPr lang="en-US"/>
                        <a:t>P102</a:t>
                      </a:r>
                    </a:p>
                  </a:txBody>
                  <a:tcPr anchor="ctr"/>
                </a:tc>
                <a:tc>
                  <a:txBody>
                    <a:bodyPr/>
                    <a:lstStyle/>
                    <a:p>
                      <a:r>
                        <a:rPr lang="en-US" dirty="0"/>
                        <a:t>20-Jan-2026</a:t>
                      </a:r>
                    </a:p>
                  </a:txBody>
                  <a:tcPr anchor="ctr"/>
                </a:tc>
              </a:tr>
            </a:tbl>
          </a:graphicData>
        </a:graphic>
      </p:graphicFrame>
    </p:spTree>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81000"/>
            <a:ext cx="8229600" cy="591312"/>
          </a:xfrm>
        </p:spPr>
        <p:txBody>
          <a:bodyPr>
            <a:normAutofit fontScale="90000"/>
          </a:bodyPr>
          <a:lstStyle/>
          <a:p>
            <a:r>
              <a:rPr lang="en-US" dirty="0" smtClean="0"/>
              <a:t>For Practice</a:t>
            </a:r>
            <a:endParaRPr lang="en-US" dirty="0"/>
          </a:p>
        </p:txBody>
      </p:sp>
      <p:pic>
        <p:nvPicPr>
          <p:cNvPr id="4" name="Content Placeholder 3" descr="Conversion Example1.png"/>
          <p:cNvPicPr>
            <a:picLocks noGrp="1" noChangeAspect="1"/>
          </p:cNvPicPr>
          <p:nvPr>
            <p:ph idx="1"/>
          </p:nvPr>
        </p:nvPicPr>
        <p:blipFill>
          <a:blip r:embed="rId2"/>
          <a:stretch>
            <a:fillRect/>
          </a:stretch>
        </p:blipFill>
        <p:spPr>
          <a:xfrm>
            <a:off x="533400" y="914400"/>
            <a:ext cx="7848600" cy="5943599"/>
          </a:xfrm>
        </p:spPr>
      </p:pic>
    </p:spTree>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228600"/>
            <a:ext cx="8229600" cy="743712"/>
          </a:xfrm>
        </p:spPr>
        <p:txBody>
          <a:bodyPr>
            <a:normAutofit fontScale="90000"/>
          </a:bodyPr>
          <a:lstStyle/>
          <a:p>
            <a:r>
              <a:rPr lang="en-US" dirty="0" smtClean="0"/>
              <a:t>Database System Structure</a:t>
            </a:r>
            <a:endParaRPr lang="en-US" dirty="0"/>
          </a:p>
        </p:txBody>
      </p:sp>
      <p:pic>
        <p:nvPicPr>
          <p:cNvPr id="5" name="Content Placeholder 4" descr="Database system structure'.jpg"/>
          <p:cNvPicPr>
            <a:picLocks noGrp="1" noChangeAspect="1"/>
          </p:cNvPicPr>
          <p:nvPr>
            <p:ph idx="1"/>
          </p:nvPr>
        </p:nvPicPr>
        <p:blipFill>
          <a:blip r:embed="rId2"/>
          <a:stretch>
            <a:fillRect/>
          </a:stretch>
        </p:blipFill>
        <p:spPr>
          <a:xfrm>
            <a:off x="1066800" y="1066800"/>
            <a:ext cx="6781800" cy="5791200"/>
          </a:xfrm>
        </p:spPr>
      </p:pic>
    </p:spTree>
  </p:cSld>
  <p:clrMapOvr>
    <a:masterClrMapping/>
  </p:clrMapOvr>
  <p:timing>
    <p:tnLst>
      <p:par>
        <p:cTn id="1" dur="indefinite" restart="never" nodeType="tmRoot"/>
      </p:par>
    </p:tnLst>
  </p:timing>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743712"/>
          </a:xfrm>
        </p:spPr>
        <p:txBody>
          <a:bodyPr>
            <a:normAutofit/>
          </a:bodyPr>
          <a:lstStyle/>
          <a:p>
            <a:r>
              <a:rPr lang="en-US" sz="3200" dirty="0" smtClean="0"/>
              <a:t>Database System Structure</a:t>
            </a:r>
            <a:endParaRPr lang="en-US" sz="3200" dirty="0"/>
          </a:p>
        </p:txBody>
      </p:sp>
      <p:sp>
        <p:nvSpPr>
          <p:cNvPr id="3" name="Content Placeholder 2"/>
          <p:cNvSpPr>
            <a:spLocks noGrp="1"/>
          </p:cNvSpPr>
          <p:nvPr>
            <p:ph idx="1"/>
          </p:nvPr>
        </p:nvSpPr>
        <p:spPr/>
        <p:txBody>
          <a:bodyPr/>
          <a:lstStyle/>
          <a:p>
            <a:r>
              <a:rPr lang="en-US" dirty="0" smtClean="0"/>
              <a:t>A database system is partitioned into modules that deal with each of the responsibilities of the overall system. </a:t>
            </a:r>
          </a:p>
          <a:p>
            <a:r>
              <a:rPr lang="en-US" dirty="0" smtClean="0"/>
              <a:t>The functional components of a database system can be broadly divided into the storage manager and the query processor components. </a:t>
            </a:r>
          </a:p>
          <a:p>
            <a:endParaRPr lang="en-US" dirty="0" smtClean="0"/>
          </a:p>
          <a:p>
            <a:pPr>
              <a:buNone/>
            </a:pPr>
            <a:r>
              <a:rPr lang="en-US" dirty="0" smtClean="0"/>
              <a:t>1. Storage Manager </a:t>
            </a:r>
          </a:p>
          <a:p>
            <a:pPr>
              <a:buNone/>
            </a:pPr>
            <a:r>
              <a:rPr lang="en-US" dirty="0" smtClean="0"/>
              <a:t>2. Query Processor</a:t>
            </a:r>
            <a:endParaRPr lang="en-US" dirty="0"/>
          </a:p>
        </p:txBody>
      </p:sp>
    </p:spTree>
  </p:cSld>
  <p:clrMapOvr>
    <a:masterClrMapping/>
  </p:clrMapOvr>
  <p:timing>
    <p:tnLst>
      <p:par>
        <p:cTn id="1" dur="indefinite" restart="never" nodeType="tmRoot"/>
      </p:par>
    </p:tnLst>
  </p:timing>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9600"/>
            <a:ext cx="8229600" cy="609600"/>
          </a:xfrm>
        </p:spPr>
        <p:txBody>
          <a:bodyPr>
            <a:normAutofit fontScale="90000"/>
          </a:bodyPr>
          <a:lstStyle/>
          <a:p>
            <a:r>
              <a:rPr lang="en-US" dirty="0" smtClean="0"/>
              <a:t>Storage Manager</a:t>
            </a:r>
            <a:endParaRPr lang="en-US" dirty="0"/>
          </a:p>
        </p:txBody>
      </p:sp>
      <p:sp>
        <p:nvSpPr>
          <p:cNvPr id="3" name="Content Placeholder 2"/>
          <p:cNvSpPr>
            <a:spLocks noGrp="1"/>
          </p:cNvSpPr>
          <p:nvPr>
            <p:ph idx="1"/>
          </p:nvPr>
        </p:nvSpPr>
        <p:spPr>
          <a:xfrm>
            <a:off x="457200" y="1295400"/>
            <a:ext cx="8229600" cy="5029200"/>
          </a:xfrm>
        </p:spPr>
        <p:txBody>
          <a:bodyPr/>
          <a:lstStyle/>
          <a:p>
            <a:r>
              <a:rPr lang="en-US" dirty="0" smtClean="0"/>
              <a:t>A storage manager is a program module that provides the interface between the low level data stored in the database and the application programs and queries submitted to the system. </a:t>
            </a:r>
          </a:p>
          <a:p>
            <a:r>
              <a:rPr lang="en-US" dirty="0" smtClean="0"/>
              <a:t>The storage manager is responsible for storing, retrieving, and updating data in the database. </a:t>
            </a:r>
          </a:p>
          <a:p>
            <a:endParaRPr lang="en-US" dirty="0" smtClean="0"/>
          </a:p>
          <a:p>
            <a:r>
              <a:rPr lang="en-US" dirty="0" smtClean="0"/>
              <a:t>The components of storage manager includes the following modules:</a:t>
            </a:r>
            <a:endParaRPr lang="en-US" dirty="0"/>
          </a:p>
        </p:txBody>
      </p:sp>
    </p:spTree>
  </p:cSld>
  <p:clrMapOvr>
    <a:masterClrMapping/>
  </p:clrMapOvr>
  <p:timing>
    <p:tnLst>
      <p:par>
        <p:cTn id="1" dur="indefinite" restart="never" nodeType="tmRoot"/>
      </p:par>
    </p:tnLst>
  </p:timing>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14400"/>
            <a:ext cx="8229600" cy="5638800"/>
          </a:xfrm>
        </p:spPr>
        <p:txBody>
          <a:bodyPr>
            <a:normAutofit fontScale="85000" lnSpcReduction="10000"/>
          </a:bodyPr>
          <a:lstStyle/>
          <a:p>
            <a:r>
              <a:rPr lang="en-US" b="1" dirty="0" smtClean="0"/>
              <a:t>Authorization and integrity manager: </a:t>
            </a:r>
            <a:r>
              <a:rPr lang="en-US" dirty="0" smtClean="0"/>
              <a:t>It checks the integrity constraints and the authority of users to access data. </a:t>
            </a:r>
          </a:p>
          <a:p>
            <a:endParaRPr lang="en-US" dirty="0" smtClean="0"/>
          </a:p>
          <a:p>
            <a:r>
              <a:rPr lang="en-US" b="1" dirty="0" smtClean="0"/>
              <a:t>Transaction manager: </a:t>
            </a:r>
            <a:r>
              <a:rPr lang="en-US" dirty="0" smtClean="0"/>
              <a:t>It ensures that the database remains in a consistent (correct) state despite system failures, and that concurrent transaction executions proceed without conflicting. </a:t>
            </a:r>
          </a:p>
          <a:p>
            <a:endParaRPr lang="en-US" dirty="0" smtClean="0"/>
          </a:p>
          <a:p>
            <a:r>
              <a:rPr lang="en-US" b="1" dirty="0" smtClean="0"/>
              <a:t>File manager: </a:t>
            </a:r>
            <a:r>
              <a:rPr lang="en-US" dirty="0" smtClean="0"/>
              <a:t>It manages the allocation of space on disk storage and the data structures used to represent information stored on disk. </a:t>
            </a:r>
          </a:p>
          <a:p>
            <a:endParaRPr lang="en-US" dirty="0" smtClean="0"/>
          </a:p>
          <a:p>
            <a:r>
              <a:rPr lang="en-US" b="1" dirty="0" smtClean="0"/>
              <a:t>Buffer manager: </a:t>
            </a:r>
            <a:r>
              <a:rPr lang="en-US" dirty="0" smtClean="0"/>
              <a:t>It is responsible for fetching data from disk storage into main memory, and deciding what data to cache in main memory. The buffer manager is a critical part of the database system, since it enables the database to handle data sizes that are much larger than the size of main memory.</a:t>
            </a:r>
            <a:endParaRPr lang="en-US" dirty="0"/>
          </a:p>
        </p:txBody>
      </p:sp>
    </p:spTree>
  </p:cSld>
  <p:clrMapOvr>
    <a:masterClrMapping/>
  </p:clrMapOvr>
  <p:timing>
    <p:tnLst>
      <p:par>
        <p:cTn id="1" dur="indefinite" restart="never" nodeType="tmRoot"/>
      </p:par>
    </p:tnLst>
  </p:timing>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smtClean="0"/>
              <a:t>The storage manager implements several data structures as part of the physical system implementation:</a:t>
            </a:r>
          </a:p>
          <a:p>
            <a:endParaRPr lang="en-US" dirty="0" smtClean="0"/>
          </a:p>
          <a:p>
            <a:pPr lvl="1">
              <a:buNone/>
            </a:pPr>
            <a:r>
              <a:rPr lang="en-US" dirty="0" smtClean="0"/>
              <a:t> • Data files, which store the database itself. </a:t>
            </a:r>
          </a:p>
          <a:p>
            <a:pPr lvl="1">
              <a:buNone/>
            </a:pPr>
            <a:r>
              <a:rPr lang="en-US" dirty="0" smtClean="0"/>
              <a:t>• Data dictionary, which stores metadata about the structure of the database, in particular the schema of the database. </a:t>
            </a:r>
          </a:p>
          <a:p>
            <a:pPr lvl="1">
              <a:buNone/>
            </a:pPr>
            <a:r>
              <a:rPr lang="en-US" dirty="0" smtClean="0"/>
              <a:t>• Indices, which provide fast access to data items that hold particular values.</a:t>
            </a:r>
            <a:endParaRPr lang="en-US" dirty="0"/>
          </a:p>
        </p:txBody>
      </p:sp>
    </p:spTree>
  </p:cSld>
  <p:clrMapOvr>
    <a:masterClrMapping/>
  </p:clrMapOvr>
  <p:timing>
    <p:tnLst>
      <p:par>
        <p:cTn id="1" dur="indefinite" restart="never" nodeType="tmRoot"/>
      </p:par>
    </p:tnLst>
  </p:timing>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743712"/>
          </a:xfrm>
        </p:spPr>
        <p:txBody>
          <a:bodyPr>
            <a:normAutofit/>
          </a:bodyPr>
          <a:lstStyle/>
          <a:p>
            <a:r>
              <a:rPr lang="en-US" sz="4500" dirty="0" smtClean="0"/>
              <a:t>The Query Processor</a:t>
            </a:r>
            <a:endParaRPr lang="en-US" sz="4500" dirty="0"/>
          </a:p>
        </p:txBody>
      </p:sp>
      <p:sp>
        <p:nvSpPr>
          <p:cNvPr id="3" name="Content Placeholder 2"/>
          <p:cNvSpPr>
            <a:spLocks noGrp="1"/>
          </p:cNvSpPr>
          <p:nvPr>
            <p:ph idx="1"/>
          </p:nvPr>
        </p:nvSpPr>
        <p:spPr/>
        <p:txBody>
          <a:bodyPr>
            <a:normAutofit lnSpcReduction="10000"/>
          </a:bodyPr>
          <a:lstStyle/>
          <a:p>
            <a:r>
              <a:rPr lang="en-US" dirty="0" smtClean="0"/>
              <a:t>The query processor includes the following components:- </a:t>
            </a:r>
          </a:p>
          <a:p>
            <a:pPr lvl="1"/>
            <a:r>
              <a:rPr lang="en-US" dirty="0" smtClean="0"/>
              <a:t>DDL interpreter: It interprets DDL statements and records the definitions in the data dictionary. </a:t>
            </a:r>
          </a:p>
          <a:p>
            <a:pPr lvl="1"/>
            <a:r>
              <a:rPr lang="en-US" dirty="0" smtClean="0"/>
              <a:t>DML compiler: It translates DML statements in a query language into an evaluation plan consisting of low-level instructions that the query evaluation engine understands. The DML compiler also performs query optimization. </a:t>
            </a:r>
          </a:p>
          <a:p>
            <a:pPr lvl="1"/>
            <a:r>
              <a:rPr lang="en-US" dirty="0" smtClean="0"/>
              <a:t>Query evaluation engine: It executes low-level instructions generated by the DML compiler.</a:t>
            </a:r>
            <a:endParaRPr lang="en-US" dirty="0"/>
          </a:p>
        </p:txBody>
      </p:sp>
    </p:spTree>
  </p:cSld>
  <p:clrMapOvr>
    <a:masterClrMapping/>
  </p:clrMapOvr>
  <p:timing>
    <p:tnLst>
      <p:par>
        <p:cTn id="1" dur="indefinite" restart="never" nodeType="tmRoot"/>
      </p:par>
    </p:tnLst>
  </p:timing>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819912"/>
          </a:xfrm>
        </p:spPr>
        <p:txBody>
          <a:bodyPr>
            <a:normAutofit fontScale="90000"/>
          </a:bodyPr>
          <a:lstStyle/>
          <a:p>
            <a:r>
              <a:rPr lang="en-US" dirty="0" smtClean="0"/>
              <a:t>Identify the database components</a:t>
            </a:r>
            <a:endParaRPr lang="en-US" dirty="0"/>
          </a:p>
        </p:txBody>
      </p:sp>
      <p:sp>
        <p:nvSpPr>
          <p:cNvPr id="3" name="Content Placeholder 2"/>
          <p:cNvSpPr>
            <a:spLocks noGrp="1"/>
          </p:cNvSpPr>
          <p:nvPr>
            <p:ph idx="1"/>
          </p:nvPr>
        </p:nvSpPr>
        <p:spPr>
          <a:xfrm>
            <a:off x="457200" y="1828800"/>
            <a:ext cx="8229600" cy="4495800"/>
          </a:xfrm>
        </p:spPr>
        <p:txBody>
          <a:bodyPr>
            <a:normAutofit lnSpcReduction="10000"/>
          </a:bodyPr>
          <a:lstStyle/>
          <a:p>
            <a:r>
              <a:rPr lang="en-US" dirty="0" smtClean="0"/>
              <a:t>Component</a:t>
            </a:r>
          </a:p>
          <a:p>
            <a:r>
              <a:rPr lang="en-US" dirty="0" smtClean="0"/>
              <a:t>Users</a:t>
            </a:r>
          </a:p>
          <a:p>
            <a:r>
              <a:rPr lang="en-US" dirty="0" smtClean="0"/>
              <a:t>Application Program</a:t>
            </a:r>
          </a:p>
          <a:p>
            <a:r>
              <a:rPr lang="en-US" dirty="0" smtClean="0"/>
              <a:t>DBMS</a:t>
            </a:r>
          </a:p>
          <a:p>
            <a:r>
              <a:rPr lang="en-US" dirty="0" smtClean="0"/>
              <a:t>Database</a:t>
            </a:r>
          </a:p>
          <a:p>
            <a:r>
              <a:rPr lang="en-US" dirty="0" smtClean="0"/>
              <a:t>Data</a:t>
            </a:r>
          </a:p>
          <a:p>
            <a:r>
              <a:rPr lang="en-US" dirty="0" smtClean="0"/>
              <a:t>Hardware</a:t>
            </a:r>
          </a:p>
          <a:p>
            <a:r>
              <a:rPr lang="en-US" dirty="0" smtClean="0"/>
              <a:t>Queries / Transactions</a:t>
            </a:r>
          </a:p>
          <a:p>
            <a:r>
              <a:rPr lang="en-US" dirty="0" smtClean="0"/>
              <a:t>Schema (Tables)</a:t>
            </a:r>
          </a:p>
          <a:p>
            <a:r>
              <a:rPr lang="en-US" dirty="0" smtClean="0"/>
              <a:t>Metadata</a:t>
            </a:r>
          </a:p>
          <a:p>
            <a:endParaRPr lang="en-US" dirty="0"/>
          </a:p>
        </p:txBody>
      </p:sp>
    </p:spTree>
  </p:cSld>
  <p:clrMapOvr>
    <a:masterClrMapping/>
  </p:clrMapOvr>
  <p:timing>
    <p:tnLst>
      <p:par>
        <p:cTn id="1" dur="indefinite" restart="never" nodeType="tmRoot"/>
      </p:par>
    </p:tnLst>
  </p:timing>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US" dirty="0"/>
          </a:p>
        </p:txBody>
      </p:sp>
      <p:sp>
        <p:nvSpPr>
          <p:cNvPr id="3" name="Content Placeholder 2"/>
          <p:cNvSpPr>
            <a:spLocks noGrp="1"/>
          </p:cNvSpPr>
          <p:nvPr>
            <p:ph idx="1"/>
          </p:nvPr>
        </p:nvSpPr>
        <p:spPr/>
        <p:txBody>
          <a:bodyPr/>
          <a:lstStyle/>
          <a:p>
            <a:r>
              <a:rPr lang="en-US" dirty="0" smtClean="0"/>
              <a:t>Construct an E-R diagram for a car-insurance company whose customers own one or more cars each. Each car has associated with it zero to any number of recorded accidents.</a:t>
            </a:r>
            <a:endParaRPr lang="en-US" dirty="0"/>
          </a:p>
        </p:txBody>
      </p:sp>
    </p:spTree>
  </p:cSld>
  <p:clrMapOvr>
    <a:masterClrMapping/>
  </p:clrMapOvr>
  <p:timing>
    <p:tnLst>
      <p:par>
        <p:cTn id="1" dur="indefinite" restart="never" nodeType="tmRoot"/>
      </p:par>
    </p:tnLst>
  </p:timing>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Grp="1" noChangeAspect="1" noChangeArrowheads="1"/>
          </p:cNvPicPr>
          <p:nvPr>
            <p:ph idx="1"/>
          </p:nvPr>
        </p:nvPicPr>
        <p:blipFill>
          <a:blip r:embed="rId2"/>
          <a:srcRect/>
          <a:stretch>
            <a:fillRect/>
          </a:stretch>
        </p:blipFill>
        <p:spPr bwMode="auto">
          <a:xfrm>
            <a:off x="0" y="1066800"/>
            <a:ext cx="8915400" cy="5765744"/>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14400"/>
            <a:ext cx="8229600" cy="5410200"/>
          </a:xfrm>
        </p:spPr>
        <p:txBody>
          <a:bodyPr>
            <a:normAutofit fontScale="92500" lnSpcReduction="20000"/>
          </a:bodyPr>
          <a:lstStyle/>
          <a:p>
            <a:r>
              <a:rPr lang="en-US" dirty="0" smtClean="0"/>
              <a:t>A university registrar’s office maintains data about the following entities: </a:t>
            </a:r>
          </a:p>
          <a:p>
            <a:pPr>
              <a:buNone/>
            </a:pPr>
            <a:r>
              <a:rPr lang="en-US" dirty="0" smtClean="0"/>
              <a:t>(a) courses, including number, title, credits, syllabus, and prerequisites; </a:t>
            </a:r>
          </a:p>
          <a:p>
            <a:pPr>
              <a:buNone/>
            </a:pPr>
            <a:r>
              <a:rPr lang="en-US" dirty="0" smtClean="0"/>
              <a:t>(b) course offerings, including course number, year, semester, section number, instructor(s), timings, and classroom; </a:t>
            </a:r>
          </a:p>
          <a:p>
            <a:pPr>
              <a:buNone/>
            </a:pPr>
            <a:r>
              <a:rPr lang="en-US" dirty="0" smtClean="0"/>
              <a:t>(c) students, including student-id, name, and program; and </a:t>
            </a:r>
          </a:p>
          <a:p>
            <a:pPr>
              <a:buNone/>
            </a:pPr>
            <a:r>
              <a:rPr lang="en-US" dirty="0" smtClean="0"/>
              <a:t>(d) instructors, including identification number, name, department, and title. </a:t>
            </a:r>
          </a:p>
          <a:p>
            <a:pPr>
              <a:buNone/>
            </a:pPr>
            <a:r>
              <a:rPr lang="en-US" dirty="0" smtClean="0"/>
              <a:t>Further, the enrollment of students in courses and grades awarded to students in each course they are enrolled for must be appropriately modeled. </a:t>
            </a:r>
          </a:p>
          <a:p>
            <a:pPr>
              <a:buNone/>
            </a:pPr>
            <a:endParaRPr lang="en-US" dirty="0" smtClean="0"/>
          </a:p>
          <a:p>
            <a:pPr>
              <a:buNone/>
            </a:pPr>
            <a:r>
              <a:rPr lang="en-US" dirty="0" smtClean="0"/>
              <a:t>Construct an E-R diagram for the registrar’s office. Document all assumptions that you make about the mapping constraints.</a:t>
            </a:r>
            <a:endParaRPr lang="en-US" dirty="0"/>
          </a:p>
        </p:txBody>
      </p:sp>
    </p:spTree>
  </p:cSld>
  <p:clrMapOvr>
    <a:masterClrMapping/>
  </p:clrMapOvr>
  <p:timing>
    <p:tnLst>
      <p:par>
        <p:cTn id="1" dur="indefinite" restart="never" nodeType="tmRoot"/>
      </p:par>
    </p:tnLst>
  </p:timing>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Grp="1" noChangeAspect="1" noChangeArrowheads="1"/>
          </p:cNvPicPr>
          <p:nvPr>
            <p:ph idx="1"/>
          </p:nvPr>
        </p:nvPicPr>
        <p:blipFill>
          <a:blip r:embed="rId2"/>
          <a:srcRect/>
          <a:stretch>
            <a:fillRect/>
          </a:stretch>
        </p:blipFill>
        <p:spPr bwMode="auto">
          <a:xfrm>
            <a:off x="208598" y="618390"/>
            <a:ext cx="8380865" cy="5325210"/>
          </a:xfrm>
          <a:prstGeom prst="rect">
            <a:avLst/>
          </a:prstGeom>
          <a:noFill/>
          <a:ln w="9525">
            <a:noFill/>
            <a:miter lim="800000"/>
            <a:headEnd/>
            <a:tailEnd/>
          </a:ln>
          <a:effectLst/>
        </p:spPr>
      </p:pic>
    </p:spTree>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Case Study</a:t>
            </a:r>
            <a:endParaRPr lang="en-US" dirty="0"/>
          </a:p>
        </p:txBody>
      </p:sp>
      <p:sp>
        <p:nvSpPr>
          <p:cNvPr id="3" name="Content Placeholder 2"/>
          <p:cNvSpPr>
            <a:spLocks noGrp="1"/>
          </p:cNvSpPr>
          <p:nvPr>
            <p:ph idx="1"/>
          </p:nvPr>
        </p:nvSpPr>
        <p:spPr/>
        <p:txBody>
          <a:bodyPr/>
          <a:lstStyle/>
          <a:p>
            <a:r>
              <a:rPr lang="en-US" dirty="0" smtClean="0"/>
              <a:t>A school is developing a </a:t>
            </a:r>
            <a:r>
              <a:rPr lang="en-US" b="1" dirty="0" smtClean="0"/>
              <a:t>Library Management System</a:t>
            </a:r>
            <a:r>
              <a:rPr lang="en-US" dirty="0" smtClean="0"/>
              <a:t> to maintain records of books and students. The database contains the following tables:</a:t>
            </a:r>
          </a:p>
          <a:p>
            <a:endParaRPr lang="en-US" dirty="0" smtClean="0"/>
          </a:p>
          <a:p>
            <a:r>
              <a:rPr lang="en-US" b="1" dirty="0" smtClean="0"/>
              <a:t>Books(</a:t>
            </a:r>
            <a:r>
              <a:rPr lang="en-US" b="1" dirty="0" err="1" smtClean="0"/>
              <a:t>Book_ID</a:t>
            </a:r>
            <a:r>
              <a:rPr lang="en-US" b="1" dirty="0" smtClean="0"/>
              <a:t>, Title, Author, Price)</a:t>
            </a:r>
            <a:r>
              <a:rPr lang="en-US" dirty="0" smtClean="0"/>
              <a:t> </a:t>
            </a:r>
          </a:p>
          <a:p>
            <a:r>
              <a:rPr lang="en-US" b="1" dirty="0" smtClean="0"/>
              <a:t>Students(</a:t>
            </a:r>
            <a:r>
              <a:rPr lang="en-US" b="1" dirty="0" err="1" smtClean="0"/>
              <a:t>Student_ID</a:t>
            </a:r>
            <a:r>
              <a:rPr lang="en-US" b="1" dirty="0" smtClean="0"/>
              <a:t>, Name, Class)</a:t>
            </a:r>
            <a:endParaRPr lang="en-US" dirty="0" smtClean="0"/>
          </a:p>
          <a:p>
            <a:endParaRPr lang="en-US" dirty="0"/>
          </a:p>
        </p:txBody>
      </p:sp>
    </p:spTree>
  </p:cSld>
  <p:clrMapOvr>
    <a:masterClrMapping/>
  </p:clrMapOvr>
  <p:timing>
    <p:tnLst>
      <p:par>
        <p:cTn id="1" dur="indefinite" restart="never" nodeType="tmRoot"/>
      </p:par>
    </p:tnLst>
  </p:timing>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5592763"/>
          </a:xfrm>
        </p:spPr>
        <p:txBody>
          <a:bodyPr>
            <a:normAutofit fontScale="92500"/>
          </a:bodyPr>
          <a:lstStyle/>
          <a:p>
            <a:pPr marL="514350" indent="-514350">
              <a:buAutoNum type="arabicPeriod"/>
            </a:pPr>
            <a:r>
              <a:rPr lang="en-US" sz="2400" dirty="0" smtClean="0"/>
              <a:t>Which DDL command will you use to create the Books and Students tables? Write the SQL statement for the Books table.</a:t>
            </a:r>
          </a:p>
          <a:p>
            <a:pPr marL="514350" indent="-514350">
              <a:buAutoNum type="arabicPeriod"/>
            </a:pPr>
            <a:endParaRPr lang="en-US" sz="2400" dirty="0" smtClean="0"/>
          </a:p>
          <a:p>
            <a:pPr>
              <a:buNone/>
            </a:pPr>
            <a:r>
              <a:rPr lang="en-US" sz="2400" dirty="0" smtClean="0"/>
              <a:t>2. The librarian wants to add a new column Publisher to the Books table. Which DDL command should be used? Write the SQL query.</a:t>
            </a:r>
          </a:p>
          <a:p>
            <a:pPr>
              <a:buNone/>
            </a:pPr>
            <a:endParaRPr lang="en-US" sz="2400" dirty="0" smtClean="0"/>
          </a:p>
          <a:p>
            <a:pPr>
              <a:buNone/>
            </a:pPr>
            <a:r>
              <a:rPr lang="en-US" sz="2400" dirty="0" smtClean="0"/>
              <a:t>3. The school decides to rename the Students table to </a:t>
            </a:r>
            <a:r>
              <a:rPr lang="en-US" sz="2400" dirty="0" err="1" smtClean="0"/>
              <a:t>Library_Students</a:t>
            </a:r>
            <a:r>
              <a:rPr lang="en-US" sz="2400" dirty="0" smtClean="0"/>
              <a:t>. Which DDL command will you use? Write the SQL statement.</a:t>
            </a:r>
          </a:p>
          <a:p>
            <a:pPr>
              <a:buNone/>
            </a:pPr>
            <a:endParaRPr lang="en-US" sz="2400" dirty="0" smtClean="0"/>
          </a:p>
          <a:p>
            <a:pPr>
              <a:buNone/>
            </a:pPr>
            <a:r>
              <a:rPr lang="en-US" sz="2400" dirty="0" smtClean="0"/>
              <a:t>4. Before the new academic session begins, all records from the Books table need to be removed, but the table structure should remain intact. Which DDL command should be used? Explain why.</a:t>
            </a:r>
          </a:p>
          <a:p>
            <a:pPr marL="514350" indent="-514350">
              <a:buAutoNum type="arabicPeriod"/>
            </a:pPr>
            <a:endParaRPr lang="en-US" sz="2400" dirty="0"/>
          </a:p>
        </p:txBody>
      </p:sp>
    </p:spTree>
  </p:cSld>
  <p:clrMapOvr>
    <a:masterClrMapping/>
  </p:clrMapOvr>
  <p:timing>
    <p:tnLst>
      <p:par>
        <p:cTn id="1" dur="indefinite" restart="never" nodeType="tmRoot"/>
      </p:par>
    </p:tnLst>
  </p:timing>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668963"/>
          </a:xfrm>
        </p:spPr>
        <p:txBody>
          <a:bodyPr>
            <a:normAutofit/>
          </a:bodyPr>
          <a:lstStyle/>
          <a:p>
            <a:pPr>
              <a:buNone/>
            </a:pPr>
            <a:r>
              <a:rPr lang="en-US" sz="2400" dirty="0" smtClean="0"/>
              <a:t>5. The </a:t>
            </a:r>
            <a:r>
              <a:rPr lang="en-US" sz="2400" dirty="0" err="1" smtClean="0"/>
              <a:t>Library_Students</a:t>
            </a:r>
            <a:r>
              <a:rPr lang="en-US" sz="2400" dirty="0" smtClean="0"/>
              <a:t> table is no longer required. Which DDL command will permanently remove it? What happens to the data stored in the table?</a:t>
            </a:r>
          </a:p>
          <a:p>
            <a:pPr>
              <a:buNone/>
            </a:pPr>
            <a:endParaRPr lang="en-US" sz="2400" dirty="0" smtClean="0"/>
          </a:p>
          <a:p>
            <a:pPr>
              <a:buNone/>
            </a:pPr>
            <a:r>
              <a:rPr lang="en-US" sz="2400" dirty="0" smtClean="0"/>
              <a:t>6. If the librarian wants to change the data type of the Price column from INT to DECIMAL(8,2), which DDL command should be used? Write the SQL statement.</a:t>
            </a:r>
          </a:p>
          <a:p>
            <a:pPr>
              <a:buNone/>
            </a:pPr>
            <a:endParaRPr lang="en-US" sz="2400" dirty="0" smtClean="0"/>
          </a:p>
          <a:p>
            <a:pPr>
              <a:buNone/>
            </a:pPr>
            <a:r>
              <a:rPr lang="en-US" sz="2400" dirty="0" smtClean="0"/>
              <a:t>7. A college initially created a Student table without an Email column. After one year, email IDs became mandatory. Which DDL command should the database administrator use? Justify your answer.</a:t>
            </a:r>
            <a:endParaRPr lang="en-US" sz="2400" dirty="0"/>
          </a:p>
        </p:txBody>
      </p:sp>
    </p:spTree>
  </p:cSld>
  <p:clrMapOvr>
    <a:masterClrMapping/>
  </p:clrMapOvr>
  <p:timing>
    <p:tnLst>
      <p:par>
        <p:cTn id="1" dur="indefinite" restart="never" nodeType="tmRoot"/>
      </p:par>
    </p:tnLst>
  </p:timing>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85800"/>
            <a:ext cx="8229600" cy="5440363"/>
          </a:xfrm>
        </p:spPr>
        <p:txBody>
          <a:bodyPr>
            <a:normAutofit fontScale="85000" lnSpcReduction="20000"/>
          </a:bodyPr>
          <a:lstStyle/>
          <a:p>
            <a:pPr marL="514350" indent="-514350">
              <a:buNone/>
            </a:pPr>
            <a:r>
              <a:rPr lang="en-US" sz="2800" dirty="0" smtClean="0"/>
              <a:t>1. CREATE TABLE Books ( </a:t>
            </a:r>
            <a:r>
              <a:rPr lang="en-US" sz="2800" dirty="0" err="1" smtClean="0"/>
              <a:t>Book_ID</a:t>
            </a:r>
            <a:r>
              <a:rPr lang="en-US" sz="2800" dirty="0" smtClean="0"/>
              <a:t> INT PRIMARY KEY, Title VARCHAR(100), Author VARCHAR(100), Price DECIMAL(8,2) );</a:t>
            </a:r>
          </a:p>
          <a:p>
            <a:pPr marL="514350" indent="-514350">
              <a:buAutoNum type="arabicPeriod"/>
            </a:pPr>
            <a:endParaRPr lang="en-US" sz="2800" dirty="0" smtClean="0"/>
          </a:p>
          <a:p>
            <a:pPr>
              <a:buNone/>
            </a:pPr>
            <a:r>
              <a:rPr lang="en-US" sz="2800" dirty="0" smtClean="0"/>
              <a:t>2. ALTER TABLE Books ADD Publisher VARCHAR(100);</a:t>
            </a:r>
          </a:p>
          <a:p>
            <a:pPr>
              <a:buNone/>
            </a:pPr>
            <a:endParaRPr lang="en-US" sz="2800" dirty="0" smtClean="0"/>
          </a:p>
          <a:p>
            <a:pPr>
              <a:buNone/>
            </a:pPr>
            <a:r>
              <a:rPr lang="en-US" sz="2800" dirty="0" smtClean="0"/>
              <a:t>3. ALTER TABLE Students RENAME TO </a:t>
            </a:r>
            <a:r>
              <a:rPr lang="en-US" sz="2800" dirty="0" err="1" smtClean="0"/>
              <a:t>Library_Students</a:t>
            </a:r>
            <a:r>
              <a:rPr lang="en-US" sz="2800" dirty="0" smtClean="0"/>
              <a:t>;</a:t>
            </a:r>
          </a:p>
          <a:p>
            <a:pPr>
              <a:buNone/>
            </a:pPr>
            <a:endParaRPr lang="en-US" sz="2800" dirty="0" smtClean="0"/>
          </a:p>
          <a:p>
            <a:pPr>
              <a:buNone/>
            </a:pPr>
            <a:r>
              <a:rPr lang="en-US" sz="2800" dirty="0" smtClean="0"/>
              <a:t>4. TRUNCATE TABLE Books;</a:t>
            </a:r>
          </a:p>
          <a:p>
            <a:pPr>
              <a:buNone/>
            </a:pPr>
            <a:endParaRPr lang="en-US" sz="2800" dirty="0" smtClean="0"/>
          </a:p>
          <a:p>
            <a:pPr>
              <a:buNone/>
            </a:pPr>
            <a:r>
              <a:rPr lang="en-US" sz="2800" dirty="0" smtClean="0"/>
              <a:t>5. DROP TABLE </a:t>
            </a:r>
            <a:r>
              <a:rPr lang="en-US" sz="2800" dirty="0" err="1" smtClean="0"/>
              <a:t>Library_Students</a:t>
            </a:r>
            <a:r>
              <a:rPr lang="en-US" sz="2800" dirty="0" smtClean="0"/>
              <a:t>;</a:t>
            </a:r>
          </a:p>
          <a:p>
            <a:pPr>
              <a:buNone/>
            </a:pPr>
            <a:endParaRPr lang="en-US" sz="2800" dirty="0" smtClean="0"/>
          </a:p>
          <a:p>
            <a:pPr>
              <a:buNone/>
            </a:pPr>
            <a:r>
              <a:rPr lang="en-US" sz="2800" dirty="0" smtClean="0"/>
              <a:t>6. ALTER TABLE Books MODIFY Price DECIMAL(8,2);</a:t>
            </a:r>
          </a:p>
          <a:p>
            <a:pPr>
              <a:buNone/>
            </a:pPr>
            <a:endParaRPr lang="en-US" sz="2800" dirty="0" smtClean="0"/>
          </a:p>
          <a:p>
            <a:pPr>
              <a:buNone/>
            </a:pPr>
            <a:r>
              <a:rPr lang="en-US" sz="2800" dirty="0" smtClean="0"/>
              <a:t>7. ALTER TABLE Student ADD Email VARCHAR(100);</a:t>
            </a:r>
          </a:p>
        </p:txBody>
      </p:sp>
    </p:spTree>
  </p:cSld>
  <p:clrMapOvr>
    <a:masterClrMapping/>
  </p:clrMapOvr>
  <p:timing>
    <p:tnLst>
      <p:par>
        <p:cTn id="1" dur="indefinite" restart="never" nodeType="tmRoot"/>
      </p:par>
    </p:tnLst>
  </p:timing>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Error Identification</a:t>
            </a:r>
            <a:endParaRPr lang="en-US" dirty="0"/>
          </a:p>
        </p:txBody>
      </p:sp>
      <p:sp>
        <p:nvSpPr>
          <p:cNvPr id="3" name="Content Placeholder 2"/>
          <p:cNvSpPr>
            <a:spLocks noGrp="1"/>
          </p:cNvSpPr>
          <p:nvPr>
            <p:ph idx="1"/>
          </p:nvPr>
        </p:nvSpPr>
        <p:spPr/>
        <p:txBody>
          <a:bodyPr/>
          <a:lstStyle/>
          <a:p>
            <a:pPr marL="514350" indent="-514350">
              <a:buAutoNum type="arabicPeriod"/>
            </a:pPr>
            <a:r>
              <a:rPr lang="en-US" dirty="0" smtClean="0"/>
              <a:t>CREATE Books (</a:t>
            </a:r>
            <a:r>
              <a:rPr lang="en-US" dirty="0" err="1" smtClean="0"/>
              <a:t>Book_ID</a:t>
            </a:r>
            <a:r>
              <a:rPr lang="en-US" dirty="0" smtClean="0"/>
              <a:t> INT, Title VARCHAR(100));</a:t>
            </a:r>
          </a:p>
          <a:p>
            <a:pPr marL="514350" indent="-514350">
              <a:buAutoNum type="arabicPeriod"/>
            </a:pPr>
            <a:r>
              <a:rPr lang="en-US" dirty="0" smtClean="0"/>
              <a:t>ALTER TABLE Books INSERT Publisher VARCHAR(50);</a:t>
            </a:r>
          </a:p>
          <a:p>
            <a:pPr marL="514350" indent="-514350">
              <a:buAutoNum type="arabicPeriod"/>
            </a:pPr>
            <a:r>
              <a:rPr lang="en-US" dirty="0" smtClean="0"/>
              <a:t>DROP Books;</a:t>
            </a:r>
          </a:p>
          <a:p>
            <a:pPr marL="514350" indent="-514350">
              <a:buAutoNum type="arabicPeriod"/>
            </a:pPr>
            <a:r>
              <a:rPr lang="en-US" dirty="0" smtClean="0"/>
              <a:t>TRUNCATE Books WHERE </a:t>
            </a:r>
            <a:r>
              <a:rPr lang="en-US" dirty="0" err="1" smtClean="0"/>
              <a:t>Book_ID</a:t>
            </a:r>
            <a:r>
              <a:rPr lang="en-US" dirty="0" smtClean="0"/>
              <a:t> = 10;</a:t>
            </a:r>
          </a:p>
          <a:p>
            <a:pPr marL="514350" indent="-514350">
              <a:buAutoNum type="arabicPeriod"/>
            </a:pPr>
            <a:r>
              <a:rPr lang="en-US" dirty="0" smtClean="0"/>
              <a:t>ALTER TABLE Student ADD COLUMN;</a:t>
            </a:r>
            <a:endParaRPr lang="en-US" dirty="0"/>
          </a:p>
        </p:txBody>
      </p:sp>
    </p:spTree>
  </p:cSld>
  <p:clrMapOvr>
    <a:masterClrMapping/>
  </p:clrMapOvr>
  <p:timing>
    <p:tnLst>
      <p:par>
        <p:cTn id="1" dur="indefinite" restart="never" nodeType="tmRoot"/>
      </p:par>
    </p:tnLst>
  </p:timing>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90600"/>
            <a:ext cx="8229600" cy="5135563"/>
          </a:xfrm>
        </p:spPr>
        <p:txBody>
          <a:bodyPr>
            <a:normAutofit fontScale="92500"/>
          </a:bodyPr>
          <a:lstStyle/>
          <a:p>
            <a:r>
              <a:rPr lang="en-US" sz="2400" dirty="0" smtClean="0"/>
              <a:t>CREATE TABLE Books (</a:t>
            </a:r>
            <a:r>
              <a:rPr lang="en-US" sz="2400" dirty="0" err="1" smtClean="0"/>
              <a:t>Book_ID</a:t>
            </a:r>
            <a:r>
              <a:rPr lang="en-US" sz="2400" dirty="0" smtClean="0"/>
              <a:t> INT, Title VARCHAR(100));</a:t>
            </a:r>
          </a:p>
          <a:p>
            <a:endParaRPr lang="en-US" sz="2400" dirty="0" smtClean="0"/>
          </a:p>
          <a:p>
            <a:r>
              <a:rPr lang="en-US" sz="2400" dirty="0" smtClean="0"/>
              <a:t>ALTER TABLE Books ADD Publisher VARCHAR(50);</a:t>
            </a:r>
          </a:p>
          <a:p>
            <a:endParaRPr lang="en-US" sz="2400" dirty="0" smtClean="0"/>
          </a:p>
          <a:p>
            <a:r>
              <a:rPr lang="en-US" sz="2400" dirty="0" smtClean="0"/>
              <a:t>DROP TABLE Books;</a:t>
            </a:r>
          </a:p>
          <a:p>
            <a:endParaRPr lang="en-US" sz="2400" dirty="0" smtClean="0"/>
          </a:p>
          <a:p>
            <a:r>
              <a:rPr lang="en-US" sz="2400" dirty="0" smtClean="0"/>
              <a:t>TRUNCATE TABLE Books;</a:t>
            </a:r>
          </a:p>
          <a:p>
            <a:pPr>
              <a:buNone/>
            </a:pPr>
            <a:r>
              <a:rPr lang="en-US" sz="2400" dirty="0" smtClean="0"/>
              <a:t>		OR</a:t>
            </a:r>
          </a:p>
          <a:p>
            <a:pPr>
              <a:buNone/>
            </a:pPr>
            <a:r>
              <a:rPr lang="en-US" sz="2400" dirty="0" smtClean="0"/>
              <a:t>DELETE FROM Books</a:t>
            </a:r>
          </a:p>
          <a:p>
            <a:pPr>
              <a:buNone/>
            </a:pPr>
            <a:r>
              <a:rPr lang="en-US" sz="2400" dirty="0" smtClean="0"/>
              <a:t>WHERE </a:t>
            </a:r>
            <a:r>
              <a:rPr lang="en-US" sz="2400" dirty="0" err="1" smtClean="0"/>
              <a:t>Book_ID</a:t>
            </a:r>
            <a:r>
              <a:rPr lang="en-US" sz="2400" dirty="0" smtClean="0"/>
              <a:t> = 10;</a:t>
            </a:r>
          </a:p>
          <a:p>
            <a:pPr>
              <a:buNone/>
            </a:pPr>
            <a:endParaRPr lang="en-US" sz="2400" dirty="0" smtClean="0"/>
          </a:p>
          <a:p>
            <a:r>
              <a:rPr lang="en-US" sz="2400" dirty="0" smtClean="0"/>
              <a:t>ALTER TABLE Student ADD Email VARCHAR(100);</a:t>
            </a:r>
            <a:endParaRPr lang="en-US" sz="2400" dirty="0"/>
          </a:p>
        </p:txBody>
      </p:sp>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Flow</Template>
  <TotalTime>6193</TotalTime>
  <Words>7548</Words>
  <Application>Microsoft Office PowerPoint</Application>
  <PresentationFormat>On-screen Show (4:3)</PresentationFormat>
  <Paragraphs>2106</Paragraphs>
  <Slides>182</Slides>
  <Notes>2</Notes>
  <HiddenSlides>0</HiddenSlides>
  <MMClips>0</MMClips>
  <ScaleCrop>false</ScaleCrop>
  <HeadingPairs>
    <vt:vector size="4" baseType="variant">
      <vt:variant>
        <vt:lpstr>Theme</vt:lpstr>
      </vt:variant>
      <vt:variant>
        <vt:i4>1</vt:i4>
      </vt:variant>
      <vt:variant>
        <vt:lpstr>Slide Titles</vt:lpstr>
      </vt:variant>
      <vt:variant>
        <vt:i4>182</vt:i4>
      </vt:variant>
    </vt:vector>
  </HeadingPairs>
  <TitlesOfParts>
    <vt:vector size="183" baseType="lpstr">
      <vt:lpstr>Flow</vt:lpstr>
      <vt:lpstr>Database Management System (DBMS)</vt:lpstr>
      <vt:lpstr>Unit 1 </vt:lpstr>
      <vt:lpstr>TextBooks</vt:lpstr>
      <vt:lpstr>Database</vt:lpstr>
      <vt:lpstr>Database Management System (DBMS) </vt:lpstr>
      <vt:lpstr>Applications of DBMS</vt:lpstr>
      <vt:lpstr>Drawbacks of File System</vt:lpstr>
      <vt:lpstr>Advantages of DBMS over File System</vt:lpstr>
      <vt:lpstr>Disadvantages of DBMS</vt:lpstr>
      <vt:lpstr>Data Abstraction</vt:lpstr>
      <vt:lpstr>Slide 11</vt:lpstr>
      <vt:lpstr>Schema</vt:lpstr>
      <vt:lpstr>Slide 13</vt:lpstr>
      <vt:lpstr>Advantages of Schema</vt:lpstr>
      <vt:lpstr>Disadvantages of Schema</vt:lpstr>
      <vt:lpstr>Instance</vt:lpstr>
      <vt:lpstr>Advantages of Instance</vt:lpstr>
      <vt:lpstr>Disadvantages of Instance</vt:lpstr>
      <vt:lpstr>Difference Between Schema and Instance</vt:lpstr>
      <vt:lpstr>Data Independence</vt:lpstr>
      <vt:lpstr>Logical Data Independence</vt:lpstr>
      <vt:lpstr>Physical Data Independence</vt:lpstr>
      <vt:lpstr>Database Language</vt:lpstr>
      <vt:lpstr>Data Definition Language</vt:lpstr>
      <vt:lpstr>Slide 25</vt:lpstr>
      <vt:lpstr>Slide 26</vt:lpstr>
      <vt:lpstr>Slide 27</vt:lpstr>
      <vt:lpstr>Slide 28</vt:lpstr>
      <vt:lpstr>Slide 29</vt:lpstr>
      <vt:lpstr>Slide 30</vt:lpstr>
      <vt:lpstr>Data Manipulation Language</vt:lpstr>
      <vt:lpstr>Slide 32</vt:lpstr>
      <vt:lpstr>Slide 33</vt:lpstr>
      <vt:lpstr>Slide 34</vt:lpstr>
      <vt:lpstr>Slide 35</vt:lpstr>
      <vt:lpstr>Slide 36</vt:lpstr>
      <vt:lpstr>Slide 37</vt:lpstr>
      <vt:lpstr>Slide 38</vt:lpstr>
      <vt:lpstr>Example</vt:lpstr>
      <vt:lpstr>Answers</vt:lpstr>
      <vt:lpstr>Slide 41</vt:lpstr>
      <vt:lpstr>Example</vt:lpstr>
      <vt:lpstr>Slide 43</vt:lpstr>
      <vt:lpstr>Difference between Delete, Truncate and Drop</vt:lpstr>
      <vt:lpstr>Data Control Language (DCL)</vt:lpstr>
      <vt:lpstr>Transaction Control Language(TCL)</vt:lpstr>
      <vt:lpstr>Slide 47</vt:lpstr>
      <vt:lpstr>Example</vt:lpstr>
      <vt:lpstr>Solution</vt:lpstr>
      <vt:lpstr>Comparison Table</vt:lpstr>
      <vt:lpstr>Database Users and Administrators</vt:lpstr>
      <vt:lpstr>Slide 52</vt:lpstr>
      <vt:lpstr>Slide 53</vt:lpstr>
      <vt:lpstr>Slide 54</vt:lpstr>
      <vt:lpstr>Slide 55</vt:lpstr>
      <vt:lpstr>Database Administrator</vt:lpstr>
      <vt:lpstr>Slide 57</vt:lpstr>
      <vt:lpstr>Slide 58</vt:lpstr>
      <vt:lpstr>Data Model</vt:lpstr>
      <vt:lpstr>Types of Data Models</vt:lpstr>
      <vt:lpstr>Entity-Relationship (ER) Model</vt:lpstr>
      <vt:lpstr>Components of the ER Model</vt:lpstr>
      <vt:lpstr>Slide 63</vt:lpstr>
      <vt:lpstr>Types of Attributes</vt:lpstr>
      <vt:lpstr>Slide 65</vt:lpstr>
      <vt:lpstr>3. Relationship</vt:lpstr>
      <vt:lpstr>4. Cardinality (Mapping Constraints)</vt:lpstr>
      <vt:lpstr>5. Participation Constraints</vt:lpstr>
      <vt:lpstr>What is a Strong Entity Set?</vt:lpstr>
      <vt:lpstr>Characteristics of a Strong Entity Set</vt:lpstr>
      <vt:lpstr>Example</vt:lpstr>
      <vt:lpstr>What is a Weak Entity Set?</vt:lpstr>
      <vt:lpstr>Characteristics of a Weak Entity Set</vt:lpstr>
      <vt:lpstr>Example : Employee and Dependent </vt:lpstr>
      <vt:lpstr>Identifying Relationship</vt:lpstr>
      <vt:lpstr>Partial Key (Discriminator)</vt:lpstr>
      <vt:lpstr>Slide 77</vt:lpstr>
      <vt:lpstr>Slide 78</vt:lpstr>
      <vt:lpstr>Slide 79</vt:lpstr>
      <vt:lpstr>Example</vt:lpstr>
      <vt:lpstr>Slide 81</vt:lpstr>
      <vt:lpstr>Slide 82</vt:lpstr>
      <vt:lpstr>Relational Model </vt:lpstr>
      <vt:lpstr>Slide 84</vt:lpstr>
      <vt:lpstr>Slide 85</vt:lpstr>
      <vt:lpstr>Slide 86</vt:lpstr>
      <vt:lpstr>Slide 87</vt:lpstr>
      <vt:lpstr>Example</vt:lpstr>
      <vt:lpstr>Slide 89</vt:lpstr>
      <vt:lpstr>Concept of Keys in DBMS</vt:lpstr>
      <vt:lpstr>Example Database</vt:lpstr>
      <vt:lpstr>1. Super Key</vt:lpstr>
      <vt:lpstr>2. Candidate Key</vt:lpstr>
      <vt:lpstr>3. Primary Key</vt:lpstr>
      <vt:lpstr>4. Alternate Key</vt:lpstr>
      <vt:lpstr>5. Composite Key (Compound Key)</vt:lpstr>
      <vt:lpstr>Slide 97</vt:lpstr>
      <vt:lpstr>6. Foreign Key</vt:lpstr>
      <vt:lpstr>Slide 99</vt:lpstr>
      <vt:lpstr>Hierarchical Database Model (DBMS)</vt:lpstr>
      <vt:lpstr>Real Life Example</vt:lpstr>
      <vt:lpstr>Database Example</vt:lpstr>
      <vt:lpstr>Slide 103</vt:lpstr>
      <vt:lpstr>Components of Hierarchical Model</vt:lpstr>
      <vt:lpstr>Characteristics</vt:lpstr>
      <vt:lpstr>Advantages</vt:lpstr>
      <vt:lpstr>Disadvantages</vt:lpstr>
      <vt:lpstr>Real-World Applications</vt:lpstr>
      <vt:lpstr>Network Database Model</vt:lpstr>
      <vt:lpstr>Why was the Network Model introduced?</vt:lpstr>
      <vt:lpstr>Online Shopping System</vt:lpstr>
      <vt:lpstr>Slide 112</vt:lpstr>
      <vt:lpstr>Network Represesntation</vt:lpstr>
      <vt:lpstr>Components of the Network Model</vt:lpstr>
      <vt:lpstr>Characteristics</vt:lpstr>
      <vt:lpstr>Advantages</vt:lpstr>
      <vt:lpstr>Disadvantages</vt:lpstr>
      <vt:lpstr>Activity</vt:lpstr>
      <vt:lpstr>Membership Table</vt:lpstr>
      <vt:lpstr>Questions</vt:lpstr>
      <vt:lpstr>Extended ER (EER) Model </vt:lpstr>
      <vt:lpstr>Why Do We Need the Extended ER Model?</vt:lpstr>
      <vt:lpstr>Features of the Extended ER Model</vt:lpstr>
      <vt:lpstr>1. Superclass</vt:lpstr>
      <vt:lpstr>2. Subclass</vt:lpstr>
      <vt:lpstr>3. Inheritance</vt:lpstr>
      <vt:lpstr>4. Specialization</vt:lpstr>
      <vt:lpstr>Example</vt:lpstr>
      <vt:lpstr>Types of Specialization</vt:lpstr>
      <vt:lpstr>5. Generalization</vt:lpstr>
      <vt:lpstr>Slide 131</vt:lpstr>
      <vt:lpstr>Example</vt:lpstr>
      <vt:lpstr>Aggregation</vt:lpstr>
      <vt:lpstr>Slide 134</vt:lpstr>
      <vt:lpstr>Advantages of the EER Model</vt:lpstr>
      <vt:lpstr>Limitations</vt:lpstr>
      <vt:lpstr>Conversion of ER diagram to Tabular Representation</vt:lpstr>
      <vt:lpstr>Tabular Representation of Strong Entity Sets</vt:lpstr>
      <vt:lpstr>Example</vt:lpstr>
      <vt:lpstr>Handling Different Types of Attributes</vt:lpstr>
      <vt:lpstr>Slide 141</vt:lpstr>
      <vt:lpstr>Slide 142</vt:lpstr>
      <vt:lpstr>Slide 143</vt:lpstr>
      <vt:lpstr>Tabular Representation of Weak Entity Sets</vt:lpstr>
      <vt:lpstr>Example</vt:lpstr>
      <vt:lpstr>Slide 146</vt:lpstr>
      <vt:lpstr>Tabular Representation of Relationship Sets</vt:lpstr>
      <vt:lpstr>Slide 148</vt:lpstr>
      <vt:lpstr>Slide 149</vt:lpstr>
      <vt:lpstr>Slide 150</vt:lpstr>
      <vt:lpstr>Slide 151</vt:lpstr>
      <vt:lpstr>Slide 152</vt:lpstr>
      <vt:lpstr>Slide 153</vt:lpstr>
      <vt:lpstr>Slide 154</vt:lpstr>
      <vt:lpstr>Converting Generalization into Tables</vt:lpstr>
      <vt:lpstr>Example</vt:lpstr>
      <vt:lpstr>Slide 157</vt:lpstr>
      <vt:lpstr>Example</vt:lpstr>
      <vt:lpstr>Slide 159</vt:lpstr>
      <vt:lpstr>Slide 160</vt:lpstr>
      <vt:lpstr>Conversion of Aggregation to Tables</vt:lpstr>
      <vt:lpstr>Step 1: Create Tables for Strong Entities</vt:lpstr>
      <vt:lpstr>Step 2: Create Table for the Aggregated Relationship</vt:lpstr>
      <vt:lpstr>Step 3: Create Table for the Relationship Involving the Aggregation</vt:lpstr>
      <vt:lpstr>For Practice</vt:lpstr>
      <vt:lpstr>Database System Structure</vt:lpstr>
      <vt:lpstr>Database System Structure</vt:lpstr>
      <vt:lpstr>Storage Manager</vt:lpstr>
      <vt:lpstr>Slide 169</vt:lpstr>
      <vt:lpstr>Slide 170</vt:lpstr>
      <vt:lpstr>The Query Processor</vt:lpstr>
      <vt:lpstr>Identify the database components</vt:lpstr>
      <vt:lpstr>Example</vt:lpstr>
      <vt:lpstr>Slide 174</vt:lpstr>
      <vt:lpstr>Slide 175</vt:lpstr>
      <vt:lpstr>Slide 176</vt:lpstr>
      <vt:lpstr>Case Study</vt:lpstr>
      <vt:lpstr>Slide 178</vt:lpstr>
      <vt:lpstr>Slide 179</vt:lpstr>
      <vt:lpstr>Slide 180</vt:lpstr>
      <vt:lpstr>Error Identification</vt:lpstr>
      <vt:lpstr>Slide 182</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Database Management System (DBMS)</dc:title>
  <dc:creator>SONY</dc:creator>
  <cp:lastModifiedBy>SONY</cp:lastModifiedBy>
  <cp:revision>26</cp:revision>
  <dcterms:created xsi:type="dcterms:W3CDTF">2006-08-16T00:00:00Z</dcterms:created>
  <dcterms:modified xsi:type="dcterms:W3CDTF">2026-08-07T17:57:57Z</dcterms:modified>
</cp:coreProperties>
</file>